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Shape 18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/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6" name="Title Text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b="0" sz="8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/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/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/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4" name="Image"/>
          <p:cNvSpPr/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5" name="Image"/>
          <p:cNvSpPr/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/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104" name="“Type a quote here.”"/>
          <p:cNvSpPr txBox="1"/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/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</a:p>
        </p:txBody>
      </p:sp>
      <p:sp>
        <p:nvSpPr>
          <p:cNvPr id="136" name="Title Text"/>
          <p:cNvSpPr txBox="1"/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b="0"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</a:p>
        </p:txBody>
      </p:sp>
      <p:sp>
        <p:nvSpPr>
          <p:cNvPr id="146" name="Title Text"/>
          <p:cNvSpPr txBox="1"/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b="0"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4;p3"/>
          <p:cNvSpPr/>
          <p:nvPr/>
        </p:nvSpPr>
        <p:spPr>
          <a:xfrm>
            <a:off x="1458244" y="12285133"/>
            <a:ext cx="21467202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 algn="l" defTabSz="2438400">
              <a:defRPr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71" name="Google Shape;15;p3" descr="Google Shape;15;p3"/>
          <p:cNvPicPr>
            <a:picLocks noChangeAspect="1"/>
          </p:cNvPicPr>
          <p:nvPr/>
        </p:nvPicPr>
        <p:blipFill>
          <a:blip r:embed="rId2">
            <a:alphaModFix amt="80000"/>
            <a:extLst/>
          </a:blip>
          <a:stretch>
            <a:fillRect/>
          </a:stretch>
        </p:blipFill>
        <p:spPr>
          <a:xfrm>
            <a:off x="1508703" y="12136832"/>
            <a:ext cx="2271052" cy="116201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lide Number"/>
          <p:cNvSpPr txBox="1"/>
          <p:nvPr>
            <p:ph type="sldNum" sz="quarter" idx="2"/>
          </p:nvPr>
        </p:nvSpPr>
        <p:spPr>
          <a:xfrm>
            <a:off x="11941357" y="13081000"/>
            <a:ext cx="488950" cy="505889"/>
          </a:xfrm>
          <a:prstGeom prst="rect">
            <a:avLst/>
          </a:prstGeom>
        </p:spPr>
        <p:txBody>
          <a:bodyPr lIns="54533" tIns="54533" rIns="54533" bIns="54533">
            <a:spAutoFit/>
          </a:bodyPr>
          <a:lstStyle>
            <a:lvl1pPr defTabSz="2438400">
              <a:defRPr sz="2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le Text"/>
          <p:cNvSpPr txBox="1"/>
          <p:nvPr>
            <p:ph type="title"/>
          </p:nvPr>
        </p:nvSpPr>
        <p:spPr>
          <a:xfrm>
            <a:off x="831221" y="1985533"/>
            <a:ext cx="22721601" cy="5473601"/>
          </a:xfrm>
          <a:prstGeom prst="rect">
            <a:avLst/>
          </a:prstGeom>
        </p:spPr>
        <p:txBody>
          <a:bodyPr lIns="243799" tIns="243799" rIns="243799" bIns="243799" anchor="b"/>
          <a:lstStyle>
            <a:lvl1pPr defTabSz="2438400">
              <a:defRPr b="0" sz="13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0" name="Body Level One…"/>
          <p:cNvSpPr txBox="1"/>
          <p:nvPr>
            <p:ph type="body" sz="quarter" idx="1"/>
          </p:nvPr>
        </p:nvSpPr>
        <p:spPr>
          <a:xfrm>
            <a:off x="831199" y="7557666"/>
            <a:ext cx="22721602" cy="2113601"/>
          </a:xfrm>
          <a:prstGeom prst="rect">
            <a:avLst/>
          </a:prstGeom>
        </p:spPr>
        <p:txBody>
          <a:bodyPr lIns="243799" tIns="243799" rIns="243799" bIns="243799" anchor="t"/>
          <a:lstStyle>
            <a:lvl1pPr marL="914400" indent="-800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indent="-3175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indent="1397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indent="5969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14400" indent="1054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1" name="Slide Number"/>
          <p:cNvSpPr txBox="1"/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 fontScale="100000" lnSpcReduction="0"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www.rdkit.org/docs/GettingStartedInPython.html#list-of-available-descriptors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eeksforgeeks.org/introduction-machine-learning/" TargetMode="External"/><Relationship Id="rId3" Type="http://schemas.openxmlformats.org/officeDocument/2006/relationships/hyperlink" Target="https://commons.wikimedia.org/wiki/File:Colored_neural_network.svg" TargetMode="External"/><Relationship Id="rId4" Type="http://schemas.openxmlformats.org/officeDocument/2006/relationships/hyperlink" Target="https://creativecommons.org/licenses/by-sa/3.0/deed.en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11/20/202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t>11/20/2024</a:t>
            </a:r>
          </a:p>
        </p:txBody>
      </p:sp>
      <p:sp>
        <p:nvSpPr>
          <p:cNvPr id="191" name="Quiz 3: Molecular Simulation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Quiz 3: Molecular Simulations</a:t>
            </a:r>
          </a:p>
          <a:p>
            <a:pPr/>
            <a:r>
              <a:t>Last analyses in Exercise 12</a:t>
            </a:r>
          </a:p>
          <a:p>
            <a:pPr/>
            <a:r>
              <a:t>Quantitative Structure-Property Relationships</a:t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Quantitative Structure-Property Relationshi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07933">
              <a:defRPr sz="8288"/>
            </a:lvl1pPr>
          </a:lstStyle>
          <a:p>
            <a:pPr/>
            <a:r>
              <a:t>Quantitative Structure-Property Relationships</a:t>
            </a:r>
          </a:p>
        </p:txBody>
      </p:sp>
      <p:sp>
        <p:nvSpPr>
          <p:cNvPr id="195" name="Today’s lecture is intended to help you achieve the following learning objective: Develop a model for a quantitative structure-property relationship. Describe its domain of applicability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Today’s lecture is intended to help you achieve the following learning objective: Develop a model for a quantitative structure-property relationship. Describe its domain of applicability.</a:t>
            </a:r>
          </a:p>
          <a:p>
            <a:pPr/>
          </a:p>
          <a:p>
            <a:pPr/>
            <a:r>
              <a:t>QSPR Topics</a:t>
            </a:r>
          </a:p>
          <a:p>
            <a:pPr lvl="1"/>
            <a:r>
              <a:t>Machine learning</a:t>
            </a:r>
          </a:p>
          <a:p>
            <a:pPr lvl="1"/>
            <a:r>
              <a:t>Features/descriptors</a:t>
            </a:r>
          </a:p>
          <a:p>
            <a:pPr lvl="1"/>
            <a:r>
              <a:t>Algorithms</a:t>
            </a:r>
          </a:p>
          <a:p>
            <a:pPr lvl="1"/>
            <a:r>
              <a:t>Validation</a:t>
            </a:r>
          </a:p>
          <a:p>
            <a:pPr lvl="1"/>
            <a:r>
              <a:t>Limitations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QSPR is an application of machine lear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40794">
              <a:defRPr sz="8736"/>
            </a:lvl1pPr>
          </a:lstStyle>
          <a:p>
            <a:pPr/>
            <a:r>
              <a:t>QSPR is an application of machine learning </a:t>
            </a:r>
          </a:p>
        </p:txBody>
      </p:sp>
      <p:sp>
        <p:nvSpPr>
          <p:cNvPr id="199" name="Machine learning [1]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1798" indent="-561798" defTabSz="747593">
              <a:defRPr sz="4550"/>
            </a:pPr>
            <a:r>
              <a:t>Machine learning [1]</a:t>
            </a:r>
          </a:p>
          <a:p>
            <a:pPr lvl="1" marL="966293" indent="-561798" defTabSz="747593">
              <a:defRPr sz="4550"/>
            </a:pPr>
            <a:r>
              <a:t>“gives computers the ability to learn without being explicitly programmed” - Arthur Samuel (1959)</a:t>
            </a:r>
          </a:p>
          <a:p>
            <a:pPr lvl="1" marL="966293" indent="-561798" defTabSz="747593">
              <a:defRPr sz="4550"/>
            </a:pPr>
            <a:r>
              <a:t>“A computer program is said to learn from experience E with respect to some task T and some performance measure P, if its performance on T, as measured by P, improves with experience E.” -Tom Mitchell (1997)</a:t>
            </a:r>
          </a:p>
          <a:p>
            <a:pPr marL="561798" indent="-561798" defTabSz="747593">
              <a:defRPr sz="4550"/>
            </a:pPr>
            <a:r>
              <a:t>In Quantitive Structure-Property Relationships (QSPR)</a:t>
            </a:r>
          </a:p>
          <a:p>
            <a:pPr lvl="1" marL="966293" indent="-561798" defTabSz="747593">
              <a:defRPr sz="4550"/>
            </a:pPr>
            <a:r>
              <a:t>Experience E: chemicals</a:t>
            </a:r>
          </a:p>
          <a:p>
            <a:pPr lvl="1" marL="966293" indent="-561798" defTabSz="747593">
              <a:defRPr sz="4550"/>
            </a:pPr>
            <a:r>
              <a:t>Task T: predicting physical property, e.g.</a:t>
            </a:r>
          </a:p>
          <a:p>
            <a:pPr lvl="2" marL="1370788" indent="-561798" defTabSz="747593">
              <a:defRPr sz="4550"/>
            </a:pPr>
            <a:r>
              <a:t>boiling point, chromatography retention times</a:t>
            </a:r>
          </a:p>
          <a:p>
            <a:pPr lvl="2" marL="1370788" indent="-561798" defTabSz="747593">
              <a:defRPr sz="4550"/>
            </a:pPr>
            <a:r>
              <a:t>activity against a biological target = QSAR</a:t>
            </a:r>
          </a:p>
          <a:p>
            <a:pPr lvl="2" marL="1370788" indent="-561798" defTabSz="747593">
              <a:defRPr sz="4550"/>
            </a:pPr>
            <a:r>
              <a:t>signaling efficacy (#s for agonist, antagonist, partial agonist, inverse agonist)</a:t>
            </a:r>
          </a:p>
          <a:p>
            <a:pPr lvl="2" marL="1370788" indent="-561798" defTabSz="747593">
              <a:defRPr sz="4550"/>
            </a:pPr>
            <a:r>
              <a:t>ADMET (absorption, distribution, metabolism, and excretion - toxicity)</a:t>
            </a:r>
          </a:p>
          <a:p>
            <a:pPr lvl="1" marL="966293" indent="-561798" defTabSz="747593">
              <a:defRPr sz="4550"/>
            </a:pPr>
            <a:r>
              <a:t>Performance P: correlation/error in validation set/real-world applications</a:t>
            </a:r>
          </a:p>
        </p:txBody>
      </p:sp>
      <p:sp>
        <p:nvSpPr>
          <p:cNvPr id="200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9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Features/Descrip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Features/Descriptors</a:t>
            </a:r>
          </a:p>
        </p:txBody>
      </p:sp>
      <p:sp>
        <p:nvSpPr>
          <p:cNvPr id="203" name="Enables chemicals to be input into machine learning model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Enables chemicals to be input into machine learning models</a:t>
            </a:r>
          </a:p>
          <a:p>
            <a:pPr/>
            <a:r>
              <a:t>How would you describe a chemical in numbers that can be put into a mathematical formula?</a:t>
            </a:r>
          </a:p>
          <a:p>
            <a:pPr/>
            <a:r>
              <a:t>Features can be</a:t>
            </a:r>
          </a:p>
          <a:p>
            <a:pPr lvl="1"/>
            <a:r>
              <a:t>from enumerable properties, e.g. number of a certain element, number of H bond donors/acceptors, presence/absence of an element functional group</a:t>
            </a:r>
          </a:p>
          <a:p>
            <a:pPr lvl="1"/>
            <a:r>
              <a:t>based on 3D structures</a:t>
            </a:r>
          </a:p>
          <a:p>
            <a:pPr lvl="2"/>
            <a:r>
              <a:t>of a chemical, e.g. surface area, radius of gyration, moments of inertia</a:t>
            </a:r>
          </a:p>
          <a:p>
            <a:pPr lvl="2"/>
            <a:r>
              <a:t>of a protein-ligand complex</a:t>
            </a:r>
          </a:p>
          <a:p>
            <a:pPr/>
            <a:r>
              <a:rPr u="sng">
                <a:hlinkClick r:id="rId2" invalidUrl="" action="" tgtFrame="" tooltip="" history="1" highlightClick="0" endSnd="0"/>
              </a:rPr>
              <a:t>http://www.rdkit.org/docs/GettingStartedInPython.html#list-of-available-descriptors</a:t>
            </a:r>
          </a:p>
        </p:txBody>
      </p:sp>
      <p:sp>
        <p:nvSpPr>
          <p:cNvPr id="204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0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lgorith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Algorithms</a:t>
            </a:r>
          </a:p>
        </p:txBody>
      </p:sp>
      <p:sp>
        <p:nvSpPr>
          <p:cNvPr id="207" name="Linear regression…"/>
          <p:cNvSpPr txBox="1"/>
          <p:nvPr>
            <p:ph type="body" idx="1"/>
          </p:nvPr>
        </p:nvSpPr>
        <p:spPr>
          <a:xfrm>
            <a:off x="635000" y="2857469"/>
            <a:ext cx="15180624" cy="10477563"/>
          </a:xfrm>
          <a:prstGeom prst="rect">
            <a:avLst/>
          </a:prstGeom>
        </p:spPr>
        <p:txBody>
          <a:bodyPr/>
          <a:lstStyle/>
          <a:p>
            <a:pPr marL="598840" indent="-598840" defTabSz="796885">
              <a:defRPr sz="4850"/>
            </a:pPr>
            <a:r>
              <a:t>Linear regression</a:t>
            </a:r>
          </a:p>
          <a:p>
            <a:pPr lvl="1" marL="1030005" indent="-598840" defTabSz="796885">
              <a:defRPr sz="4850"/>
            </a:pPr>
            <a:r>
              <a:t>y = mx + b for simple linear regression</a:t>
            </a:r>
          </a:p>
          <a:p>
            <a:pPr lvl="1" marL="1030005" indent="-598840" defTabSz="796885">
              <a:defRPr sz="4850"/>
            </a:pPr>
            <a:r>
              <a:t>y = m</a:t>
            </a:r>
            <a:r>
              <a:rPr baseline="-5999"/>
              <a:t>1</a:t>
            </a:r>
            <a:r>
              <a:t>x</a:t>
            </a:r>
            <a:r>
              <a:rPr baseline="-5999"/>
              <a:t>1</a:t>
            </a:r>
            <a:r>
              <a:t> + m</a:t>
            </a:r>
            <a:r>
              <a:rPr baseline="-5999"/>
              <a:t>2</a:t>
            </a:r>
            <a:r>
              <a:t>x</a:t>
            </a:r>
            <a:r>
              <a:rPr baseline="-5999"/>
              <a:t>2</a:t>
            </a:r>
            <a:r>
              <a:t> + … + b for multiple linear regression</a:t>
            </a:r>
          </a:p>
          <a:p>
            <a:pPr lvl="1" marL="1030005" indent="-598840" defTabSz="796885">
              <a:defRPr sz="4850"/>
            </a:pPr>
            <a:r>
              <a:t>x is projected onto a new space in partial least squares regression</a:t>
            </a:r>
          </a:p>
          <a:p>
            <a:pPr marL="598840" indent="-598840" defTabSz="796885">
              <a:defRPr sz="4850"/>
            </a:pPr>
            <a:r>
              <a:t>Neural networks</a:t>
            </a:r>
          </a:p>
          <a:p>
            <a:pPr lvl="1" marL="1030005" indent="-598840" defTabSz="796885">
              <a:defRPr sz="4850"/>
            </a:pPr>
            <a:r>
              <a:t>sets of nodes that transform inputs into an output</a:t>
            </a:r>
          </a:p>
          <a:p>
            <a:pPr lvl="1" marL="1030005" indent="-598840" defTabSz="796885">
              <a:defRPr sz="4850"/>
            </a:pPr>
            <a:r>
              <a:t>allows for nonlinear relationships.</a:t>
            </a:r>
          </a:p>
          <a:p>
            <a:pPr marL="598840" indent="-598840" defTabSz="796885">
              <a:defRPr sz="4850"/>
            </a:pPr>
            <a:r>
              <a:t>Deep learning</a:t>
            </a:r>
          </a:p>
          <a:p>
            <a:pPr lvl="1" marL="1030005" indent="-598840" defTabSz="796885">
              <a:defRPr sz="4850"/>
            </a:pPr>
            <a:r>
              <a:t>neural networks with multiple layers</a:t>
            </a:r>
          </a:p>
          <a:p>
            <a:pPr lvl="1" marL="1030005" indent="-598840" defTabSz="796885">
              <a:defRPr sz="4850"/>
            </a:pPr>
            <a:r>
              <a:t>increasingly popular and powerful with faster computers and larger datasets</a:t>
            </a:r>
          </a:p>
          <a:p>
            <a:pPr marL="598840" indent="-598840" defTabSz="796885">
              <a:defRPr sz="4850"/>
            </a:pPr>
            <a:r>
              <a:t>Not an exhaustive list!</a:t>
            </a:r>
          </a:p>
        </p:txBody>
      </p:sp>
      <p:sp>
        <p:nvSpPr>
          <p:cNvPr id="208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211" name="Group"/>
          <p:cNvGrpSpPr/>
          <p:nvPr/>
        </p:nvGrpSpPr>
        <p:grpSpPr>
          <a:xfrm>
            <a:off x="16187570" y="3317158"/>
            <a:ext cx="7625166" cy="9558185"/>
            <a:chOff x="0" y="0"/>
            <a:chExt cx="7625165" cy="9558184"/>
          </a:xfrm>
        </p:grpSpPr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7625166" cy="91680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Diagram of an artificial neural network [2]"/>
            <p:cNvSpPr txBox="1"/>
            <p:nvPr/>
          </p:nvSpPr>
          <p:spPr>
            <a:xfrm>
              <a:off x="41674" y="8932709"/>
              <a:ext cx="7541817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/>
              <a:r>
                <a:t>Diagram of an artificial neural network [2]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07" grpId="1"/>
      <p:bldP build="whole" bldLvl="1" animBg="1" rev="0" advAuto="0" spid="211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Valid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Validation</a:t>
            </a:r>
          </a:p>
        </p:txBody>
      </p:sp>
      <p:sp>
        <p:nvSpPr>
          <p:cNvPr id="214" name="How do you know if a model is any good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 you know if a model is any good?</a:t>
            </a:r>
          </a:p>
          <a:p>
            <a:pPr/>
            <a:r>
              <a:t>Data are split into training and test sets</a:t>
            </a:r>
          </a:p>
          <a:p>
            <a:pPr lvl="1"/>
            <a:r>
              <a:t>Both sets should represent the same population</a:t>
            </a:r>
          </a:p>
          <a:p>
            <a:pPr/>
            <a:r>
              <a:t>Model is built using the training set</a:t>
            </a:r>
          </a:p>
          <a:p>
            <a:pPr/>
            <a:r>
              <a:t>Calculations on test set are compared to data</a:t>
            </a:r>
          </a:p>
        </p:txBody>
      </p:sp>
      <p:sp>
        <p:nvSpPr>
          <p:cNvPr id="215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Limit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Limitations</a:t>
            </a:r>
          </a:p>
        </p:txBody>
      </p:sp>
      <p:sp>
        <p:nvSpPr>
          <p:cNvPr id="218" name="What do you think some limitations of QSPR might b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do you think some limitations of QSPR might be?</a:t>
            </a:r>
          </a:p>
          <a:p>
            <a:pPr/>
            <a:r>
              <a:t>A high-quality training set is necessary</a:t>
            </a:r>
          </a:p>
          <a:p>
            <a:pPr/>
            <a:r>
              <a:t>Models can only be applied to molecules similar to the training set</a:t>
            </a:r>
          </a:p>
          <a:p>
            <a:pPr/>
            <a:r>
              <a:t>Sometimes small changes in structure can lead to large changes in a property</a:t>
            </a:r>
          </a:p>
          <a:p>
            <a:pPr lvl="1"/>
            <a:r>
              <a:t>adding a methyl can make it so that a ligand no longer fits into a binding pocket</a:t>
            </a:r>
          </a:p>
          <a:p>
            <a:pPr lvl="1"/>
            <a:r>
              <a:t>in QSAR, known as an “activity cliff”</a:t>
            </a:r>
          </a:p>
        </p:txBody>
      </p:sp>
      <p:sp>
        <p:nvSpPr>
          <p:cNvPr id="219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1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feren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222" name="[1] https://www.geeksforgeeks.org/introduction-machine-learning/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[1] </a:t>
            </a:r>
            <a:r>
              <a:rPr u="sng">
                <a:hlinkClick r:id="rId2" invalidUrl="" action="" tgtFrame="" tooltip="" history="1" highlightClick="0" endSnd="0"/>
              </a:rPr>
              <a:t>https://www.geeksforgeeks.org/introduction-machine-learning/</a:t>
            </a:r>
          </a:p>
          <a:p>
            <a:pPr/>
            <a:r>
              <a:t>[2] Downloaded from </a:t>
            </a:r>
            <a:r>
              <a:rPr u="sng">
                <a:hlinkClick r:id="rId3" invalidUrl="" action="" tgtFrame="" tooltip="" history="1" highlightClick="0" endSnd="0"/>
              </a:rPr>
              <a:t>https://commons.wikimedia.org/wiki/File:Colored_neural_network.svg</a:t>
            </a:r>
            <a:r>
              <a:t> and reused under the </a:t>
            </a:r>
            <a:r>
              <a:rPr u="sng">
                <a:hlinkClick r:id="rId4" invalidUrl="" action="" tgtFrame="" tooltip="" history="1" highlightClick="0" endSnd="0"/>
              </a:rPr>
              <a:t>CC BY-SA 3.0</a:t>
            </a:r>
            <a:r>
              <a:t> license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3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