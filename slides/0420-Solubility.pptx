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60" d="100"/>
          <a:sy n="6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8" name="Shape 18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400">
        <a:latin typeface="Avenir"/>
        <a:ea typeface="Avenir"/>
        <a:cs typeface="Avenir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35000" y="2303859"/>
            <a:ext cx="23114000" cy="4643438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>
            <a:spLocks noGrp="1"/>
          </p:cNvSpPr>
          <p:nvPr>
            <p:ph type="title"/>
          </p:nvPr>
        </p:nvSpPr>
        <p:spPr>
          <a:xfrm>
            <a:off x="635000" y="4536281"/>
            <a:ext cx="23114000" cy="464343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xfrm>
            <a:off x="635000" y="464343"/>
            <a:ext cx="23114000" cy="196453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3268265"/>
            <a:ext cx="12700000" cy="9525001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Image"/>
          <p:cNvSpPr>
            <a:spLocks noGrp="1"/>
          </p:cNvSpPr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buSzTx/>
              <a:buNone/>
              <a:defRPr sz="4400"/>
            </a:lvl1pPr>
            <a:lvl2pPr marL="0" indent="228600" algn="ctr">
              <a:buSzTx/>
              <a:buNone/>
              <a:defRPr sz="4400"/>
            </a:lvl2pPr>
            <a:lvl3pPr marL="0" indent="457200" algn="ctr">
              <a:buSzTx/>
              <a:buNone/>
              <a:defRPr sz="4400"/>
            </a:lvl3pPr>
            <a:lvl4pPr marL="0" indent="685800" algn="ctr">
              <a:buSzTx/>
              <a:buNone/>
              <a:defRPr sz="4400"/>
            </a:lvl4pPr>
            <a:lvl5pPr marL="0" indent="914400" algn="ctr">
              <a:buSzTx/>
              <a:buNone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Image"/>
          <p:cNvSpPr>
            <a:spLocks noGrp="1"/>
          </p:cNvSpPr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1905000"/>
            <a:ext cx="23114000" cy="10160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Image"/>
          <p:cNvSpPr>
            <a:spLocks noGrp="1"/>
          </p:cNvSpPr>
          <p:nvPr>
            <p:ph type="pic" idx="21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4" name="Image"/>
          <p:cNvSpPr>
            <a:spLocks noGrp="1"/>
          </p:cNvSpPr>
          <p:nvPr>
            <p:ph type="pic" sz="quarter" idx="22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5" name="Image"/>
          <p:cNvSpPr>
            <a:spLocks noGrp="1"/>
          </p:cNvSpPr>
          <p:nvPr>
            <p:ph type="pic" sz="quarter" idx="23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buSzTx/>
              <a:buNone/>
              <a:defRPr sz="32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10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SzTx/>
              <a:buNone/>
              <a:defRPr sz="5200"/>
            </a:lvl1pPr>
          </a:lstStyle>
          <a:p>
            <a:r>
              <a:t>“Type a quote here.” 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Image"/>
          <p:cNvSpPr>
            <a:spLocks noGrp="1"/>
          </p:cNvSpPr>
          <p:nvPr>
            <p:ph type="pic" idx="21"/>
          </p:nvPr>
        </p:nvSpPr>
        <p:spPr>
          <a:xfrm>
            <a:off x="1905000" y="0"/>
            <a:ext cx="2056329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35000" y="635000"/>
            <a:ext cx="10160000" cy="12446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3851671" y="3268265"/>
            <a:ext cx="16680658" cy="9233298"/>
          </a:xfrm>
          <a:prstGeom prst="rect">
            <a:avLst/>
          </a:prstGeom>
        </p:spPr>
        <p:txBody>
          <a:bodyPr anchor="t">
            <a:noAutofit/>
          </a:bodyPr>
          <a:lstStyle>
            <a:lvl1pPr marL="369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813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258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7027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147276" indent="-369276">
              <a:spcBef>
                <a:spcPts val="6700"/>
              </a:spcBef>
              <a:buSzPct val="100000"/>
              <a:defRPr sz="36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Line"/>
          <p:cNvSpPr/>
          <p:nvPr/>
        </p:nvSpPr>
        <p:spPr>
          <a:xfrm>
            <a:off x="3958828" y="2768203"/>
            <a:ext cx="16466344" cy="128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71437" tIns="71437" rIns="71437" bIns="71437" anchor="ctr"/>
          <a:lstStyle/>
          <a:p>
            <a:pPr algn="l" defTabSz="642937">
              <a:defRPr sz="1600"/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3851671" y="464343"/>
            <a:ext cx="16680658" cy="196453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9146" y="12930187"/>
            <a:ext cx="409779" cy="415875"/>
          </a:xfrm>
          <a:prstGeom prst="rect">
            <a:avLst/>
          </a:prstGeom>
        </p:spPr>
        <p:txBody>
          <a:bodyPr>
            <a:spAutoFit/>
          </a:bodyPr>
          <a:lstStyle>
            <a:lvl1pPr algn="r"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Text"/>
          <p:cNvSpPr txBox="1">
            <a:spLocks noGrp="1"/>
          </p:cNvSpPr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/>
          <a:lstStyle>
            <a:lvl1pPr marL="521368" indent="-521368">
              <a:spcBef>
                <a:spcPts val="5900"/>
              </a:spcBef>
              <a:buSzPct val="100000"/>
              <a:defRPr sz="5200"/>
            </a:lvl1pPr>
            <a:lvl2pPr marL="902368" indent="-521368">
              <a:spcBef>
                <a:spcPts val="5900"/>
              </a:spcBef>
              <a:buSzPct val="100000"/>
              <a:defRPr sz="5200"/>
            </a:lvl2pPr>
            <a:lvl3pPr marL="1283368" indent="-521368">
              <a:spcBef>
                <a:spcPts val="5900"/>
              </a:spcBef>
              <a:buSzPct val="100000"/>
              <a:defRPr sz="5200"/>
            </a:lvl3pPr>
            <a:lvl4pPr marL="1664368" indent="-521368">
              <a:spcBef>
                <a:spcPts val="5900"/>
              </a:spcBef>
              <a:buSzPct val="100000"/>
              <a:defRPr sz="5200"/>
            </a:lvl4pPr>
            <a:lvl5pPr marL="2045368" indent="-521368">
              <a:spcBef>
                <a:spcPts val="5900"/>
              </a:spcBef>
              <a:buSzPct val="100000"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3" y="13001625"/>
            <a:ext cx="494513" cy="511175"/>
          </a:xfrm>
          <a:prstGeom prst="rect">
            <a:avLst/>
          </a:prstGeom>
        </p:spPr>
        <p:txBody>
          <a:bodyPr>
            <a:spAutoFit/>
          </a:bodyPr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2882" y="13019484"/>
            <a:ext cx="460376" cy="498476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4;p3"/>
          <p:cNvSpPr/>
          <p:nvPr/>
        </p:nvSpPr>
        <p:spPr>
          <a:xfrm>
            <a:off x="1458244" y="12285133"/>
            <a:ext cx="21467202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0" tIns="0" rIns="0" bIns="0"/>
          <a:lstStyle/>
          <a:p>
            <a:pPr algn="l" defTabSz="2438400">
              <a:defRPr sz="3600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pic>
        <p:nvPicPr>
          <p:cNvPr id="171" name="Google Shape;15;p3" descr="Google Shape;15;p3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1508703" y="12136832"/>
            <a:ext cx="2271052" cy="1162015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41357" y="13081000"/>
            <a:ext cx="488950" cy="505889"/>
          </a:xfrm>
          <a:prstGeom prst="rect">
            <a:avLst/>
          </a:prstGeom>
        </p:spPr>
        <p:txBody>
          <a:bodyPr lIns="54533" tIns="54533" rIns="54533" bIns="54533">
            <a:spAutoFit/>
          </a:bodyPr>
          <a:lstStyle>
            <a:lvl1pPr defTabSz="2438400">
              <a:defRPr sz="2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itle Text"/>
          <p:cNvSpPr txBox="1">
            <a:spLocks noGrp="1"/>
          </p:cNvSpPr>
          <p:nvPr>
            <p:ph type="title"/>
          </p:nvPr>
        </p:nvSpPr>
        <p:spPr>
          <a:xfrm>
            <a:off x="831221" y="1985533"/>
            <a:ext cx="22721601" cy="5473601"/>
          </a:xfrm>
          <a:prstGeom prst="rect">
            <a:avLst/>
          </a:prstGeom>
        </p:spPr>
        <p:txBody>
          <a:bodyPr lIns="243799" tIns="243799" rIns="243799" bIns="243799" anchor="b"/>
          <a:lstStyle>
            <a:lvl1pPr defTabSz="2438400">
              <a:defRPr sz="138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Title Text</a:t>
            </a:r>
          </a:p>
        </p:txBody>
      </p:sp>
      <p:sp>
        <p:nvSpPr>
          <p:cNvPr id="18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199" y="7557666"/>
            <a:ext cx="22721602" cy="2113601"/>
          </a:xfrm>
          <a:prstGeom prst="rect">
            <a:avLst/>
          </a:prstGeom>
        </p:spPr>
        <p:txBody>
          <a:bodyPr lIns="243799" tIns="243799" rIns="243799" bIns="243799" anchor="t"/>
          <a:lstStyle>
            <a:lvl1pPr marL="914400" indent="-8001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indent="-3175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indent="1397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14400" indent="5969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14400" indent="1054100" algn="ctr" defTabSz="2438400">
              <a:buSzTx/>
              <a:buNone/>
              <a:defRPr sz="74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188838" y="12524796"/>
            <a:ext cx="867584" cy="870499"/>
          </a:xfrm>
          <a:prstGeom prst="rect">
            <a:avLst/>
          </a:prstGeom>
        </p:spPr>
        <p:txBody>
          <a:bodyPr lIns="243799" tIns="243799" rIns="243799" bIns="243799" anchor="ctr"/>
          <a:lstStyle>
            <a:lvl1pPr algn="r" defTabSz="2438400">
              <a:defRPr sz="2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35000" y="635000"/>
            <a:ext cx="23114000" cy="254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23114000" cy="984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normAutofit/>
          </a:bodyPr>
          <a:lstStyle>
            <a:lvl1pPr>
              <a:defRPr sz="240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5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"/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86/s13321-020-0414-z" TargetMode="External"/><Relationship Id="rId3" Type="http://schemas.openxmlformats.org/officeDocument/2006/relationships/hyperlink" Target="https://creativecommons.org/licenses/by/4.0/" TargetMode="External"/><Relationship Id="rId7" Type="http://schemas.openxmlformats.org/officeDocument/2006/relationships/hyperlink" Target="https://doi.org/10.1021/op100115u" TargetMode="External"/><Relationship Id="rId2" Type="http://schemas.openxmlformats.org/officeDocument/2006/relationships/hyperlink" Target="https://github.com/MobleyLab/drug-computing/tree/master/uci-pharmsci/lectures/free_energy_basics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021/ci400187y" TargetMode="External"/><Relationship Id="rId5" Type="http://schemas.openxmlformats.org/officeDocument/2006/relationships/hyperlink" Target="https://doi.org/10.1021/ci800058v" TargetMode="External"/><Relationship Id="rId4" Type="http://schemas.openxmlformats.org/officeDocument/2006/relationships/hyperlink" Target="https://doi.org/10.1021/ci800436c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11/25/20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4/20/2026</a:t>
            </a:r>
            <a:endParaRPr dirty="0"/>
          </a:p>
        </p:txBody>
      </p:sp>
      <p:sp>
        <p:nvSpPr>
          <p:cNvPr id="191" name="Solubility Predict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Solubility Prediction</a:t>
            </a:r>
          </a:p>
          <a:p>
            <a:pPr lvl="1"/>
            <a:r>
              <a:rPr dirty="0"/>
              <a:t>The importance of solubility prediction</a:t>
            </a:r>
          </a:p>
          <a:p>
            <a:pPr lvl="1"/>
            <a:r>
              <a:rPr dirty="0"/>
              <a:t>The Solubility Challenge (2008)</a:t>
            </a:r>
          </a:p>
          <a:p>
            <a:pPr lvl="1"/>
            <a:r>
              <a:rPr dirty="0"/>
              <a:t>QSPR prediction of solubility</a:t>
            </a:r>
          </a:p>
          <a:p>
            <a:pPr lvl="1"/>
            <a:r>
              <a:rPr dirty="0"/>
              <a:t>Free energy calculations of solubility</a:t>
            </a:r>
          </a:p>
          <a:p>
            <a:r>
              <a:rPr dirty="0"/>
              <a:t>Exercise 1</a:t>
            </a:r>
            <a:r>
              <a:rPr lang="en-US" dirty="0"/>
              <a:t>3</a:t>
            </a:r>
            <a:r>
              <a:rPr dirty="0"/>
              <a:t> - QSPR prediction of solubility</a:t>
            </a:r>
          </a:p>
        </p:txBody>
      </p:sp>
      <p:sp>
        <p:nvSpPr>
          <p:cNvPr id="1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he importance of solubility predic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importance of solubility prediction</a:t>
            </a:r>
          </a:p>
        </p:txBody>
      </p:sp>
      <p:sp>
        <p:nvSpPr>
          <p:cNvPr id="1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Why predict solubility? [Llinàs 2008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4024">
              <a:defRPr sz="10416"/>
            </a:lvl1pPr>
          </a:lstStyle>
          <a:p>
            <a:r>
              <a:t>Why predict solubility? [Llinàs 2008]</a:t>
            </a:r>
          </a:p>
        </p:txBody>
      </p:sp>
      <p:sp>
        <p:nvSpPr>
          <p:cNvPr id="198" name="Drug candidates should have sufficient solubility to b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Drug candidates should have sufficient solubility to be</a:t>
            </a:r>
          </a:p>
          <a:p>
            <a:pPr lvl="1"/>
            <a:r>
              <a:t>tested in biological assays</a:t>
            </a:r>
          </a:p>
          <a:p>
            <a:pPr lvl="1"/>
            <a:r>
              <a:t>stored</a:t>
            </a:r>
          </a:p>
          <a:p>
            <a:pPr lvl="1"/>
            <a:r>
              <a:t>bioavailable</a:t>
            </a:r>
          </a:p>
          <a:p>
            <a:r>
              <a:t>Rules of thumb are unreliable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oor solubility is a major problem [Llinàs 2008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83287">
              <a:defRPr sz="7951"/>
            </a:lvl1pPr>
          </a:lstStyle>
          <a:p>
            <a:r>
              <a:t>Poor solubility is a major problem [Llinàs 2008]</a:t>
            </a:r>
          </a:p>
        </p:txBody>
      </p:sp>
      <p:sp>
        <p:nvSpPr>
          <p:cNvPr id="202" name="Pharmacokinetics…"/>
          <p:cNvSpPr txBox="1">
            <a:spLocks noGrp="1"/>
          </p:cNvSpPr>
          <p:nvPr>
            <p:ph type="body" idx="1"/>
          </p:nvPr>
        </p:nvSpPr>
        <p:spPr>
          <a:xfrm>
            <a:off x="635000" y="3175000"/>
            <a:ext cx="18229616" cy="9842500"/>
          </a:xfrm>
          <a:prstGeom prst="rect">
            <a:avLst/>
          </a:prstGeom>
        </p:spPr>
        <p:txBody>
          <a:bodyPr/>
          <a:lstStyle/>
          <a:p>
            <a:pPr marL="611187" indent="-611187" defTabSz="813315">
              <a:defRPr sz="4950"/>
            </a:pPr>
            <a:r>
              <a:t>Pharmacokinetics</a:t>
            </a:r>
          </a:p>
          <a:p>
            <a:pPr marL="1051242" lvl="1" indent="-611187" defTabSz="813315">
              <a:defRPr sz="4950"/>
            </a:pPr>
            <a:r>
              <a:t>Up to 40% of drug discovery programs abandoned due to pharmacokinetics - the movement of drugs within the body</a:t>
            </a:r>
          </a:p>
          <a:p>
            <a:pPr marL="1051242" lvl="1" indent="-611187" defTabSz="813315">
              <a:defRPr sz="4950"/>
            </a:pPr>
            <a:r>
              <a:t>Low solubility is associated with problems with pharmacokinetics</a:t>
            </a:r>
          </a:p>
          <a:p>
            <a:pPr marL="611187" indent="-611187" defTabSz="813315">
              <a:defRPr sz="4950"/>
            </a:pPr>
            <a:r>
              <a:t>Precipitation</a:t>
            </a:r>
          </a:p>
          <a:p>
            <a:pPr marL="1051242" lvl="1" indent="-611187" defTabSz="813315">
              <a:defRPr sz="4950"/>
            </a:pPr>
            <a:r>
              <a:t>Loperamide (diarrhea drug) can sometimes precipitate when injected</a:t>
            </a:r>
          </a:p>
          <a:p>
            <a:pPr marL="1051242" lvl="1" indent="-611187" defTabSz="813315">
              <a:defRPr sz="4950"/>
            </a:pPr>
            <a:r>
              <a:t>Methotrexate (cancer drug) has kidney toxicity due to precipitation</a:t>
            </a:r>
          </a:p>
          <a:p>
            <a:pPr marL="611187" indent="-611187" defTabSz="813315">
              <a:defRPr sz="4950"/>
            </a:pPr>
            <a:r>
              <a:t>Polymorphs can affect solubility and have different bioavailability, e.g. ritonavir (HIV drug) had to be reformulated</a:t>
            </a:r>
          </a:p>
        </p:txBody>
      </p:sp>
      <p:sp>
        <p:nvSpPr>
          <p:cNvPr id="2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210" name="Group"/>
          <p:cNvGrpSpPr/>
          <p:nvPr/>
        </p:nvGrpSpPr>
        <p:grpSpPr>
          <a:xfrm>
            <a:off x="19367500" y="3497262"/>
            <a:ext cx="3810000" cy="9197976"/>
            <a:chOff x="0" y="0"/>
            <a:chExt cx="3810000" cy="9197975"/>
          </a:xfrm>
        </p:grpSpPr>
        <p:grpSp>
          <p:nvGrpSpPr>
            <p:cNvPr id="206" name="Group"/>
            <p:cNvGrpSpPr/>
            <p:nvPr/>
          </p:nvGrpSpPr>
          <p:grpSpPr>
            <a:xfrm>
              <a:off x="0" y="-1"/>
              <a:ext cx="3810000" cy="4435476"/>
              <a:chOff x="0" y="0"/>
              <a:chExt cx="3810000" cy="4435474"/>
            </a:xfrm>
          </p:grpSpPr>
          <p:pic>
            <p:nvPicPr>
              <p:cNvPr id="204" name="Loperamide_500.png" descr="Loperamide_500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0"/>
                <a:ext cx="3810000" cy="3810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05" name="Loperamide"/>
              <p:cNvSpPr txBox="1"/>
              <p:nvPr/>
            </p:nvSpPr>
            <p:spPr>
              <a:xfrm>
                <a:off x="0" y="3809999"/>
                <a:ext cx="3810000" cy="6254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spAutoFit/>
              </a:bodyPr>
              <a:lstStyle/>
              <a:p>
                <a:r>
                  <a:t>Loperamide</a:t>
                </a:r>
              </a:p>
            </p:txBody>
          </p:sp>
        </p:grpSp>
        <p:grpSp>
          <p:nvGrpSpPr>
            <p:cNvPr id="209" name="Group"/>
            <p:cNvGrpSpPr/>
            <p:nvPr/>
          </p:nvGrpSpPr>
          <p:grpSpPr>
            <a:xfrm>
              <a:off x="0" y="4762499"/>
              <a:ext cx="3810000" cy="4435476"/>
              <a:chOff x="0" y="0"/>
              <a:chExt cx="3810000" cy="4435474"/>
            </a:xfrm>
          </p:grpSpPr>
          <p:pic>
            <p:nvPicPr>
              <p:cNvPr id="207" name="Methotrexate_500.png" descr="Methotrexate_500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3810000" cy="38100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08" name="Methotrexate"/>
              <p:cNvSpPr txBox="1"/>
              <p:nvPr/>
            </p:nvSpPr>
            <p:spPr>
              <a:xfrm>
                <a:off x="0" y="3809999"/>
                <a:ext cx="3810000" cy="6254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spAutoFit/>
              </a:bodyPr>
              <a:lstStyle/>
              <a:p>
                <a:r>
                  <a:t>Methotrexate</a:t>
                </a:r>
              </a:p>
            </p:txBody>
          </p:sp>
        </p:grp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1" build="p" animBg="1" advAuto="0"/>
      <p:bldP spid="210" grpId="2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LAB687 (lower triglyceridess and LDL cholesterol)…"/>
          <p:cNvSpPr txBox="1">
            <a:spLocks noGrp="1"/>
          </p:cNvSpPr>
          <p:nvPr>
            <p:ph type="body" sz="half" idx="1"/>
          </p:nvPr>
        </p:nvSpPr>
        <p:spPr>
          <a:xfrm>
            <a:off x="635000" y="8575132"/>
            <a:ext cx="23114000" cy="4442369"/>
          </a:xfrm>
          <a:prstGeom prst="rect">
            <a:avLst/>
          </a:prstGeom>
        </p:spPr>
        <p:txBody>
          <a:bodyPr/>
          <a:lstStyle/>
          <a:p>
            <a:r>
              <a:t>LAB687 (lower triglyceridess and LDL cholesterol)</a:t>
            </a:r>
          </a:p>
          <a:p>
            <a:r>
              <a:t>Early on, observed form A and B</a:t>
            </a:r>
          </a:p>
          <a:p>
            <a:r>
              <a:t>Later, found form C</a:t>
            </a:r>
          </a:p>
          <a:p>
            <a:r>
              <a:t>Form D observed in scale up, and began to predominate!</a:t>
            </a:r>
          </a:p>
        </p:txBody>
      </p:sp>
      <p:sp>
        <p:nvSpPr>
          <p:cNvPr id="213" name="Polymorphs are chemical engineering probl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91502">
              <a:defRPr sz="8064"/>
            </a:lvl1pPr>
          </a:lstStyle>
          <a:p>
            <a:r>
              <a:rPr dirty="0"/>
              <a:t>Polymorphs are problem</a:t>
            </a:r>
            <a:r>
              <a:rPr lang="en-US" dirty="0"/>
              <a:t> for drug scale-up</a:t>
            </a:r>
            <a:endParaRPr dirty="0"/>
          </a:p>
        </p:txBody>
      </p:sp>
      <p:sp>
        <p:nvSpPr>
          <p:cNvPr id="2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grpSp>
        <p:nvGrpSpPr>
          <p:cNvPr id="218" name="Group"/>
          <p:cNvGrpSpPr/>
          <p:nvPr/>
        </p:nvGrpSpPr>
        <p:grpSpPr>
          <a:xfrm>
            <a:off x="2730319" y="3172222"/>
            <a:ext cx="19498051" cy="4986648"/>
            <a:chOff x="0" y="0"/>
            <a:chExt cx="19498050" cy="4986647"/>
          </a:xfrm>
        </p:grpSpPr>
        <p:pic>
          <p:nvPicPr>
            <p:cNvPr id="215" name="Image" descr="Image"/>
            <p:cNvPicPr>
              <a:picLocks noChangeAspect="1"/>
            </p:cNvPicPr>
            <p:nvPr/>
          </p:nvPicPr>
          <p:blipFill>
            <a:blip r:embed="rId2"/>
            <a:srcRect b="52187"/>
            <a:stretch>
              <a:fillRect/>
            </a:stretch>
          </p:blipFill>
          <p:spPr>
            <a:xfrm>
              <a:off x="0" y="184745"/>
              <a:ext cx="9525000" cy="37252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6" name="Image" descr="Image"/>
            <p:cNvPicPr>
              <a:picLocks noChangeAspect="1"/>
            </p:cNvPicPr>
            <p:nvPr/>
          </p:nvPicPr>
          <p:blipFill>
            <a:blip r:embed="rId2"/>
            <a:srcRect t="47444"/>
            <a:stretch>
              <a:fillRect/>
            </a:stretch>
          </p:blipFill>
          <p:spPr>
            <a:xfrm>
              <a:off x="9973050" y="0"/>
              <a:ext cx="9525001" cy="409484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7" name="Chemical structure and SEM images from [4]"/>
            <p:cNvSpPr txBox="1"/>
            <p:nvPr/>
          </p:nvSpPr>
          <p:spPr>
            <a:xfrm>
              <a:off x="5332097" y="4361172"/>
              <a:ext cx="8241308" cy="6254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Chemical structure and SEM images from [4]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" grpId="1" build="p" bldLvl="5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Why work with low-solubility compound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49009">
              <a:defRPr sz="8848"/>
            </a:lvl1pPr>
          </a:lstStyle>
          <a:p>
            <a:r>
              <a:t>Why work with low-solubility compounds?</a:t>
            </a:r>
          </a:p>
        </p:txBody>
      </p:sp>
      <p:sp>
        <p:nvSpPr>
          <p:cNvPr id="221" name="Practical reas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Practical reason</a:t>
            </a:r>
          </a:p>
          <a:p>
            <a:pPr lvl="1"/>
            <a:r>
              <a:t>increased weight and lipophilicity of test compounds from high-throughput synthesis and screening</a:t>
            </a:r>
          </a:p>
          <a:p>
            <a:r>
              <a:t>Principled reasons</a:t>
            </a:r>
          </a:p>
          <a:p>
            <a:pPr lvl="1"/>
            <a:r>
              <a:t>drugs usually need to permeate cell membranes</a:t>
            </a:r>
          </a:p>
          <a:p>
            <a:pPr lvl="1"/>
            <a:r>
              <a:t>increased binding affinity - the molecule prefers the complex over the solvent - often associated with reduced solubility</a:t>
            </a:r>
          </a:p>
        </p:txBody>
      </p:sp>
      <p:sp>
        <p:nvSpPr>
          <p:cNvPr id="2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" grpId="1" build="p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use of solvents, e.g. DMSO, in early-stage assay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use of solvents, e.g. DMSO, in early-stage assays</a:t>
            </a:r>
          </a:p>
          <a:p>
            <a:r>
              <a:t>pH dependence</a:t>
            </a:r>
          </a:p>
          <a:p>
            <a:pPr lvl="1"/>
            <a:r>
              <a:t>free acid/free base is less soluble than salt</a:t>
            </a:r>
          </a:p>
          <a:p>
            <a:pPr lvl="1"/>
            <a:r>
              <a:t>intrinsic solubility is solubility of free acid/free base</a:t>
            </a:r>
          </a:p>
          <a:p>
            <a:r>
              <a:t>kinetic solubility - appearance or disappearance of precipitate at different concentrations than the thermodynamic saturating concentration (sub- or supersaturation)</a:t>
            </a:r>
          </a:p>
          <a:p>
            <a:r>
              <a:t>polymorphs not always known</a:t>
            </a:r>
          </a:p>
          <a:p>
            <a:endParaRPr/>
          </a:p>
          <a:p>
            <a:r>
              <a:t>These problems are also reasons why solubility is difficult to measure and predict</a:t>
            </a:r>
          </a:p>
        </p:txBody>
      </p:sp>
      <p:sp>
        <p:nvSpPr>
          <p:cNvPr id="225" name="How are solubility problems hidden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55808">
              <a:defRPr sz="10304"/>
            </a:lvl1pPr>
          </a:lstStyle>
          <a:p>
            <a:r>
              <a:t>How are solubility problems hidden?</a:t>
            </a:r>
          </a:p>
        </p:txBody>
      </p:sp>
      <p:sp>
        <p:nvSpPr>
          <p:cNvPr id="2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1" build="p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he Solubility Challenges (2008 &amp; 2018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Solubility Challenges (2008 &amp; 2018)</a:t>
            </a:r>
          </a:p>
        </p:txBody>
      </p:sp>
      <p:sp>
        <p:nvSpPr>
          <p:cNvPr id="2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Solubility Challenge [Llinàs 2008, Hopfinger 2009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75071">
              <a:defRPr sz="7840"/>
            </a:lvl1pPr>
          </a:lstStyle>
          <a:p>
            <a:r>
              <a:t>Solubility Challenge [Llinàs 2008, Hopfinger 2009]</a:t>
            </a:r>
          </a:p>
        </p:txBody>
      </p:sp>
      <p:sp>
        <p:nvSpPr>
          <p:cNvPr id="232" name="measure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measured </a:t>
            </a:r>
          </a:p>
          <a:p>
            <a:pPr lvl="1"/>
            <a:r>
              <a:t>intrinsic solubility (free acid/free base) </a:t>
            </a:r>
          </a:p>
          <a:p>
            <a:pPr lvl="1"/>
            <a:r>
              <a:t>highly reproducible (thermodynamic versus kinetic solubility)</a:t>
            </a:r>
          </a:p>
          <a:p>
            <a:r>
              <a:t>published 100 solubilities</a:t>
            </a:r>
          </a:p>
          <a:p>
            <a:r>
              <a:t>challenged researchers to predict 32 more</a:t>
            </a:r>
          </a:p>
          <a:p>
            <a:r>
              <a:t>received &gt;100 entries between July and September 2008</a:t>
            </a:r>
          </a:p>
        </p:txBody>
      </p:sp>
      <p:sp>
        <p:nvSpPr>
          <p:cNvPr id="2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20548" y="13010554"/>
            <a:ext cx="325045" cy="5111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Examples from the dataset [2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Examples from the dataset [2]</a:t>
            </a:r>
          </a:p>
        </p:txBody>
      </p:sp>
      <p:sp>
        <p:nvSpPr>
          <p:cNvPr id="23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pic>
        <p:nvPicPr>
          <p:cNvPr id="237" name="Papers.pdf" descr="Papers.pdf"/>
          <p:cNvPicPr>
            <a:picLocks noChangeAspect="1"/>
          </p:cNvPicPr>
          <p:nvPr/>
        </p:nvPicPr>
        <p:blipFill>
          <a:blip r:embed="rId2"/>
          <a:srcRect t="1177"/>
          <a:stretch>
            <a:fillRect/>
          </a:stretch>
        </p:blipFill>
        <p:spPr>
          <a:xfrm>
            <a:off x="3289101" y="3678733"/>
            <a:ext cx="17787939" cy="88279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Overall performance in the solubility challen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91502">
              <a:defRPr sz="8064"/>
            </a:lvl1pPr>
          </a:lstStyle>
          <a:p>
            <a:r>
              <a:t>Overall performance in the solubility challenge</a:t>
            </a:r>
          </a:p>
        </p:txBody>
      </p:sp>
      <p:sp>
        <p:nvSpPr>
          <p:cNvPr id="2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pic>
        <p:nvPicPr>
          <p:cNvPr id="24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3330277"/>
            <a:ext cx="14203357" cy="952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Figure 2 from Hopfinger 2009.…"/>
          <p:cNvSpPr txBox="1"/>
          <p:nvPr/>
        </p:nvSpPr>
        <p:spPr>
          <a:xfrm>
            <a:off x="17359955" y="7056139"/>
            <a:ext cx="6074173" cy="207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Figure 2 from Hopfinger 2009.</a:t>
            </a:r>
          </a:p>
          <a:p>
            <a:r>
              <a:t>“Correct” is within 0.5 logS</a:t>
            </a:r>
          </a:p>
          <a:p>
            <a:r>
              <a:t>Blue bars are percentage correct</a:t>
            </a:r>
          </a:p>
          <a:p>
            <a:r>
              <a:t>Red is actual logS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Major findings [Hopfinger 2009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Major findings [Hopfinger 2009]</a:t>
            </a:r>
          </a:p>
        </p:txBody>
      </p:sp>
      <p:sp>
        <p:nvSpPr>
          <p:cNvPr id="245" name="For measured set of 28 compounds, percent correct 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For measured set of 28 compounds, percent correct on</a:t>
            </a:r>
          </a:p>
          <a:p>
            <a:pPr lvl="1"/>
            <a:r>
              <a:t>absolute S (±10%) ranges from 0%-18%</a:t>
            </a:r>
          </a:p>
          <a:p>
            <a:pPr lvl="1"/>
            <a:r>
              <a:t>logS (±0.5 logS) ranges from 10-61%</a:t>
            </a:r>
          </a:p>
          <a:p>
            <a:pPr lvl="1"/>
            <a:r>
              <a:t>Worst two compounds 2% and 4% correct by logS</a:t>
            </a:r>
          </a:p>
          <a:p>
            <a:r>
              <a:t>R</a:t>
            </a:r>
            <a:r>
              <a:rPr baseline="31999"/>
              <a:t>2</a:t>
            </a:r>
            <a:r>
              <a:t> ranges from 0 to 0.65</a:t>
            </a:r>
          </a:p>
          <a:p>
            <a:r>
              <a:t>No polymorph predictions</a:t>
            </a:r>
          </a:p>
          <a:p>
            <a:r>
              <a:t>Compounds with “normal” solubility (logS = 0.5 to 3) were easiest</a:t>
            </a:r>
          </a:p>
          <a:p>
            <a:r>
              <a:t>Many methods, but none clearly the best</a:t>
            </a:r>
          </a:p>
        </p:txBody>
      </p:sp>
      <p:sp>
        <p:nvSpPr>
          <p:cNvPr id="2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olubility Challenge 2 [Llinas 2019, Llinas 2020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83287">
              <a:defRPr sz="7951"/>
            </a:lvl1pPr>
          </a:lstStyle>
          <a:p>
            <a:r>
              <a:t>Solubility Challenge 2 [Llinas 2019, Llinas 2020]</a:t>
            </a:r>
          </a:p>
        </p:txBody>
      </p:sp>
      <p:sp>
        <p:nvSpPr>
          <p:cNvPr id="249" name="No specified training set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 specified training set</a:t>
            </a:r>
          </a:p>
          <a:p>
            <a:r>
              <a:t>Test sets </a:t>
            </a:r>
          </a:p>
          <a:p>
            <a:pPr lvl="1"/>
            <a:r>
              <a:t>mostly saturation shake-flask measurements curated from literature</a:t>
            </a:r>
          </a:p>
          <a:p>
            <a:pPr lvl="1"/>
            <a:r>
              <a:t>with different interlaboratory standard deviation</a:t>
            </a:r>
          </a:p>
          <a:p>
            <a:pPr lvl="2"/>
            <a:r>
              <a:t>“Well-determined” ~0.17 log unit </a:t>
            </a:r>
          </a:p>
          <a:p>
            <a:pPr lvl="2"/>
            <a:r>
              <a:t>“Contentious” ~0.62 log units</a:t>
            </a:r>
          </a:p>
          <a:p>
            <a:r>
              <a:t>Predictions</a:t>
            </a:r>
          </a:p>
          <a:p>
            <a:pPr lvl="1"/>
            <a:r>
              <a:t>34 predictions from 20 groups</a:t>
            </a:r>
          </a:p>
          <a:p>
            <a:pPr lvl="1"/>
            <a:r>
              <a:t>Training sets with different levels of standardization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Major Findings [Llinas 2020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Major Findings [Llinas 2020]</a:t>
            </a:r>
          </a:p>
        </p:txBody>
      </p:sp>
      <p:sp>
        <p:nvSpPr>
          <p:cNvPr id="253" name="Have computational methods improved?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Have computational methods improved?</a:t>
            </a:r>
          </a:p>
          <a:p>
            <a:pPr lvl="1"/>
            <a:r>
              <a:t>“No prediction improvement of the new methods over the classic MLR ones”</a:t>
            </a:r>
          </a:p>
          <a:p>
            <a:r>
              <a:t>How does prediction performance compare between sets?</a:t>
            </a:r>
          </a:p>
          <a:p>
            <a:r>
              <a:t>“From the comparison of the outcome of SC-1 with SC-2, it is clear that there is no significant difference regarding prediction performances”</a:t>
            </a:r>
          </a:p>
          <a:p>
            <a:r>
              <a:t>Predictions more accurate for high-quality set, but inaccuracy also related to higher standard deviation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QSPR prediction of solu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QSPR prediction of solubility</a:t>
            </a:r>
          </a:p>
        </p:txBody>
      </p:sp>
      <p:sp>
        <p:nvSpPr>
          <p:cNvPr id="2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Historically informative descriptors [Hewitt 2009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75071">
              <a:defRPr sz="7840"/>
            </a:lvl1pPr>
          </a:lstStyle>
          <a:p>
            <a:r>
              <a:t>Historically informative descriptors [Hewitt 2009]</a:t>
            </a:r>
          </a:p>
        </p:txBody>
      </p:sp>
      <p:sp>
        <p:nvSpPr>
          <p:cNvPr id="260" name="Molecular size or surface area - cost of forming cavity in water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Molecular size or surface area - cost of forming cavity in water</a:t>
            </a:r>
          </a:p>
          <a:p>
            <a:r>
              <a:t>Octanol:water partition coefficient (P) - solubility relative to a non polar phase</a:t>
            </a:r>
          </a:p>
          <a:p>
            <a:r>
              <a:t>Melting point - higher means more stable solid</a:t>
            </a:r>
          </a:p>
          <a:p>
            <a:r>
              <a:t>Hydrogen bonding - favors water solubility</a:t>
            </a:r>
          </a:p>
          <a:p>
            <a:r>
              <a:t>Atom/group contributions</a:t>
            </a:r>
          </a:p>
          <a:p>
            <a:r>
              <a:t>Molecular connectivities</a:t>
            </a:r>
          </a:p>
          <a:p>
            <a:endParaRPr/>
          </a:p>
          <a:p>
            <a:r>
              <a:t>Possible limitation: lack of long-range order in descriptors prevents understanding of crystalline state [Llinas 2020]</a:t>
            </a:r>
          </a:p>
        </p:txBody>
      </p:sp>
      <p:sp>
        <p:nvSpPr>
          <p:cNvPr id="2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Molecular weight has some predictive powe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24363">
              <a:defRPr sz="8512"/>
            </a:lvl1pPr>
          </a:lstStyle>
          <a:p>
            <a:r>
              <a:t>Molecular weight has some predictive power</a:t>
            </a:r>
          </a:p>
        </p:txBody>
      </p:sp>
      <p:sp>
        <p:nvSpPr>
          <p:cNvPr id="2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pic>
        <p:nvPicPr>
          <p:cNvPr id="265" name="Solubility_Assignment.pdf" descr="Solubility_Assignment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832" y="2920007"/>
            <a:ext cx="12983766" cy="9983392"/>
          </a:xfrm>
          <a:prstGeom prst="rect">
            <a:avLst/>
          </a:prstGeom>
          <a:ln w="12700">
            <a:miter lim="400000"/>
          </a:ln>
        </p:spPr>
      </p:pic>
      <p:sp>
        <p:nvSpPr>
          <p:cNvPr id="266" name="From Ref [Mobley 2022]…"/>
          <p:cNvSpPr txBox="1"/>
          <p:nvPr/>
        </p:nvSpPr>
        <p:spPr>
          <a:xfrm>
            <a:off x="18146103" y="6875065"/>
            <a:ext cx="4514851" cy="207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From Ref [Mobley 2022]</a:t>
            </a:r>
          </a:p>
          <a:p>
            <a:r>
              <a:t>Blue: training</a:t>
            </a:r>
          </a:p>
          <a:p>
            <a:r>
              <a:t>Red: test</a:t>
            </a:r>
          </a:p>
          <a:p>
            <a:r>
              <a:t>Black: predictions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QSPR in the solubility challen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QSPR in the solubility challenge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Hewitt et al tried four QSPR models [Hewitt 2009]…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35000" y="3175000"/>
                <a:ext cx="15238405" cy="9842500"/>
              </a:xfrm>
              <a:prstGeom prst="rect">
                <a:avLst/>
              </a:prstGeom>
            </p:spPr>
            <p:txBody>
              <a:bodyPr/>
              <a:lstStyle/>
              <a:p>
                <a:pPr marL="537104" indent="-537104" defTabSz="714732">
                  <a:defRPr sz="4350"/>
                </a:pPr>
                <a:r>
                  <a:t>Hewitt et al tried four QSPR models [Hewitt 2009]</a:t>
                </a:r>
              </a:p>
              <a:p>
                <a:pPr marL="923819" lvl="1" indent="-537104" defTabSz="714732">
                  <a:defRPr sz="4350"/>
                </a:pPr>
                <a:r>
                  <a:t>Multiple linear regression (426 descriptors, genetic algorithm, no more than 5 used at once)</a:t>
                </a:r>
              </a:p>
              <a:p>
                <a:pPr marL="923819" lvl="1" indent="-537104" defTabSz="714732">
                  <a:defRPr sz="4350"/>
                </a:pPr>
                <a:r>
                  <a:t>Artificial neural network</a:t>
                </a:r>
              </a:p>
              <a:p>
                <a:pPr marL="923819" lvl="1" indent="-537104" defTabSz="714732">
                  <a:defRPr sz="4350"/>
                </a:pPr>
                <a:r>
                  <a:t>Category-specific models based on H bond ability</a:t>
                </a:r>
              </a:p>
              <a:p>
                <a:pPr marL="923819" lvl="1" indent="-537104" defTabSz="714732">
                  <a:defRPr sz="4350"/>
                </a:pPr>
                <a:r>
                  <a:t>Various commercial QSPR models</a:t>
                </a:r>
              </a:p>
              <a:p>
                <a:pPr marL="923819" lvl="1" indent="-537104" defTabSz="714732">
                  <a:defRPr sz="4350"/>
                </a:pPr>
                <a:r>
                  <a:t>Consensus, mean of four models</a:t>
                </a:r>
              </a:p>
              <a:p>
                <a:pPr marL="537104" indent="-537104" defTabSz="714732">
                  <a:defRPr sz="4350"/>
                </a:pPr>
                <a:r>
                  <a:t>The best was a three-descriptor linear regression</a:t>
                </a:r>
              </a:p>
              <a:p>
                <a:pPr marL="923819" lvl="1" indent="-537104" defTabSz="714732">
                  <a:defRPr sz="4350"/>
                </a:pPr>
                <a:r>
                  <a:t>based on log P, boiling point, and R maximal autocorrelation of lag 2 (related to size and connectivity).</a:t>
                </a:r>
              </a:p>
              <a:p>
                <a:pPr marL="923819" lvl="1" indent="-537104" defTabSz="714732">
                  <a:defRPr sz="4350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  <m:sup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=0.74</m:t>
                    </m:r>
                  </m:oMath>
                </a14:m>
                <a: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sz="5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  <m:sup>
                        <m:r>
                          <a:rPr sz="5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sz="5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=0.51</m:t>
                    </m:r>
                  </m:oMath>
                </a14:m>
                <a:endParaRPr/>
              </a:p>
              <a:p>
                <a:pPr marL="537104" indent="-537104" defTabSz="714732">
                  <a:defRPr sz="4350"/>
                </a:pPr>
                <a:r>
                  <a:t>“none of the other modeling approaches used in this study was able to improve upon the predictions made by the MLR model”</a:t>
                </a:r>
              </a:p>
            </p:txBody>
          </p:sp>
        </mc:Choice>
        <mc:Fallback>
          <p:sp>
            <p:nvSpPr>
              <p:cNvPr id="269" name="Hewitt et al tried four QSPR models [Hewitt 2009]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35000" y="3175000"/>
                <a:ext cx="15238405" cy="9842500"/>
              </a:xfrm>
              <a:prstGeom prst="rect">
                <a:avLst/>
              </a:prstGeom>
              <a:blipFill>
                <a:blip r:embed="rId2"/>
                <a:stretch>
                  <a:fillRect l="-916" r="-2082" b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271" name="Papers.pdf" descr="Papers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9419" y="4843850"/>
            <a:ext cx="8249330" cy="65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an deep learning do better? [Lusci 2013]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65440">
              <a:defRPr sz="9072"/>
            </a:lvl1pPr>
          </a:lstStyle>
          <a:p>
            <a:r>
              <a:t>Can deep learning do better? [Lusci 2013]</a:t>
            </a:r>
          </a:p>
        </p:txBody>
      </p:sp>
      <p:sp>
        <p:nvSpPr>
          <p:cNvPr id="2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27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87" y="3831927"/>
            <a:ext cx="13970001" cy="8521701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Better than simple neural network, but worse than MLR"/>
          <p:cNvSpPr txBox="1"/>
          <p:nvPr/>
        </p:nvSpPr>
        <p:spPr>
          <a:xfrm>
            <a:off x="12591755" y="6872952"/>
            <a:ext cx="10072093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Better than simple neural network, but worse than MLR</a:t>
            </a:r>
          </a:p>
        </p:txBody>
      </p:sp>
      <p:sp>
        <p:nvSpPr>
          <p:cNvPr id="277" name="Huusk results are based on more data.…"/>
          <p:cNvSpPr txBox="1"/>
          <p:nvPr/>
        </p:nvSpPr>
        <p:spPr>
          <a:xfrm>
            <a:off x="13826334" y="7731498"/>
            <a:ext cx="7602935" cy="1108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Huusk results are based on more data. </a:t>
            </a:r>
          </a:p>
          <a:p>
            <a:r>
              <a:t>Sub results use different solubility values.</a:t>
            </a:r>
          </a:p>
        </p:txBody>
      </p:sp>
      <p:sp>
        <p:nvSpPr>
          <p:cNvPr id="278" name="In summary, deep learning can do better if there is more data."/>
          <p:cNvSpPr txBox="1"/>
          <p:nvPr/>
        </p:nvSpPr>
        <p:spPr>
          <a:xfrm>
            <a:off x="12007952" y="9217800"/>
            <a:ext cx="11239700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In summary, deep learning can do better if there is more data.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Opening the black box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Opening the black box?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pic>
        <p:nvPicPr>
          <p:cNvPr id="2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79" y="3488944"/>
            <a:ext cx="11010485" cy="76248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325" y="4234095"/>
            <a:ext cx="12480537" cy="6134501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Recent deep learning method seems to perform well in solubility prediction and…"/>
          <p:cNvSpPr txBox="1"/>
          <p:nvPr/>
        </p:nvSpPr>
        <p:spPr>
          <a:xfrm>
            <a:off x="3641526" y="11427690"/>
            <a:ext cx="17083089" cy="1108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Recent deep learning method seems to perform well in solubility prediction and </a:t>
            </a:r>
          </a:p>
          <a:p>
            <a:r>
              <a:t>also highlights moieties that contribute to (red) or detract from (blue) solubility. See Tang 2020.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Free energy calculations of solu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Free energy calculations of solubility</a:t>
            </a:r>
          </a:p>
        </p:txBody>
      </p:sp>
      <p:sp>
        <p:nvSpPr>
          <p:cNvPr id="2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hemical potential determines solu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90086">
              <a:defRPr sz="9407"/>
            </a:lvl1pPr>
          </a:lstStyle>
          <a:p>
            <a:r>
              <a:t>Chemical potential determines solubility</a:t>
            </a:r>
          </a:p>
        </p:txBody>
      </p:sp>
      <p:sp>
        <p:nvSpPr>
          <p:cNvPr id="29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pic>
        <p:nvPicPr>
          <p:cNvPr id="291" name="droppedImage.png" descr="droppedImage.png"/>
          <p:cNvPicPr>
            <a:picLocks noChangeAspect="1"/>
          </p:cNvPicPr>
          <p:nvPr/>
        </p:nvPicPr>
        <p:blipFill>
          <a:blip r:embed="rId2"/>
          <a:srcRect l="8971" t="6030" r="6393" b="2964"/>
          <a:stretch>
            <a:fillRect/>
          </a:stretch>
        </p:blipFill>
        <p:spPr>
          <a:xfrm>
            <a:off x="6286897" y="3330674"/>
            <a:ext cx="11810142" cy="95242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4" name="Group"/>
          <p:cNvGrpSpPr/>
          <p:nvPr/>
        </p:nvGrpSpPr>
        <p:grpSpPr>
          <a:xfrm>
            <a:off x="18244308" y="3857613"/>
            <a:ext cx="5286376" cy="8126017"/>
            <a:chOff x="0" y="0"/>
            <a:chExt cx="5286375" cy="8126015"/>
          </a:xfrm>
        </p:grpSpPr>
        <p:pic>
          <p:nvPicPr>
            <p:cNvPr id="292" name="Papers.pdf" descr="Papers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156" y="0"/>
              <a:ext cx="5054204" cy="40719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3" name="Papers.pdf" descr="Papers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4536280"/>
              <a:ext cx="5286375" cy="35897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97" name="Group"/>
          <p:cNvGrpSpPr/>
          <p:nvPr/>
        </p:nvGrpSpPr>
        <p:grpSpPr>
          <a:xfrm>
            <a:off x="547949" y="5049931"/>
            <a:ext cx="5360857" cy="1905791"/>
            <a:chOff x="0" y="0"/>
            <a:chExt cx="5360856" cy="1905789"/>
          </a:xfrm>
        </p:grpSpPr>
        <p:sp>
          <p:nvSpPr>
            <p:cNvPr id="295" name="Line"/>
            <p:cNvSpPr/>
            <p:nvPr/>
          </p:nvSpPr>
          <p:spPr>
            <a:xfrm flipV="1">
              <a:off x="5360856" y="-1"/>
              <a:ext cx="1" cy="1905791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>
                  <a:latin typeface="+mn-lt"/>
                  <a:ea typeface="+mn-ea"/>
                  <a:cs typeface="+mn-cs"/>
                  <a:sym typeface="Helvetica Light"/>
                </a:defRPr>
              </a:pPr>
              <a:endParaRPr/>
            </a:p>
          </p:txBody>
        </p:sp>
        <p:sp>
          <p:nvSpPr>
            <p:cNvPr id="296" name="Polymorphs have…"/>
            <p:cNvSpPr txBox="1"/>
            <p:nvPr/>
          </p:nvSpPr>
          <p:spPr>
            <a:xfrm>
              <a:off x="-1" y="398857"/>
              <a:ext cx="4982767" cy="11080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r>
                <a:t>Polymorphs have </a:t>
              </a:r>
            </a:p>
            <a:p>
              <a:r>
                <a:t>different chemical potential</a:t>
              </a:r>
            </a:p>
          </p:txBody>
        </p:sp>
      </p:grpSp>
      <p:sp>
        <p:nvSpPr>
          <p:cNvPr id="298" name="From Ref [8]"/>
          <p:cNvSpPr txBox="1"/>
          <p:nvPr/>
        </p:nvSpPr>
        <p:spPr>
          <a:xfrm>
            <a:off x="19680598" y="12424409"/>
            <a:ext cx="2413795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From Ref [8]</a:t>
            </a:r>
          </a:p>
        </p:txBody>
      </p:sp>
      <p:sp>
        <p:nvSpPr>
          <p:cNvPr id="299" name="From Ref [1]"/>
          <p:cNvSpPr txBox="1"/>
          <p:nvPr/>
        </p:nvSpPr>
        <p:spPr>
          <a:xfrm>
            <a:off x="15239212" y="12953404"/>
            <a:ext cx="2413795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From Ref [1]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1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A thermodynamic cycle for solu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55808">
              <a:defRPr sz="10304"/>
            </a:lvl1pPr>
          </a:lstStyle>
          <a:p>
            <a:r>
              <a:t>A thermodynamic cycle for solubility</a:t>
            </a:r>
          </a:p>
        </p:txBody>
      </p:sp>
      <p:sp>
        <p:nvSpPr>
          <p:cNvPr id="3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303" name="Papers.pdf" descr="Papers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232" y="2911078"/>
            <a:ext cx="15361676" cy="8513417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From Ref [8]. Note that solubility ≠ solvation or hydration.…"/>
          <p:cNvSpPr txBox="1"/>
          <p:nvPr/>
        </p:nvSpPr>
        <p:spPr>
          <a:xfrm>
            <a:off x="4360366" y="11663486"/>
            <a:ext cx="15663268" cy="1108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From Ref [8]. Note that solubility ≠ solvation or hydration. </a:t>
            </a:r>
          </a:p>
          <a:p>
            <a:r>
              <a:t>Hydration + sublimation free energies calculated with alchemical free energy methods.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sults on an initial series appear promising without any tu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75071">
              <a:defRPr sz="7840"/>
            </a:lvl1pPr>
          </a:lstStyle>
          <a:p>
            <a:r>
              <a:t>Results on an initial series appear promising without any tuning</a:t>
            </a:r>
          </a:p>
        </p:txBody>
      </p:sp>
      <p:sp>
        <p:nvSpPr>
          <p:cNvPr id="3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pic>
        <p:nvPicPr>
          <p:cNvPr id="308" name="Papers.pdf" descr="Papers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001" y="3448763"/>
            <a:ext cx="9917999" cy="9288029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From Ref [8]"/>
          <p:cNvSpPr txBox="1"/>
          <p:nvPr/>
        </p:nvSpPr>
        <p:spPr>
          <a:xfrm>
            <a:off x="14551142" y="12625336"/>
            <a:ext cx="2413795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From Ref [8]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fer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References</a:t>
            </a:r>
          </a:p>
        </p:txBody>
      </p:sp>
      <p:sp>
        <p:nvSpPr>
          <p:cNvPr id="312" name="Many parts of today’s lecture were adapted from a lecture by David Mobley (https://github.com/MobleyLab/drug-computing/tree/master/uci-pharmsci/lectures/free_energy_basics) under the CC BY 4.0 license. The lecture is part of the Drug Discovery Computing 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5722" indent="-345722" defTabSz="460057">
              <a:defRPr sz="2800"/>
            </a:pPr>
            <a:r>
              <a:t>Many parts of today’s lecture were adapted from a lecture by David Mobley (</a:t>
            </a:r>
            <a:r>
              <a:rPr u="sng">
                <a:hlinkClick r:id="rId2"/>
              </a:rPr>
              <a:t>https://github.com/MobleyLab/drug-computing/tree/master/uci-pharmsci/lectures/free_energy_basics</a:t>
            </a:r>
            <a:r>
              <a:t>) under the </a:t>
            </a:r>
            <a:r>
              <a:rPr u="sng">
                <a:hlinkClick r:id="rId3"/>
              </a:rPr>
              <a:t>CC BY 4.0 license</a:t>
            </a:r>
            <a:r>
              <a:t>. The lecture is part of the Drug Discovery Computing Techniques course (PharmSci 175/275) at UC Irvine.</a:t>
            </a:r>
          </a:p>
          <a:p>
            <a:pPr marL="345722" indent="-345722" defTabSz="460057">
              <a:defRPr sz="2800"/>
            </a:pPr>
            <a:r>
              <a:t>Hewitt, M.; Cronin, M. T. D.; Enoch, S. J.; Madden, J. C.; Roberts, D. W.; Dearden, J. C. In Silico Prediction of Aqueous Solubility: The Solubility Challenge. J. Chem. Inf. Model. 2009, 49 (11), 2572–2587. https://doi.org/10.1021/ci900286s.</a:t>
            </a:r>
          </a:p>
          <a:p>
            <a:pPr marL="345722" indent="-345722" defTabSz="460057">
              <a:defRPr sz="2800"/>
            </a:pPr>
            <a:r>
              <a:t>Hopfinger, A. J.; Esposito, E. X.; Llinàs, A.; Glen, R. C.; Goodman, J. M. Findings of the Challenge To Predict Aqueous Solubility. J. Chem. Inf. Model. 2009, 49 (1), 1–5. </a:t>
            </a:r>
            <a:r>
              <a:rPr u="sng">
                <a:hlinkClick r:id="rId4"/>
              </a:rPr>
              <a:t>https://doi.org/10.1021/ci800436c</a:t>
            </a:r>
            <a:r>
              <a:t>.</a:t>
            </a:r>
          </a:p>
          <a:p>
            <a:pPr marL="345722" indent="-345722" defTabSz="460057">
              <a:defRPr sz="2800"/>
            </a:pPr>
            <a:r>
              <a:t>Llinàs, A.; Glen, R. C.; Goodman, J. M. Solubility Challenge: Can You Predict Solubilities of 32 Molecules Using a Database of 100 Reliable Measurements? J. Chem. Inf. Model. 2008, 48 (7), 1289–1303. </a:t>
            </a:r>
            <a:r>
              <a:rPr u="sng">
                <a:hlinkClick r:id="rId5"/>
              </a:rPr>
              <a:t>https://doi.org/10.1021/ci800058v</a:t>
            </a:r>
            <a:r>
              <a:t>.</a:t>
            </a:r>
          </a:p>
          <a:p>
            <a:pPr marL="345722" indent="-345722" defTabSz="460057">
              <a:defRPr sz="2800"/>
            </a:pPr>
            <a:r>
              <a:t>Llinas, A.; Avdeef, A. Solubility Challenge Revisited after Ten Years, with Multilab Shake-Flask Data, Using Tight (SD ∼ 0.17 Log) and Loose (SD ∼ 0.62 Log) Test Sets. J. Chem. Inf. Model. 2019, 59 (6), 3036–3040. https://doi.org/10.1021/acs.jcim.9b00345.</a:t>
            </a:r>
          </a:p>
          <a:p>
            <a:pPr marL="345722" indent="-345722" defTabSz="460057">
              <a:defRPr sz="2800"/>
            </a:pPr>
            <a:r>
              <a:t>Llinas, A.; Oprisiu, I.; Avdeef, A. Findings of the Second Challenge to Predict Aqueous Solubility. J. Chem. Inf. Model. 2020, 60 (10), 4791–4803. https://doi.org/10.1021/acs.jcim.0c00701.</a:t>
            </a:r>
          </a:p>
          <a:p>
            <a:pPr marL="345722" indent="-345722" defTabSz="460057">
              <a:defRPr sz="2800"/>
            </a:pPr>
            <a:r>
              <a:t>Lusci, A.; Pollastri, G.; Baldi, P. Deep Architectures and Deep Learning in Chemoinformatics: The Prediction of Aqueous Solubility for Drug-Like Molecules. J. Chem. Inf. Model. 2013, 53 (7), 1563–1575. </a:t>
            </a:r>
            <a:r>
              <a:rPr u="sng">
                <a:hlinkClick r:id="rId6"/>
              </a:rPr>
              <a:t>https://doi.org/10.1021/ci400187y</a:t>
            </a:r>
            <a:r>
              <a:t>.</a:t>
            </a:r>
          </a:p>
          <a:p>
            <a:pPr marL="345722" indent="-345722" defTabSz="460057">
              <a:defRPr sz="2800"/>
            </a:pPr>
            <a:r>
              <a:t>Prashad, M.; Sutton, P.; Wu, R.; Hu, B.; Vivelo, J.; Carosi, J.; Kapa, P.; Liang, J. Process Research and Development of a MTP Inhibitor: Another Case of Disappearing Polymorphs upon Scale-Up. Org. Process Res. Dev. 2010, 14 (4), 878–882. </a:t>
            </a:r>
            <a:r>
              <a:rPr u="sng">
                <a:hlinkClick r:id="rId7"/>
              </a:rPr>
              <a:t>https://doi.org/10.1021/op100115u</a:t>
            </a:r>
            <a:r>
              <a:t>.</a:t>
            </a:r>
          </a:p>
          <a:p>
            <a:pPr marL="345722" indent="-345722" defTabSz="460057">
              <a:defRPr sz="2800"/>
            </a:pPr>
            <a:r>
              <a:t>Schnieders, M. J.; Baltrusaitis, J.; Shi, Y.; Chattree, G.; Zheng, L.; Yang, W.; Ren, P. The Structure, Thermodynamics, and Solubility of Organic Crystals from Simulation with a Polarizable Force Field. J. Chem. Theory Comput. 2012, 8 (5), 1721–1736. https://doi.org/10.1021/ct300035u.</a:t>
            </a:r>
          </a:p>
          <a:p>
            <a:pPr marL="345722" indent="-345722" defTabSz="460057">
              <a:defRPr sz="2800"/>
            </a:pPr>
            <a:r>
              <a:t>Tang, B.; Kramer, S. T.; Fang, M.; Qiu, Y.; Wu, Z.; Xu, D. A Self-Attention Based Message Passing Neural Network for Predicting Molecular Lipophilicity and Aqueous Solubility. J Cheminform 2020, 12 (1), 15. </a:t>
            </a:r>
            <a:r>
              <a:rPr u="sng">
                <a:hlinkClick r:id="rId8"/>
              </a:rPr>
              <a:t>https://doi.org/10.1186/s13321-020-0414-z</a:t>
            </a:r>
            <a:r>
              <a:t>. Figures adapted under the </a:t>
            </a:r>
            <a:r>
              <a:rPr u="sng">
                <a:hlinkClick r:id="rId3"/>
              </a:rPr>
              <a:t>CC BY 4.0</a:t>
            </a:r>
            <a:r>
              <a:t> license.</a:t>
            </a:r>
          </a:p>
        </p:txBody>
      </p:sp>
      <p:sp>
        <p:nvSpPr>
          <p:cNvPr id="3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Exercise 12: QSPR prediction of solubilit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Exercise 1</a:t>
            </a:r>
            <a:r>
              <a:rPr lang="en-US" dirty="0"/>
              <a:t>3</a:t>
            </a:r>
            <a:r>
              <a:rPr dirty="0"/>
              <a:t>: QSPR prediction of solubility</a:t>
            </a:r>
          </a:p>
        </p:txBody>
      </p:sp>
      <p:sp>
        <p:nvSpPr>
          <p:cNvPr id="3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1673</Words>
  <Application>Microsoft Macintosh PowerPoint</Application>
  <PresentationFormat>Custom</PresentationFormat>
  <Paragraphs>167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Avenir</vt:lpstr>
      <vt:lpstr>Cambria Math</vt:lpstr>
      <vt:lpstr>Gill Sans</vt:lpstr>
      <vt:lpstr>Helvetica</vt:lpstr>
      <vt:lpstr>Helvetica Light</vt:lpstr>
      <vt:lpstr>Helvetica Neue</vt:lpstr>
      <vt:lpstr>Helvetica Neue Light</vt:lpstr>
      <vt:lpstr>White</vt:lpstr>
      <vt:lpstr>4/20/2026</vt:lpstr>
      <vt:lpstr>The importance of solubility prediction</vt:lpstr>
      <vt:lpstr>Why predict solubility? [Llinàs 2008]</vt:lpstr>
      <vt:lpstr>Poor solubility is a major problem [Llinàs 2008]</vt:lpstr>
      <vt:lpstr>Polymorphs are problem for drug scale-up</vt:lpstr>
      <vt:lpstr>Why work with low-solubility compounds?</vt:lpstr>
      <vt:lpstr>How are solubility problems hidden?</vt:lpstr>
      <vt:lpstr>The Solubility Challenges (2008 &amp; 2018)</vt:lpstr>
      <vt:lpstr>Solubility Challenge [Llinàs 2008, Hopfinger 2009]</vt:lpstr>
      <vt:lpstr>Examples from the dataset [2]</vt:lpstr>
      <vt:lpstr>Overall performance in the solubility challenge</vt:lpstr>
      <vt:lpstr>Major findings [Hopfinger 2009]</vt:lpstr>
      <vt:lpstr>Solubility Challenge 2 [Llinas 2019, Llinas 2020]</vt:lpstr>
      <vt:lpstr>Major Findings [Llinas 2020]</vt:lpstr>
      <vt:lpstr>QSPR prediction of solubility</vt:lpstr>
      <vt:lpstr>Historically informative descriptors [Hewitt 2009]</vt:lpstr>
      <vt:lpstr>Molecular weight has some predictive power</vt:lpstr>
      <vt:lpstr>QSPR in the solubility challenge</vt:lpstr>
      <vt:lpstr>Can deep learning do better? [Lusci 2013]</vt:lpstr>
      <vt:lpstr>Opening the black box?</vt:lpstr>
      <vt:lpstr>Free energy calculations of solubility</vt:lpstr>
      <vt:lpstr>Chemical potential determines solubility</vt:lpstr>
      <vt:lpstr>A thermodynamic cycle for solubility</vt:lpstr>
      <vt:lpstr>Results on an initial series appear promising without any tuning</vt:lpstr>
      <vt:lpstr>References</vt:lpstr>
      <vt:lpstr>Exercise 13: QSPR prediction of solubility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Minh</cp:lastModifiedBy>
  <cp:revision>2</cp:revision>
  <dcterms:modified xsi:type="dcterms:W3CDTF">2026-04-17T16:40:45Z</dcterms:modified>
</cp:coreProperties>
</file>