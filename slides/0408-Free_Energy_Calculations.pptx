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 ContentType="image/ti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565" r:id="rId10"/>
    <p:sldId id="264" r:id="rId11"/>
    <p:sldId id="265" r:id="rId12"/>
    <p:sldId id="266" r:id="rId13"/>
    <p:sldId id="267" r:id="rId14"/>
    <p:sldId id="2564"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3" r:id="rId29"/>
    <p:sldId id="281" r:id="rId30"/>
    <p:sldId id="282" r:id="rId31"/>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ctr" defTabSz="821531"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mj-lt"/>
        <a:ea typeface="+mj-ea"/>
        <a:cs typeface="+mj-cs"/>
        <a:sym typeface="Helvetica"/>
      </a:defRPr>
    </a:lvl1pPr>
    <a:lvl2pPr marL="0" marR="0" indent="228600" algn="ctr" defTabSz="821531"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mj-lt"/>
        <a:ea typeface="+mj-ea"/>
        <a:cs typeface="+mj-cs"/>
        <a:sym typeface="Helvetica"/>
      </a:defRPr>
    </a:lvl2pPr>
    <a:lvl3pPr marL="0" marR="0" indent="457200" algn="ctr" defTabSz="821531"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mj-lt"/>
        <a:ea typeface="+mj-ea"/>
        <a:cs typeface="+mj-cs"/>
        <a:sym typeface="Helvetica"/>
      </a:defRPr>
    </a:lvl3pPr>
    <a:lvl4pPr marL="0" marR="0" indent="685800" algn="ctr" defTabSz="821531"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mj-lt"/>
        <a:ea typeface="+mj-ea"/>
        <a:cs typeface="+mj-cs"/>
        <a:sym typeface="Helvetica"/>
      </a:defRPr>
    </a:lvl4pPr>
    <a:lvl5pPr marL="0" marR="0" indent="914400" algn="ctr" defTabSz="821531"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mj-lt"/>
        <a:ea typeface="+mj-ea"/>
        <a:cs typeface="+mj-cs"/>
        <a:sym typeface="Helvetica"/>
      </a:defRPr>
    </a:lvl5pPr>
    <a:lvl6pPr marL="0" marR="0" indent="1143000" algn="ctr" defTabSz="821531"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mj-lt"/>
        <a:ea typeface="+mj-ea"/>
        <a:cs typeface="+mj-cs"/>
        <a:sym typeface="Helvetica"/>
      </a:defRPr>
    </a:lvl6pPr>
    <a:lvl7pPr marL="0" marR="0" indent="1371600" algn="ctr" defTabSz="821531"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mj-lt"/>
        <a:ea typeface="+mj-ea"/>
        <a:cs typeface="+mj-cs"/>
        <a:sym typeface="Helvetica"/>
      </a:defRPr>
    </a:lvl7pPr>
    <a:lvl8pPr marL="0" marR="0" indent="1600200" algn="ctr" defTabSz="821531"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mj-lt"/>
        <a:ea typeface="+mj-ea"/>
        <a:cs typeface="+mj-cs"/>
        <a:sym typeface="Helvetica"/>
      </a:defRPr>
    </a:lvl8pPr>
    <a:lvl9pPr marL="0" marR="0" indent="1828800" algn="ctr" defTabSz="821531"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mj-lt"/>
        <a:ea typeface="+mj-ea"/>
        <a:cs typeface="+mj-cs"/>
        <a:sym typeface="Helvetica"/>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wholeTbl>
    <a:band2H>
      <a:tcTxStyle/>
      <a:tcStyle>
        <a:tcBdr/>
        <a:fill>
          <a:solidFill>
            <a:srgbClr val="E3E5E8"/>
          </a:solidFill>
        </a:fill>
      </a:tcStyle>
    </a:band2H>
    <a:firstCol>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398CCE"/>
          </a:solidFill>
        </a:fill>
      </a:tcStyle>
    </a:firstCol>
    <a:lastRow>
      <a:tcTxStyle b="off" i="off">
        <a:fontRef idx="minor">
          <a:srgbClr val="000000"/>
        </a:fontRef>
        <a:srgbClr val="000000"/>
      </a:tcTxStyle>
      <a:tcStyle>
        <a:tcBdr>
          <a:left>
            <a:ln w="12700" cap="flat">
              <a:noFill/>
              <a:miter lim="400000"/>
            </a:ln>
          </a:left>
          <a:right>
            <a:ln w="12700" cap="flat">
              <a:noFill/>
              <a:miter lim="400000"/>
            </a:ln>
          </a:right>
          <a:top>
            <a:ln w="12700" cap="flat">
              <a:solidFill>
                <a:srgbClr val="3797C6"/>
              </a:solidFill>
              <a:prstDash val="solid"/>
              <a:miter lim="400000"/>
            </a:ln>
          </a:top>
          <a:bottom>
            <a:ln w="12700" cap="flat">
              <a:noFill/>
              <a:miter lim="400000"/>
            </a:ln>
          </a:bottom>
          <a:insideH>
            <a:ln w="12700" cap="flat">
              <a:noFill/>
              <a:miter lim="400000"/>
            </a:ln>
          </a:insideH>
          <a:insideV>
            <a:ln w="12700" cap="flat">
              <a:noFill/>
              <a:miter lim="400000"/>
            </a:ln>
          </a:insideV>
        </a:tcBdr>
        <a:fill>
          <a:solidFill>
            <a:srgbClr val="FFFFFF"/>
          </a:solidFill>
        </a:fill>
      </a:tcStyle>
    </a:lastRow>
    <a:firstRow>
      <a:tcTxStyle b="on" i="off">
        <a:fontRef idx="maj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12700" cap="flat">
              <a:solidFill>
                <a:srgbClr val="B8B8B8"/>
              </a:solidFill>
              <a:prstDash val="solid"/>
              <a:miter lim="400000"/>
            </a:ln>
          </a:top>
          <a:bottom>
            <a:ln w="12700" cap="flat">
              <a:solidFill>
                <a:srgbClr val="B8B8B8"/>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wholeTbl>
    <a:band2H>
      <a:tcTxStyle/>
      <a:tcStyle>
        <a:tcBdr/>
        <a:fill>
          <a:solidFill>
            <a:srgbClr val="E1E0DA"/>
          </a:solidFill>
        </a:fill>
      </a:tcStyle>
    </a:band2H>
    <a:firstCol>
      <a:tcTxStyle b="on" i="off">
        <a:fontRef idx="major">
          <a:srgbClr val="FFFFFF"/>
        </a:fontRef>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rgbClr val="5AC831"/>
          </a:solidFill>
        </a:fill>
      </a:tcStyle>
    </a:firstCol>
    <a:lastRow>
      <a:tcTxStyle b="off" i="off">
        <a:fontRef idx="minor">
          <a:srgbClr val="000000"/>
        </a:fontRef>
        <a:srgbClr val="000000"/>
      </a:tcTxStyle>
      <a:tcStyle>
        <a:tcBdr>
          <a:left>
            <a:ln w="12700" cap="flat">
              <a:solidFill>
                <a:srgbClr val="B8B8B8"/>
              </a:solidFill>
              <a:prstDash val="solid"/>
              <a:miter lim="400000"/>
            </a:ln>
          </a:left>
          <a:right>
            <a:ln w="12700" cap="flat">
              <a:solidFill>
                <a:srgbClr val="B8B8B8"/>
              </a:solidFill>
              <a:prstDash val="solid"/>
              <a:miter lim="400000"/>
            </a:ln>
          </a:right>
          <a:top>
            <a:ln w="25400" cap="flat">
              <a:solidFill>
                <a:srgbClr val="606060"/>
              </a:solidFill>
              <a:prstDash val="solid"/>
              <a:miter lim="400000"/>
            </a:ln>
          </a:top>
          <a:bottom>
            <a:ln w="12700" cap="flat">
              <a:solidFill>
                <a:srgbClr val="606060"/>
              </a:solidFill>
              <a:prstDash val="solid"/>
              <a:miter lim="400000"/>
            </a:ln>
          </a:bottom>
          <a:insideH>
            <a:ln w="12700" cap="flat">
              <a:solidFill>
                <a:srgbClr val="B8B8B8"/>
              </a:solidFill>
              <a:prstDash val="solid"/>
              <a:miter lim="400000"/>
            </a:ln>
          </a:insideH>
          <a:insideV>
            <a:ln w="12700" cap="flat">
              <a:solidFill>
                <a:srgbClr val="B8B8B8"/>
              </a:solidFill>
              <a:prstDash val="solid"/>
              <a:miter lim="400000"/>
            </a:ln>
          </a:insideV>
        </a:tcBdr>
        <a:fill>
          <a:solidFill>
            <a:srgbClr val="EBEBEB"/>
          </a:solidFill>
        </a:fill>
      </a:tcStyle>
    </a:lastRow>
    <a:firstRow>
      <a:tcTxStyle b="on" i="off">
        <a:fontRef idx="major">
          <a:srgbClr val="FFFFFF"/>
        </a:fontRef>
        <a:srgbClr val="FFFFFF"/>
      </a:tcTxStyle>
      <a:tcStyle>
        <a:tcBdr>
          <a:left>
            <a:ln w="12700" cap="flat">
              <a:solidFill>
                <a:srgbClr val="606060"/>
              </a:solidFill>
              <a:prstDash val="solid"/>
              <a:miter lim="400000"/>
            </a:ln>
          </a:left>
          <a:right>
            <a:ln w="12700" cap="flat">
              <a:solidFill>
                <a:srgbClr val="606060"/>
              </a:solidFill>
              <a:prstDash val="solid"/>
              <a:miter lim="400000"/>
            </a:ln>
          </a:right>
          <a:top>
            <a:ln w="12700" cap="flat">
              <a:solidFill>
                <a:srgbClr val="606060"/>
              </a:solidFill>
              <a:prstDash val="solid"/>
              <a:miter lim="400000"/>
            </a:ln>
          </a:top>
          <a:bottom>
            <a:ln w="12700" cap="flat">
              <a:solidFill>
                <a:srgbClr val="606060"/>
              </a:solidFill>
              <a:prstDash val="solid"/>
              <a:miter lim="400000"/>
            </a:ln>
          </a:bottom>
          <a:insideH>
            <a:ln w="12700" cap="flat">
              <a:solidFill>
                <a:srgbClr val="606060"/>
              </a:solidFill>
              <a:prstDash val="solid"/>
              <a:miter lim="400000"/>
            </a:ln>
          </a:insideH>
          <a:insideV>
            <a:ln w="12700" cap="flat">
              <a:solidFill>
                <a:srgbClr val="606060"/>
              </a:solidFill>
              <a:prstDash val="solid"/>
              <a:miter lim="400000"/>
            </a:ln>
          </a:insideV>
        </a:tcBdr>
        <a:fill>
          <a:solidFill>
            <a:schemeClr val="accent2"/>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5D5D5D"/>
              </a:solidFill>
              <a:custDash>
                <a:ds d="200000" sp="200000"/>
              </a:custDash>
              <a:miter lim="400000"/>
            </a:ln>
          </a:left>
          <a:right>
            <a:ln w="12700" cap="flat">
              <a:solidFill>
                <a:srgbClr val="5D5D5D"/>
              </a:solidFill>
              <a:custDash>
                <a:ds d="200000" sp="200000"/>
              </a:custDash>
              <a:miter lim="400000"/>
            </a:ln>
          </a:right>
          <a:top>
            <a:ln w="12700" cap="flat">
              <a:solidFill>
                <a:srgbClr val="5D5D5D"/>
              </a:solidFill>
              <a:custDash>
                <a:ds d="200000" sp="200000"/>
              </a:custDash>
              <a:miter lim="400000"/>
            </a:ln>
          </a:top>
          <a:bottom>
            <a:ln w="12700" cap="flat">
              <a:solidFill>
                <a:srgbClr val="5D5D5D"/>
              </a:solidFill>
              <a:custDash>
                <a:ds d="200000" sp="200000"/>
              </a:custDash>
              <a:miter lim="400000"/>
            </a:ln>
          </a:bottom>
          <a:insideH>
            <a:ln w="12700" cap="flat">
              <a:solidFill>
                <a:srgbClr val="5D5D5D"/>
              </a:solidFill>
              <a:custDash>
                <a:ds d="200000" sp="200000"/>
              </a:custDash>
              <a:miter lim="400000"/>
            </a:ln>
          </a:insideH>
          <a:insideV>
            <a:ln w="12700" cap="flat">
              <a:solidFill>
                <a:srgbClr val="5D5D5D"/>
              </a:solidFill>
              <a:custDash>
                <a:ds d="200000" sp="200000"/>
              </a:custDash>
              <a:miter lim="400000"/>
            </a:ln>
          </a:insideV>
        </a:tcBdr>
        <a:fill>
          <a:solidFill>
            <a:srgbClr val="E6E3D7"/>
          </a:solidFill>
        </a:fill>
      </a:tcStyle>
    </a:wholeTbl>
    <a:band2H>
      <a:tcTxStyle/>
      <a:tcStyle>
        <a:tcBdr/>
        <a:fill>
          <a:solidFill>
            <a:srgbClr val="C3C2C2"/>
          </a:solidFill>
        </a:fill>
      </a:tcStyle>
    </a:band2H>
    <a:firstCol>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09C99"/>
          </a:solidFill>
        </a:fill>
      </a:tcStyle>
    </a:firstCol>
    <a:lastRow>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lastRow>
    <a:firstRow>
      <a:tcTxStyle b="on" i="off">
        <a:fontRef idx="major">
          <a:srgbClr val="FFFFFF"/>
        </a:fontRef>
        <a:srgbClr val="FFFFFF"/>
      </a:tcTxStyle>
      <a:tcStyle>
        <a:tcBdr>
          <a:left>
            <a:ln w="12700" cap="flat">
              <a:solidFill>
                <a:srgbClr val="5D5D5D"/>
              </a:solidFill>
              <a:prstDash val="solid"/>
              <a:miter lim="400000"/>
            </a:ln>
          </a:left>
          <a:right>
            <a:ln w="12700" cap="flat">
              <a:solidFill>
                <a:srgbClr val="5D5D5D"/>
              </a:solidFill>
              <a:prstDash val="solid"/>
              <a:miter lim="400000"/>
            </a:ln>
          </a:right>
          <a:top>
            <a:ln w="12700" cap="flat">
              <a:solidFill>
                <a:srgbClr val="5D5D5D"/>
              </a:solidFill>
              <a:prstDash val="solid"/>
              <a:miter lim="400000"/>
            </a:ln>
          </a:top>
          <a:bottom>
            <a:ln w="12700" cap="flat">
              <a:solidFill>
                <a:srgbClr val="5D5D5D"/>
              </a:solidFill>
              <a:prstDash val="solid"/>
              <a:miter lim="400000"/>
            </a:ln>
          </a:bottom>
          <a:insideH>
            <a:ln w="12700" cap="flat">
              <a:solidFill>
                <a:srgbClr val="5D5D5D"/>
              </a:solidFill>
              <a:prstDash val="solid"/>
              <a:miter lim="400000"/>
            </a:ln>
          </a:insideH>
          <a:insideV>
            <a:ln w="12700" cap="flat">
              <a:solidFill>
                <a:srgbClr val="5D5D5D"/>
              </a:solidFill>
              <a:prstDash val="solid"/>
              <a:miter lim="400000"/>
            </a:ln>
          </a:insideV>
        </a:tcBdr>
        <a:fill>
          <a:solidFill>
            <a:srgbClr val="97764E"/>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EBEBEB"/>
          </a:solidFill>
        </a:fill>
      </a:tcStyle>
    </a:wholeTbl>
    <a:band2H>
      <a:tcTxStyle/>
      <a:tcStyle>
        <a:tcBdr/>
        <a:fill>
          <a:solidFill>
            <a:srgbClr val="DCE5E6"/>
          </a:solidFill>
        </a:fill>
      </a:tcStyle>
    </a:band2H>
    <a:firstCol>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Col>
    <a:lastRow>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lastRow>
    <a:firstRow>
      <a:tcTxStyle b="on" i="off">
        <a:fontRef idx="major">
          <a:srgbClr val="FFFFFF"/>
        </a:fontRef>
        <a:srgbClr val="FFFFFF"/>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5E779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D0D1D2"/>
          </a:solidFill>
        </a:fill>
      </a:tcStyle>
    </a:wholeTbl>
    <a:band2H>
      <a:tcTxStyle/>
      <a:tcStyle>
        <a:tcBdr/>
        <a:fill>
          <a:solidFill>
            <a:srgbClr val="DEDEDF"/>
          </a:solidFill>
        </a:fill>
      </a:tcStyle>
    </a:band2H>
    <a:firstCol>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535761"/>
          </a:solidFill>
        </a:fill>
      </a:tcStyle>
    </a:firstCol>
    <a:lastRow>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909398"/>
          </a:solidFill>
        </a:fill>
      </a:tcStyle>
    </a:lastRow>
    <a:firstRow>
      <a:tcTxStyle b="on" i="off">
        <a:fontRef idx="major">
          <a:srgbClr val="FFFFFF"/>
        </a:fontRef>
        <a:srgbClr val="FFFFFF"/>
      </a:tcTxStyle>
      <a:tcStyle>
        <a:tcBdr>
          <a:left>
            <a:ln w="12700" cap="flat">
              <a:solidFill>
                <a:srgbClr val="FFFFFF"/>
              </a:solidFill>
              <a:prstDash val="solid"/>
              <a:miter lim="400000"/>
            </a:ln>
          </a:left>
          <a:right>
            <a:ln w="12700" cap="flat">
              <a:solidFill>
                <a:srgbClr val="FFFFFF"/>
              </a:solidFill>
              <a:prstDash val="solid"/>
              <a:miter lim="400000"/>
            </a:ln>
          </a:right>
          <a:top>
            <a:ln w="12700" cap="flat">
              <a:solidFill>
                <a:srgbClr val="FFFFFF"/>
              </a:solidFill>
              <a:prstDash val="solid"/>
              <a:miter lim="400000"/>
            </a:ln>
          </a:top>
          <a:bottom>
            <a:ln w="12700" cap="flat">
              <a:solidFill>
                <a:srgbClr val="FFFFFF"/>
              </a:solidFill>
              <a:prstDash val="solid"/>
              <a:miter lim="400000"/>
            </a:ln>
          </a:bottom>
          <a:insideH>
            <a:ln w="12700" cap="flat">
              <a:solidFill>
                <a:srgbClr val="FFFFFF"/>
              </a:solidFill>
              <a:prstDash val="solid"/>
              <a:miter lim="400000"/>
            </a:ln>
          </a:insideH>
          <a:insideV>
            <a:ln w="12700" cap="flat">
              <a:solidFill>
                <a:srgbClr val="FFFFFF"/>
              </a:solidFill>
              <a:prstDash val="solid"/>
              <a:miter lim="400000"/>
            </a:ln>
          </a:insideV>
        </a:tcBdr>
        <a:fill>
          <a:solidFill>
            <a:srgbClr val="767C85"/>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wholeTbl>
    <a:band2H>
      <a:tcTxStyle/>
      <a:tcStyle>
        <a:tcBdr/>
        <a:fill>
          <a:solidFill>
            <a:srgbClr val="EDEEEE"/>
          </a:solidFill>
        </a:fill>
      </a:tcStyle>
    </a:band2H>
    <a:firstCol>
      <a:tcTxStyle b="on" i="off">
        <a:fontRef idx="major">
          <a:srgbClr val="000000"/>
        </a:fontRef>
        <a:srgbClr val="000000"/>
      </a:tcTxStyle>
      <a:tcStyle>
        <a:tcBdr>
          <a:left>
            <a:ln w="12700" cap="flat">
              <a:noFill/>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Col>
    <a:lastRow>
      <a:tcTxStyle b="on" i="off">
        <a:fontRef idx="maj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solidFill>
                <a:srgbClr val="000000"/>
              </a:solidFill>
              <a:prstDash val="solid"/>
              <a:miter lim="400000"/>
            </a:ln>
          </a:top>
          <a:bottom>
            <a:ln w="12700" cap="flat">
              <a:noFill/>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lastRow>
    <a:firstRow>
      <a:tcTxStyle b="on" i="off">
        <a:fontRef idx="major">
          <a:srgbClr val="000000"/>
        </a:fontRef>
        <a:srgbClr val="000000"/>
      </a:tcTxStyle>
      <a:tcStyle>
        <a:tcBdr>
          <a:left>
            <a:ln w="12700" cap="flat">
              <a:solidFill>
                <a:srgbClr val="000000"/>
              </a:solidFill>
              <a:custDash>
                <a:ds d="200000" sp="200000"/>
              </a:custDash>
              <a:miter lim="400000"/>
            </a:ln>
          </a:left>
          <a:right>
            <a:ln w="12700" cap="flat">
              <a:solidFill>
                <a:srgbClr val="000000"/>
              </a:solidFill>
              <a:custDash>
                <a:ds d="200000" sp="200000"/>
              </a:custDash>
              <a:miter lim="400000"/>
            </a:ln>
          </a:right>
          <a:top>
            <a:ln w="12700" cap="flat">
              <a:noFill/>
              <a:miter lim="400000"/>
            </a:ln>
          </a:top>
          <a:bottom>
            <a:ln w="12700" cap="flat">
              <a:solidFill>
                <a:srgbClr val="000000"/>
              </a:solidFill>
              <a:prstDash val="solid"/>
              <a:miter lim="400000"/>
            </a:ln>
          </a:bottom>
          <a:insideH>
            <a:ln w="12700" cap="flat">
              <a:solidFill>
                <a:srgbClr val="000000"/>
              </a:solidFill>
              <a:custDash>
                <a:ds d="200000" sp="200000"/>
              </a:custDash>
              <a:miter lim="400000"/>
            </a:ln>
          </a:insideH>
          <a:insideV>
            <a:ln w="12700" cap="flat">
              <a:solidFill>
                <a:srgbClr val="000000"/>
              </a:solidFill>
              <a:custDash>
                <a:ds d="200000" sp="200000"/>
              </a:custDash>
              <a:miter lim="400000"/>
            </a:ln>
          </a:insideV>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030"/>
    <p:restoredTop sz="94605"/>
  </p:normalViewPr>
  <p:slideViewPr>
    <p:cSldViewPr snapToGrid="0">
      <p:cViewPr varScale="1">
        <p:scale>
          <a:sx n="63" d="100"/>
          <a:sy n="63" d="100"/>
        </p:scale>
        <p:origin x="264" y="3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98" name="Shape 198"/>
          <p:cNvSpPr>
            <a:spLocks noGrp="1" noRot="1" noChangeAspect="1"/>
          </p:cNvSpPr>
          <p:nvPr>
            <p:ph type="sldImg"/>
          </p:nvPr>
        </p:nvSpPr>
        <p:spPr>
          <a:xfrm>
            <a:off x="1143000" y="685800"/>
            <a:ext cx="4572000" cy="3429000"/>
          </a:xfrm>
          <a:prstGeom prst="rect">
            <a:avLst/>
          </a:prstGeom>
        </p:spPr>
        <p:txBody>
          <a:bodyPr/>
          <a:lstStyle/>
          <a:p>
            <a:endParaRPr/>
          </a:p>
        </p:txBody>
      </p:sp>
      <p:sp>
        <p:nvSpPr>
          <p:cNvPr id="199" name="Shape 199"/>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457200" latinLnBrk="0">
      <a:lnSpc>
        <a:spcPct val="125000"/>
      </a:lnSpc>
      <a:defRPr sz="2400">
        <a:latin typeface="Avenir"/>
        <a:ea typeface="Avenir"/>
        <a:cs typeface="Avenir"/>
        <a:sym typeface="Avenir Roman"/>
      </a:defRPr>
    </a:lvl1pPr>
    <a:lvl2pPr indent="228600" defTabSz="457200" latinLnBrk="0">
      <a:lnSpc>
        <a:spcPct val="125000"/>
      </a:lnSpc>
      <a:defRPr sz="2400">
        <a:latin typeface="Avenir"/>
        <a:ea typeface="Avenir"/>
        <a:cs typeface="Avenir"/>
        <a:sym typeface="Avenir Roman"/>
      </a:defRPr>
    </a:lvl2pPr>
    <a:lvl3pPr indent="457200" defTabSz="457200" latinLnBrk="0">
      <a:lnSpc>
        <a:spcPct val="125000"/>
      </a:lnSpc>
      <a:defRPr sz="2400">
        <a:latin typeface="Avenir"/>
        <a:ea typeface="Avenir"/>
        <a:cs typeface="Avenir"/>
        <a:sym typeface="Avenir Roman"/>
      </a:defRPr>
    </a:lvl3pPr>
    <a:lvl4pPr indent="685800" defTabSz="457200" latinLnBrk="0">
      <a:lnSpc>
        <a:spcPct val="125000"/>
      </a:lnSpc>
      <a:defRPr sz="2400">
        <a:latin typeface="Avenir"/>
        <a:ea typeface="Avenir"/>
        <a:cs typeface="Avenir"/>
        <a:sym typeface="Avenir Roman"/>
      </a:defRPr>
    </a:lvl4pPr>
    <a:lvl5pPr indent="914400" defTabSz="457200" latinLnBrk="0">
      <a:lnSpc>
        <a:spcPct val="125000"/>
      </a:lnSpc>
      <a:defRPr sz="2400">
        <a:latin typeface="Avenir"/>
        <a:ea typeface="Avenir"/>
        <a:cs typeface="Avenir"/>
        <a:sym typeface="Avenir Roman"/>
      </a:defRPr>
    </a:lvl5pPr>
    <a:lvl6pPr indent="1143000" defTabSz="457200" latinLnBrk="0">
      <a:lnSpc>
        <a:spcPct val="125000"/>
      </a:lnSpc>
      <a:defRPr sz="2400">
        <a:latin typeface="Avenir"/>
        <a:ea typeface="Avenir"/>
        <a:cs typeface="Avenir"/>
        <a:sym typeface="Avenir Roman"/>
      </a:defRPr>
    </a:lvl6pPr>
    <a:lvl7pPr indent="1371600" defTabSz="457200" latinLnBrk="0">
      <a:lnSpc>
        <a:spcPct val="125000"/>
      </a:lnSpc>
      <a:defRPr sz="2400">
        <a:latin typeface="Avenir"/>
        <a:ea typeface="Avenir"/>
        <a:cs typeface="Avenir"/>
        <a:sym typeface="Avenir Roman"/>
      </a:defRPr>
    </a:lvl7pPr>
    <a:lvl8pPr indent="1600200" defTabSz="457200" latinLnBrk="0">
      <a:lnSpc>
        <a:spcPct val="125000"/>
      </a:lnSpc>
      <a:defRPr sz="2400">
        <a:latin typeface="Avenir"/>
        <a:ea typeface="Avenir"/>
        <a:cs typeface="Avenir"/>
        <a:sym typeface="Avenir Roman"/>
      </a:defRPr>
    </a:lvl8pPr>
    <a:lvl9pPr indent="1828800" defTabSz="457200" latinLnBrk="0">
      <a:lnSpc>
        <a:spcPct val="125000"/>
      </a:lnSpc>
      <a:defRPr sz="2400">
        <a:latin typeface="Avenir"/>
        <a:ea typeface="Avenir"/>
        <a:cs typeface="Avenir"/>
        <a:sym typeface="Avenir Roman"/>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1" name="Shape 331"/>
          <p:cNvSpPr>
            <a:spLocks noGrp="1" noRot="1" noChangeAspect="1"/>
          </p:cNvSpPr>
          <p:nvPr>
            <p:ph type="sldImg"/>
          </p:nvPr>
        </p:nvSpPr>
        <p:spPr>
          <a:xfrm>
            <a:off x="381000" y="685800"/>
            <a:ext cx="6096000" cy="3429000"/>
          </a:xfrm>
          <a:prstGeom prst="rect">
            <a:avLst/>
          </a:prstGeom>
        </p:spPr>
        <p:txBody>
          <a:bodyPr/>
          <a:lstStyle/>
          <a:p>
            <a:endParaRPr/>
          </a:p>
        </p:txBody>
      </p:sp>
      <p:sp>
        <p:nvSpPr>
          <p:cNvPr id="332" name="Shape 332"/>
          <p:cNvSpPr>
            <a:spLocks noGrp="1"/>
          </p:cNvSpPr>
          <p:nvPr>
            <p:ph type="body" sz="quarter" idx="1"/>
          </p:nvPr>
        </p:nvSpPr>
        <p:spPr>
          <a:prstGeom prst="rect">
            <a:avLst/>
          </a:prstGeom>
        </p:spPr>
        <p:txBody>
          <a:bodyPr/>
          <a:lstStyle/>
          <a:p>
            <a:pPr defTabSz="584200">
              <a:lnSpc>
                <a:spcPct val="100000"/>
              </a:lnSpc>
              <a:defRPr sz="2200">
                <a:latin typeface="Lucida Grande"/>
                <a:ea typeface="Lucida Grande"/>
                <a:cs typeface="Lucida Grande"/>
                <a:sym typeface="Lucida Grande"/>
              </a:defRPr>
            </a:pPr>
            <a:r>
              <a:t>We are considering a noncovalent association process. It has a equilibrium constant and binding free energy. Free energies include enthalpy and entropy</a:t>
            </a:r>
          </a:p>
          <a:p>
            <a:pPr defTabSz="584200">
              <a:lnSpc>
                <a:spcPct val="100000"/>
              </a:lnSpc>
              <a:defRPr sz="2200">
                <a:latin typeface="Lucida Grande"/>
                <a:ea typeface="Lucida Grande"/>
                <a:cs typeface="Lucida Grande"/>
                <a:sym typeface="Lucida Grande"/>
              </a:defRPr>
            </a:pPr>
            <a:endParaRPr/>
          </a:p>
          <a:p>
            <a:pPr defTabSz="584200">
              <a:lnSpc>
                <a:spcPct val="100000"/>
              </a:lnSpc>
              <a:defRPr sz="2200">
                <a:latin typeface="Lucida Grande"/>
                <a:ea typeface="Lucida Grande"/>
                <a:cs typeface="Lucida Grande"/>
                <a:sym typeface="Lucida Grande"/>
              </a:defRPr>
            </a:pPr>
            <a:r>
              <a:t>\Delta G^\circ = \beta^{-1} \ln \left( \frac{K_d}{C^\circ} \right)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3" name="Shape 343"/>
          <p:cNvSpPr>
            <a:spLocks noGrp="1" noRot="1" noChangeAspect="1"/>
          </p:cNvSpPr>
          <p:nvPr>
            <p:ph type="sldImg"/>
          </p:nvPr>
        </p:nvSpPr>
        <p:spPr>
          <a:xfrm>
            <a:off x="381000" y="685800"/>
            <a:ext cx="6096000" cy="3429000"/>
          </a:xfrm>
          <a:prstGeom prst="rect">
            <a:avLst/>
          </a:prstGeom>
        </p:spPr>
        <p:txBody>
          <a:bodyPr/>
          <a:lstStyle/>
          <a:p>
            <a:endParaRPr/>
          </a:p>
        </p:txBody>
      </p:sp>
      <p:sp>
        <p:nvSpPr>
          <p:cNvPr id="344" name="Shape 344"/>
          <p:cNvSpPr>
            <a:spLocks noGrp="1"/>
          </p:cNvSpPr>
          <p:nvPr>
            <p:ph type="body" sz="quarter" idx="1"/>
          </p:nvPr>
        </p:nvSpPr>
        <p:spPr>
          <a:prstGeom prst="rect">
            <a:avLst/>
          </a:prstGeom>
        </p:spPr>
        <p:txBody>
          <a:bodyPr/>
          <a:lstStyle/>
          <a:p>
            <a:pPr>
              <a:lnSpc>
                <a:spcPct val="100000"/>
              </a:lnSpc>
              <a:defRPr sz="2200">
                <a:latin typeface="Lucida Grande"/>
                <a:ea typeface="Lucida Grande"/>
                <a:cs typeface="Lucida Grande"/>
                <a:sym typeface="Lucida Grande"/>
              </a:defRPr>
            </a:pPr>
            <a:r>
              <a:t>Abbott has looked at the distribution of affinity changes due to suggested mutations and it is very nearly Gaussian</a:t>
            </a:r>
          </a:p>
          <a:p>
            <a:pPr>
              <a:lnSpc>
                <a:spcPct val="100000"/>
              </a:lnSpc>
              <a:defRPr sz="2200">
                <a:latin typeface="Lucida Grande"/>
                <a:ea typeface="Lucida Grande"/>
                <a:cs typeface="Lucida Grande"/>
                <a:sym typeface="Lucida Grande"/>
              </a:defRPr>
            </a:pPr>
            <a:r>
              <a:t>We already have better than 2 kcal/mol noise. </a:t>
            </a:r>
          </a:p>
          <a:p>
            <a:pPr>
              <a:lnSpc>
                <a:spcPct val="100000"/>
              </a:lnSpc>
              <a:defRPr sz="2200">
                <a:latin typeface="Lucida Grande"/>
                <a:ea typeface="Lucida Grande"/>
                <a:cs typeface="Lucida Grande"/>
                <a:sym typeface="Lucida Grande"/>
              </a:defRPr>
            </a:pPr>
            <a:r>
              <a:t>Thus depending on synthesis time required this can pay off.</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 name="Shape 419"/>
          <p:cNvSpPr>
            <a:spLocks noGrp="1" noRot="1" noChangeAspect="1"/>
          </p:cNvSpPr>
          <p:nvPr>
            <p:ph type="sldImg"/>
          </p:nvPr>
        </p:nvSpPr>
        <p:spPr>
          <a:xfrm>
            <a:off x="381000" y="685800"/>
            <a:ext cx="6096000" cy="3429000"/>
          </a:xfrm>
          <a:prstGeom prst="rect">
            <a:avLst/>
          </a:prstGeom>
        </p:spPr>
        <p:txBody>
          <a:bodyPr/>
          <a:lstStyle/>
          <a:p>
            <a:endParaRPr/>
          </a:p>
        </p:txBody>
      </p:sp>
      <p:sp>
        <p:nvSpPr>
          <p:cNvPr id="420" name="Shape 420"/>
          <p:cNvSpPr>
            <a:spLocks noGrp="1"/>
          </p:cNvSpPr>
          <p:nvPr>
            <p:ph type="body" sz="quarter" idx="1"/>
          </p:nvPr>
        </p:nvSpPr>
        <p:spPr>
          <a:prstGeom prst="rect">
            <a:avLst/>
          </a:prstGeom>
        </p:spPr>
        <p:txBody>
          <a:bodyPr/>
          <a:lstStyle>
            <a:lvl1pPr defTabSz="584200">
              <a:lnSpc>
                <a:spcPct val="100000"/>
              </a:lnSpc>
              <a:defRPr sz="2200">
                <a:latin typeface="Lucida Grande"/>
                <a:ea typeface="Lucida Grande"/>
                <a:cs typeface="Lucida Grande"/>
                <a:sym typeface="Lucida Grande"/>
              </a:defRPr>
            </a:lvl1pPr>
          </a:lstStyle>
          <a:p>
            <a:r>
              <a:t>This gives the crystal structure - maybe the force field isn’t too bad!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4" name="Shape 484"/>
          <p:cNvSpPr>
            <a:spLocks noGrp="1" noRot="1" noChangeAspect="1"/>
          </p:cNvSpPr>
          <p:nvPr>
            <p:ph type="sldImg"/>
          </p:nvPr>
        </p:nvSpPr>
        <p:spPr>
          <a:xfrm>
            <a:off x="381000" y="685800"/>
            <a:ext cx="6096000" cy="3429000"/>
          </a:xfrm>
          <a:prstGeom prst="rect">
            <a:avLst/>
          </a:prstGeom>
        </p:spPr>
        <p:txBody>
          <a:bodyPr/>
          <a:lstStyle/>
          <a:p>
            <a:endParaRPr/>
          </a:p>
        </p:txBody>
      </p:sp>
      <p:sp>
        <p:nvSpPr>
          <p:cNvPr id="485" name="Shape 485"/>
          <p:cNvSpPr>
            <a:spLocks noGrp="1"/>
          </p:cNvSpPr>
          <p:nvPr>
            <p:ph type="body" sz="quarter" idx="1"/>
          </p:nvPr>
        </p:nvSpPr>
        <p:spPr>
          <a:prstGeom prst="rect">
            <a:avLst/>
          </a:prstGeom>
        </p:spPr>
        <p:txBody>
          <a:bodyPr/>
          <a:lstStyle>
            <a:lvl1pPr>
              <a:lnSpc>
                <a:spcPct val="100000"/>
              </a:lnSpc>
              <a:defRPr sz="2200">
                <a:latin typeface="Lucida Grande"/>
                <a:ea typeface="Lucida Grande"/>
                <a:cs typeface="Lucida Grande"/>
                <a:sym typeface="Lucida Grande"/>
              </a:defRPr>
            </a:lvl1pPr>
          </a:lstStyle>
          <a:p>
            <a:r>
              <a:t>Discuss here that we are using MD simulations (AMBER FF, GROMACS) to get at the ratio of partition functions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amp; Subtitle">
    <p:spTree>
      <p:nvGrpSpPr>
        <p:cNvPr id="1" name=""/>
        <p:cNvGrpSpPr/>
        <p:nvPr/>
      </p:nvGrpSpPr>
      <p:grpSpPr>
        <a:xfrm>
          <a:off x="0" y="0"/>
          <a:ext cx="0" cy="0"/>
          <a:chOff x="0" y="0"/>
          <a:chExt cx="0" cy="0"/>
        </a:xfrm>
      </p:grpSpPr>
      <p:sp>
        <p:nvSpPr>
          <p:cNvPr id="11" name="Title Text"/>
          <p:cNvSpPr txBox="1">
            <a:spLocks noGrp="1"/>
          </p:cNvSpPr>
          <p:nvPr>
            <p:ph type="title"/>
          </p:nvPr>
        </p:nvSpPr>
        <p:spPr>
          <a:xfrm>
            <a:off x="635000" y="2303859"/>
            <a:ext cx="23114000" cy="4643438"/>
          </a:xfrm>
          <a:prstGeom prst="rect">
            <a:avLst/>
          </a:prstGeom>
        </p:spPr>
        <p:txBody>
          <a:bodyPr anchor="b"/>
          <a:lstStyle/>
          <a:p>
            <a:r>
              <a:t>Title Text</a:t>
            </a:r>
          </a:p>
        </p:txBody>
      </p:sp>
      <p:sp>
        <p:nvSpPr>
          <p:cNvPr id="12" name="Body Level One…"/>
          <p:cNvSpPr txBox="1">
            <a:spLocks noGrp="1"/>
          </p:cNvSpPr>
          <p:nvPr>
            <p:ph type="body" sz="quarter" idx="1"/>
          </p:nvPr>
        </p:nvSpPr>
        <p:spPr>
          <a:xfrm>
            <a:off x="4833937" y="7072312"/>
            <a:ext cx="14716126" cy="1589485"/>
          </a:xfrm>
          <a:prstGeom prst="rect">
            <a:avLst/>
          </a:prstGeom>
        </p:spPr>
        <p:txBody>
          <a:bodyPr anchor="t"/>
          <a:lstStyle>
            <a:lvl1pPr marL="0" indent="0" algn="ctr">
              <a:buSzTx/>
              <a:buNone/>
              <a:defRPr sz="4400"/>
            </a:lvl1pPr>
            <a:lvl2pPr marL="0" indent="228600" algn="ctr">
              <a:buSzTx/>
              <a:buNone/>
              <a:defRPr sz="4400"/>
            </a:lvl2pPr>
            <a:lvl3pPr marL="0" indent="457200" algn="ctr">
              <a:buSzTx/>
              <a:buNone/>
              <a:defRPr sz="4400"/>
            </a:lvl3pPr>
            <a:lvl4pPr marL="0" indent="685800" algn="ctr">
              <a:buSzTx/>
              <a:buNone/>
              <a:defRPr sz="4400"/>
            </a:lvl4pPr>
            <a:lvl5pPr marL="0" indent="914400" algn="ctr">
              <a:buSzTx/>
              <a:buNone/>
              <a:defRPr sz="4400"/>
            </a:lvl5pPr>
          </a:lstStyle>
          <a:p>
            <a:r>
              <a:t>Body Level One</a:t>
            </a:r>
          </a:p>
          <a:p>
            <a:pPr lvl="1"/>
            <a:r>
              <a:t>Body Level Two</a:t>
            </a:r>
          </a:p>
          <a:p>
            <a:pPr lvl="2"/>
            <a:r>
              <a:t>Body Level Three</a:t>
            </a:r>
          </a:p>
          <a:p>
            <a:pPr lvl="3"/>
            <a:r>
              <a:t>Body Level Four</a:t>
            </a:r>
          </a:p>
          <a:p>
            <a:pPr lvl="4"/>
            <a:r>
              <a:t>Body Level Five</a:t>
            </a:r>
          </a:p>
        </p:txBody>
      </p:sp>
      <p:sp>
        <p:nvSpPr>
          <p:cNvPr id="1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20" name="Title Text"/>
          <p:cNvSpPr txBox="1">
            <a:spLocks noGrp="1"/>
          </p:cNvSpPr>
          <p:nvPr>
            <p:ph type="title"/>
          </p:nvPr>
        </p:nvSpPr>
        <p:spPr>
          <a:prstGeom prst="rect">
            <a:avLst/>
          </a:prstGeom>
        </p:spPr>
        <p:txBody>
          <a:bodyPr/>
          <a:lstStyle/>
          <a:p>
            <a:r>
              <a:t>Title Text</a:t>
            </a:r>
          </a:p>
        </p:txBody>
      </p:sp>
      <p:sp>
        <p:nvSpPr>
          <p:cNvPr id="21"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name="Title - Center">
    <p:spTree>
      <p:nvGrpSpPr>
        <p:cNvPr id="1" name=""/>
        <p:cNvGrpSpPr/>
        <p:nvPr/>
      </p:nvGrpSpPr>
      <p:grpSpPr>
        <a:xfrm>
          <a:off x="0" y="0"/>
          <a:ext cx="0" cy="0"/>
          <a:chOff x="0" y="0"/>
          <a:chExt cx="0" cy="0"/>
        </a:xfrm>
      </p:grpSpPr>
      <p:sp>
        <p:nvSpPr>
          <p:cNvPr id="28" name="Title Text"/>
          <p:cNvSpPr txBox="1">
            <a:spLocks noGrp="1"/>
          </p:cNvSpPr>
          <p:nvPr>
            <p:ph type="title"/>
          </p:nvPr>
        </p:nvSpPr>
        <p:spPr>
          <a:xfrm>
            <a:off x="635000" y="4536281"/>
            <a:ext cx="23114000" cy="4643438"/>
          </a:xfrm>
          <a:prstGeom prst="rect">
            <a:avLst/>
          </a:prstGeom>
        </p:spPr>
        <p:txBody>
          <a:bodyPr/>
          <a:lstStyle/>
          <a:p>
            <a:r>
              <a:t>Title Text</a:t>
            </a:r>
          </a:p>
        </p:txBody>
      </p:sp>
      <p:sp>
        <p:nvSpPr>
          <p:cNvPr id="29"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4.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36" name="Title Text"/>
          <p:cNvSpPr txBox="1">
            <a:spLocks noGrp="1"/>
          </p:cNvSpPr>
          <p:nvPr>
            <p:ph type="title"/>
          </p:nvPr>
        </p:nvSpPr>
        <p:spPr>
          <a:prstGeom prst="rect">
            <a:avLst/>
          </a:prstGeom>
        </p:spPr>
        <p:txBody>
          <a:bodyPr/>
          <a:lstStyle/>
          <a:p>
            <a:r>
              <a:t>Title Text</a:t>
            </a:r>
          </a:p>
        </p:txBody>
      </p:sp>
      <p:sp>
        <p:nvSpPr>
          <p:cNvPr id="37" name="Body Level One…"/>
          <p:cNvSpPr txBox="1">
            <a:spLocks noGrp="1"/>
          </p:cNvSpPr>
          <p:nvPr>
            <p:ph type="body" idx="1"/>
          </p:nvPr>
        </p:nvSpPr>
        <p:spPr>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3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5.xml><?xml version="1.0" encoding="utf-8"?>
<p:sldLayout xmlns:a="http://schemas.openxmlformats.org/drawingml/2006/main" xmlns:r="http://schemas.openxmlformats.org/officeDocument/2006/relationships" xmlns:p="http://schemas.openxmlformats.org/presentationml/2006/main" type="tx">
  <p:cSld name="Title &amp; Bullets - Left">
    <p:spTree>
      <p:nvGrpSpPr>
        <p:cNvPr id="1" name=""/>
        <p:cNvGrpSpPr/>
        <p:nvPr/>
      </p:nvGrpSpPr>
      <p:grpSpPr>
        <a:xfrm>
          <a:off x="0" y="0"/>
          <a:ext cx="0" cy="0"/>
          <a:chOff x="0" y="0"/>
          <a:chExt cx="0" cy="0"/>
        </a:xfrm>
      </p:grpSpPr>
      <p:sp>
        <p:nvSpPr>
          <p:cNvPr id="45" name="Line"/>
          <p:cNvSpPr/>
          <p:nvPr/>
        </p:nvSpPr>
        <p:spPr>
          <a:xfrm>
            <a:off x="3958828" y="2768203"/>
            <a:ext cx="16466344" cy="128"/>
          </a:xfrm>
          <a:prstGeom prst="line">
            <a:avLst/>
          </a:prstGeom>
          <a:ln w="12700">
            <a:solidFill>
              <a:srgbClr val="9A9A9A"/>
            </a:solidFill>
            <a:miter lim="400000"/>
          </a:ln>
        </p:spPr>
        <p:txBody>
          <a:bodyPr lIns="71437" tIns="71437" rIns="71437" bIns="71437" anchor="ctr"/>
          <a:lstStyle/>
          <a:p>
            <a:pPr algn="l" defTabSz="642937">
              <a:defRPr sz="1600"/>
            </a:pPr>
            <a:endParaRPr/>
          </a:p>
        </p:txBody>
      </p:sp>
      <p:sp>
        <p:nvSpPr>
          <p:cNvPr id="46" name="Title Text"/>
          <p:cNvSpPr txBox="1">
            <a:spLocks noGrp="1"/>
          </p:cNvSpPr>
          <p:nvPr>
            <p:ph type="title"/>
          </p:nvPr>
        </p:nvSpPr>
        <p:spPr>
          <a:xfrm>
            <a:off x="635000" y="464343"/>
            <a:ext cx="23114000" cy="1964532"/>
          </a:xfrm>
          <a:prstGeom prst="rect">
            <a:avLst/>
          </a:prstGeom>
        </p:spPr>
        <p:txBody>
          <a:bodyPr anchor="b">
            <a:noAutofit/>
          </a:bodyPr>
          <a:lstStyle/>
          <a:p>
            <a:r>
              <a:t>Title Text</a:t>
            </a:r>
          </a:p>
        </p:txBody>
      </p:sp>
      <p:sp>
        <p:nvSpPr>
          <p:cNvPr id="47" name="Body Level One…"/>
          <p:cNvSpPr txBox="1">
            <a:spLocks noGrp="1"/>
          </p:cNvSpPr>
          <p:nvPr>
            <p:ph type="body" sz="half" idx="1"/>
          </p:nvPr>
        </p:nvSpPr>
        <p:spPr>
          <a:xfrm>
            <a:off x="635000" y="3268265"/>
            <a:ext cx="12700000" cy="9525001"/>
          </a:xfrm>
          <a:prstGeom prst="rect">
            <a:avLst/>
          </a:prstGeom>
        </p:spPr>
        <p:txBody>
          <a:bodyPr anchor="t">
            <a:noAutofit/>
          </a:bodyPr>
          <a:lstStyle>
            <a:lvl1pPr marL="369276" indent="-369276">
              <a:buSzPct val="100000"/>
              <a:defRPr sz="3600">
                <a:solidFill>
                  <a:srgbClr val="747474"/>
                </a:solidFill>
                <a:latin typeface="Helvetica Neue"/>
                <a:ea typeface="Helvetica Neue"/>
                <a:cs typeface="Helvetica Neue"/>
                <a:sym typeface="Helvetica Neue"/>
              </a:defRPr>
            </a:lvl1pPr>
            <a:lvl2pPr marL="813776" indent="-369276">
              <a:buSzPct val="100000"/>
              <a:defRPr sz="3600">
                <a:solidFill>
                  <a:srgbClr val="747474"/>
                </a:solidFill>
                <a:latin typeface="Helvetica Neue"/>
                <a:ea typeface="Helvetica Neue"/>
                <a:cs typeface="Helvetica Neue"/>
                <a:sym typeface="Helvetica Neue"/>
              </a:defRPr>
            </a:lvl2pPr>
            <a:lvl3pPr marL="1258276" indent="-369276">
              <a:buSzPct val="100000"/>
              <a:defRPr sz="3600">
                <a:solidFill>
                  <a:srgbClr val="747474"/>
                </a:solidFill>
                <a:latin typeface="Helvetica Neue"/>
                <a:ea typeface="Helvetica Neue"/>
                <a:cs typeface="Helvetica Neue"/>
                <a:sym typeface="Helvetica Neue"/>
              </a:defRPr>
            </a:lvl3pPr>
            <a:lvl4pPr marL="1702776" indent="-369276">
              <a:buSzPct val="100000"/>
              <a:defRPr sz="3600">
                <a:solidFill>
                  <a:srgbClr val="747474"/>
                </a:solidFill>
                <a:latin typeface="Helvetica Neue"/>
                <a:ea typeface="Helvetica Neue"/>
                <a:cs typeface="Helvetica Neue"/>
                <a:sym typeface="Helvetica Neue"/>
              </a:defRPr>
            </a:lvl4pPr>
            <a:lvl5pPr marL="2147276" indent="-369276">
              <a:buSzPct val="100000"/>
              <a:defRPr sz="3600">
                <a:solidFill>
                  <a:srgbClr val="747474"/>
                </a:solidFill>
                <a:latin typeface="Helvetica Neue"/>
                <a:ea typeface="Helvetica Neue"/>
                <a:cs typeface="Helvetica Neue"/>
                <a:sym typeface="Helvetica Neue"/>
              </a:defRPr>
            </a:lvl5pPr>
          </a:lstStyle>
          <a:p>
            <a:r>
              <a:t>Body Level One</a:t>
            </a:r>
          </a:p>
          <a:p>
            <a:pPr lvl="1"/>
            <a:r>
              <a:t>Body Level Two</a:t>
            </a:r>
          </a:p>
          <a:p>
            <a:pPr lvl="2"/>
            <a:r>
              <a:t>Body Level Three</a:t>
            </a:r>
          </a:p>
          <a:p>
            <a:pPr lvl="3"/>
            <a:r>
              <a:t>Body Level Four</a:t>
            </a:r>
          </a:p>
          <a:p>
            <a:pPr lvl="4"/>
            <a:r>
              <a:t>Body Level Five</a:t>
            </a:r>
          </a:p>
        </p:txBody>
      </p:sp>
      <p:sp>
        <p:nvSpPr>
          <p:cNvPr id="48" name="Slide Number"/>
          <p:cNvSpPr txBox="1">
            <a:spLocks noGrp="1"/>
          </p:cNvSpPr>
          <p:nvPr>
            <p:ph type="sldNum" sz="quarter" idx="2"/>
          </p:nvPr>
        </p:nvSpPr>
        <p:spPr>
          <a:xfrm>
            <a:off x="20329146" y="12930187"/>
            <a:ext cx="409779" cy="415875"/>
          </a:xfrm>
          <a:prstGeom prst="rect">
            <a:avLst/>
          </a:prstGeom>
        </p:spPr>
        <p:txBody>
          <a:bodyPr>
            <a:spAutoFit/>
          </a:bodyPr>
          <a:lstStyle>
            <a:lvl1pPr algn="r">
              <a:defRPr sz="1800">
                <a:latin typeface="Helvetica Neue"/>
                <a:ea typeface="Helvetica Neue"/>
                <a:cs typeface="Helvetica Neue"/>
                <a:sym typeface="Helvetica Neue"/>
              </a:defRPr>
            </a:lvl1pPr>
          </a:lstStyle>
          <a:p>
            <a:fld id="{86CB4B4D-7CA3-9044-876B-883B54F8677D}" type="slidenum">
              <a:t>‹#›</a:t>
            </a:fld>
            <a:endParaRPr/>
          </a:p>
        </p:txBody>
      </p:sp>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tx">
  <p:cSld name="Photo - Horizontal">
    <p:spTree>
      <p:nvGrpSpPr>
        <p:cNvPr id="1" name=""/>
        <p:cNvGrpSpPr/>
        <p:nvPr/>
      </p:nvGrpSpPr>
      <p:grpSpPr>
        <a:xfrm>
          <a:off x="0" y="0"/>
          <a:ext cx="0" cy="0"/>
          <a:chOff x="0" y="0"/>
          <a:chExt cx="0" cy="0"/>
        </a:xfrm>
      </p:grpSpPr>
      <p:sp>
        <p:nvSpPr>
          <p:cNvPr id="55" name="Image"/>
          <p:cNvSpPr>
            <a:spLocks noGrp="1"/>
          </p:cNvSpPr>
          <p:nvPr>
            <p:ph type="pic" sz="half" idx="21"/>
          </p:nvPr>
        </p:nvSpPr>
        <p:spPr>
          <a:xfrm>
            <a:off x="5307210" y="892968"/>
            <a:ext cx="13751720" cy="9172589"/>
          </a:xfrm>
          <a:prstGeom prst="rect">
            <a:avLst/>
          </a:prstGeom>
        </p:spPr>
        <p:txBody>
          <a:bodyPr lIns="91439" tIns="45719" rIns="91439" bIns="45719" anchor="t">
            <a:noAutofit/>
          </a:bodyPr>
          <a:lstStyle/>
          <a:p>
            <a:endParaRPr/>
          </a:p>
        </p:txBody>
      </p:sp>
      <p:sp>
        <p:nvSpPr>
          <p:cNvPr id="56" name="Title Text"/>
          <p:cNvSpPr txBox="1">
            <a:spLocks noGrp="1"/>
          </p:cNvSpPr>
          <p:nvPr>
            <p:ph type="title"/>
          </p:nvPr>
        </p:nvSpPr>
        <p:spPr>
          <a:xfrm>
            <a:off x="4833937" y="9447609"/>
            <a:ext cx="14716126" cy="2000251"/>
          </a:xfrm>
          <a:prstGeom prst="rect">
            <a:avLst/>
          </a:prstGeom>
        </p:spPr>
        <p:txBody>
          <a:bodyPr anchor="b"/>
          <a:lstStyle/>
          <a:p>
            <a:r>
              <a:t>Title Text</a:t>
            </a:r>
          </a:p>
        </p:txBody>
      </p:sp>
      <p:sp>
        <p:nvSpPr>
          <p:cNvPr id="57" name="Body Level One…"/>
          <p:cNvSpPr txBox="1">
            <a:spLocks noGrp="1"/>
          </p:cNvSpPr>
          <p:nvPr>
            <p:ph type="body" sz="quarter" idx="1"/>
          </p:nvPr>
        </p:nvSpPr>
        <p:spPr>
          <a:xfrm>
            <a:off x="4833937" y="11519296"/>
            <a:ext cx="14716126" cy="1589486"/>
          </a:xfrm>
          <a:prstGeom prst="rect">
            <a:avLst/>
          </a:prstGeom>
        </p:spPr>
        <p:txBody>
          <a:bodyPr anchor="t"/>
          <a:lstStyle>
            <a:lvl1pPr marL="0" indent="0" algn="ctr">
              <a:buSzTx/>
              <a:buNone/>
              <a:defRPr sz="4400"/>
            </a:lvl1pPr>
            <a:lvl2pPr marL="0" indent="228600" algn="ctr">
              <a:buSzTx/>
              <a:buNone/>
              <a:defRPr sz="4400"/>
            </a:lvl2pPr>
            <a:lvl3pPr marL="0" indent="457200" algn="ctr">
              <a:buSzTx/>
              <a:buNone/>
              <a:defRPr sz="4400"/>
            </a:lvl3pPr>
            <a:lvl4pPr marL="0" indent="685800" algn="ctr">
              <a:buSzTx/>
              <a:buNone/>
              <a:defRPr sz="4400"/>
            </a:lvl4pPr>
            <a:lvl5pPr marL="0" indent="914400" algn="ctr">
              <a:buSzTx/>
              <a:buNone/>
              <a:defRPr sz="4400"/>
            </a:lvl5pPr>
          </a:lstStyle>
          <a:p>
            <a:r>
              <a:t>Body Level One</a:t>
            </a:r>
          </a:p>
          <a:p>
            <a:pPr lvl="1"/>
            <a:r>
              <a:t>Body Level Two</a:t>
            </a:r>
          </a:p>
          <a:p>
            <a:pPr lvl="2"/>
            <a:r>
              <a:t>Body Level Three</a:t>
            </a:r>
          </a:p>
          <a:p>
            <a:pPr lvl="3"/>
            <a:r>
              <a:t>Body Level Four</a:t>
            </a:r>
          </a:p>
          <a:p>
            <a:pPr lvl="4"/>
            <a:r>
              <a:t>Body Level Five</a:t>
            </a:r>
          </a:p>
        </p:txBody>
      </p:sp>
      <p:sp>
        <p:nvSpPr>
          <p:cNvPr id="58" name="Slide Number"/>
          <p:cNvSpPr txBox="1">
            <a:spLocks noGrp="1"/>
          </p:cNvSpPr>
          <p:nvPr>
            <p:ph type="sldNum" sz="quarter" idx="2"/>
          </p:nvPr>
        </p:nvSpPr>
        <p:spPr>
          <a:xfrm>
            <a:off x="11935814" y="13001625"/>
            <a:ext cx="494513" cy="511175"/>
          </a:xfrm>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7.xml><?xml version="1.0" encoding="utf-8"?>
<p:sldLayout xmlns:a="http://schemas.openxmlformats.org/drawingml/2006/main" xmlns:r="http://schemas.openxmlformats.org/officeDocument/2006/relationships" xmlns:p="http://schemas.openxmlformats.org/presentationml/2006/main" type="tx">
  <p:cSld name="Photo - Vertical">
    <p:spTree>
      <p:nvGrpSpPr>
        <p:cNvPr id="1" name=""/>
        <p:cNvGrpSpPr/>
        <p:nvPr/>
      </p:nvGrpSpPr>
      <p:grpSpPr>
        <a:xfrm>
          <a:off x="0" y="0"/>
          <a:ext cx="0" cy="0"/>
          <a:chOff x="0" y="0"/>
          <a:chExt cx="0" cy="0"/>
        </a:xfrm>
      </p:grpSpPr>
      <p:sp>
        <p:nvSpPr>
          <p:cNvPr id="65" name="Image"/>
          <p:cNvSpPr>
            <a:spLocks noGrp="1"/>
          </p:cNvSpPr>
          <p:nvPr>
            <p:ph type="pic" idx="21"/>
          </p:nvPr>
        </p:nvSpPr>
        <p:spPr>
          <a:xfrm>
            <a:off x="6869906" y="892968"/>
            <a:ext cx="17377173" cy="11584782"/>
          </a:xfrm>
          <a:prstGeom prst="rect">
            <a:avLst/>
          </a:prstGeom>
        </p:spPr>
        <p:txBody>
          <a:bodyPr lIns="91439" tIns="45719" rIns="91439" bIns="45719" anchor="t">
            <a:noAutofit/>
          </a:bodyPr>
          <a:lstStyle/>
          <a:p>
            <a:endParaRPr/>
          </a:p>
        </p:txBody>
      </p:sp>
      <p:sp>
        <p:nvSpPr>
          <p:cNvPr id="66" name="Title Text"/>
          <p:cNvSpPr txBox="1">
            <a:spLocks noGrp="1"/>
          </p:cNvSpPr>
          <p:nvPr>
            <p:ph type="title"/>
          </p:nvPr>
        </p:nvSpPr>
        <p:spPr>
          <a:xfrm>
            <a:off x="4387453" y="892968"/>
            <a:ext cx="7500938" cy="5607845"/>
          </a:xfrm>
          <a:prstGeom prst="rect">
            <a:avLst/>
          </a:prstGeom>
        </p:spPr>
        <p:txBody>
          <a:bodyPr anchor="b"/>
          <a:lstStyle>
            <a:lvl1pPr>
              <a:defRPr sz="8400" b="0">
                <a:latin typeface="+mn-lt"/>
                <a:ea typeface="+mn-ea"/>
                <a:cs typeface="+mn-cs"/>
                <a:sym typeface="Helvetica Light"/>
              </a:defRPr>
            </a:lvl1pPr>
          </a:lstStyle>
          <a:p>
            <a:r>
              <a:t>Title Text</a:t>
            </a:r>
          </a:p>
        </p:txBody>
      </p:sp>
      <p:sp>
        <p:nvSpPr>
          <p:cNvPr id="67" name="Body Level One…"/>
          <p:cNvSpPr txBox="1">
            <a:spLocks noGrp="1"/>
          </p:cNvSpPr>
          <p:nvPr>
            <p:ph type="body" sz="quarter" idx="1"/>
          </p:nvPr>
        </p:nvSpPr>
        <p:spPr>
          <a:xfrm>
            <a:off x="4387453" y="6697265"/>
            <a:ext cx="7500938" cy="5768579"/>
          </a:xfrm>
          <a:prstGeom prst="rect">
            <a:avLst/>
          </a:prstGeom>
        </p:spPr>
        <p:txBody>
          <a:bodyPr anchor="t"/>
          <a:lstStyle>
            <a:lvl1pPr marL="0" indent="0" algn="ctr">
              <a:buSzTx/>
              <a:buNone/>
              <a:defRPr sz="4400"/>
            </a:lvl1pPr>
            <a:lvl2pPr marL="0" indent="228600" algn="ctr">
              <a:buSzTx/>
              <a:buNone/>
              <a:defRPr sz="4400"/>
            </a:lvl2pPr>
            <a:lvl3pPr marL="0" indent="457200" algn="ctr">
              <a:buSzTx/>
              <a:buNone/>
              <a:defRPr sz="4400"/>
            </a:lvl3pPr>
            <a:lvl4pPr marL="0" indent="685800" algn="ctr">
              <a:buSzTx/>
              <a:buNone/>
              <a:defRPr sz="4400"/>
            </a:lvl4pPr>
            <a:lvl5pPr marL="0" indent="914400" algn="ctr">
              <a:buSzTx/>
              <a:buNone/>
              <a:defRPr sz="4400"/>
            </a:lvl5pPr>
          </a:lstStyle>
          <a:p>
            <a:r>
              <a:t>Body Level One</a:t>
            </a:r>
          </a:p>
          <a:p>
            <a:pPr lvl="1"/>
            <a:r>
              <a:t>Body Level Two</a:t>
            </a:r>
          </a:p>
          <a:p>
            <a:pPr lvl="2"/>
            <a:r>
              <a:t>Body Level Three</a:t>
            </a:r>
          </a:p>
          <a:p>
            <a:pPr lvl="3"/>
            <a:r>
              <a:t>Body Level Four</a:t>
            </a:r>
          </a:p>
          <a:p>
            <a:pPr lvl="4"/>
            <a:r>
              <a:t>Body Level Five</a:t>
            </a:r>
          </a:p>
        </p:txBody>
      </p:sp>
      <p:sp>
        <p:nvSpPr>
          <p:cNvPr id="6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type="tx">
  <p:cSld name="Title, Bullets &amp; Photo">
    <p:spTree>
      <p:nvGrpSpPr>
        <p:cNvPr id="1" name=""/>
        <p:cNvGrpSpPr/>
        <p:nvPr/>
      </p:nvGrpSpPr>
      <p:grpSpPr>
        <a:xfrm>
          <a:off x="0" y="0"/>
          <a:ext cx="0" cy="0"/>
          <a:chOff x="0" y="0"/>
          <a:chExt cx="0" cy="0"/>
        </a:xfrm>
      </p:grpSpPr>
      <p:sp>
        <p:nvSpPr>
          <p:cNvPr id="75" name="Image"/>
          <p:cNvSpPr>
            <a:spLocks noGrp="1"/>
          </p:cNvSpPr>
          <p:nvPr>
            <p:ph type="pic" sz="half" idx="21"/>
          </p:nvPr>
        </p:nvSpPr>
        <p:spPr>
          <a:xfrm>
            <a:off x="9423796" y="3661171"/>
            <a:ext cx="13260587" cy="8840392"/>
          </a:xfrm>
          <a:prstGeom prst="rect">
            <a:avLst/>
          </a:prstGeom>
        </p:spPr>
        <p:txBody>
          <a:bodyPr lIns="91439" tIns="45719" rIns="91439" bIns="45719" anchor="t">
            <a:noAutofit/>
          </a:bodyPr>
          <a:lstStyle/>
          <a:p>
            <a:endParaRPr/>
          </a:p>
        </p:txBody>
      </p:sp>
      <p:sp>
        <p:nvSpPr>
          <p:cNvPr id="76" name="Title Text"/>
          <p:cNvSpPr txBox="1">
            <a:spLocks noGrp="1"/>
          </p:cNvSpPr>
          <p:nvPr>
            <p:ph type="title"/>
          </p:nvPr>
        </p:nvSpPr>
        <p:spPr>
          <a:prstGeom prst="rect">
            <a:avLst/>
          </a:prstGeom>
        </p:spPr>
        <p:txBody>
          <a:bodyPr/>
          <a:lstStyle/>
          <a:p>
            <a:r>
              <a:t>Title Text</a:t>
            </a:r>
          </a:p>
        </p:txBody>
      </p:sp>
      <p:sp>
        <p:nvSpPr>
          <p:cNvPr id="77" name="Body Level One…"/>
          <p:cNvSpPr txBox="1">
            <a:spLocks noGrp="1"/>
          </p:cNvSpPr>
          <p:nvPr>
            <p:ph type="body" sz="quarter" idx="1"/>
          </p:nvPr>
        </p:nvSpPr>
        <p:spPr>
          <a:xfrm>
            <a:off x="4387453" y="3661171"/>
            <a:ext cx="7500938" cy="8840392"/>
          </a:xfrm>
          <a:prstGeom prst="rect">
            <a:avLst/>
          </a:prstGeom>
        </p:spPr>
        <p:txBody>
          <a:bodyPr/>
          <a:lstStyle>
            <a:lvl1pPr marL="465364" indent="-465364">
              <a:spcBef>
                <a:spcPts val="4500"/>
              </a:spcBef>
              <a:defRPr sz="3800"/>
            </a:lvl1pPr>
            <a:lvl2pPr marL="808264" indent="-465364">
              <a:spcBef>
                <a:spcPts val="4500"/>
              </a:spcBef>
              <a:defRPr sz="3800"/>
            </a:lvl2pPr>
            <a:lvl3pPr marL="1151164" indent="-465364">
              <a:spcBef>
                <a:spcPts val="4500"/>
              </a:spcBef>
              <a:defRPr sz="3800"/>
            </a:lvl3pPr>
            <a:lvl4pPr marL="1494064" indent="-465364">
              <a:spcBef>
                <a:spcPts val="4500"/>
              </a:spcBef>
              <a:defRPr sz="3800"/>
            </a:lvl4pPr>
            <a:lvl5pPr marL="1836964" indent="-465364">
              <a:spcBef>
                <a:spcPts val="4500"/>
              </a:spcBef>
              <a:defRPr sz="3800"/>
            </a:lvl5pPr>
          </a:lstStyle>
          <a:p>
            <a:r>
              <a:t>Body Level One</a:t>
            </a:r>
          </a:p>
          <a:p>
            <a:pPr lvl="1"/>
            <a:r>
              <a:t>Body Level Two</a:t>
            </a:r>
          </a:p>
          <a:p>
            <a:pPr lvl="2"/>
            <a:r>
              <a:t>Body Level Three</a:t>
            </a:r>
          </a:p>
          <a:p>
            <a:pPr lvl="3"/>
            <a:r>
              <a:t>Body Level Four</a:t>
            </a:r>
          </a:p>
          <a:p>
            <a:pPr lvl="4"/>
            <a:r>
              <a:t>Body Level Five</a:t>
            </a:r>
          </a:p>
        </p:txBody>
      </p:sp>
      <p:sp>
        <p:nvSpPr>
          <p:cNvPr id="7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85" name="Body Level One…"/>
          <p:cNvSpPr txBox="1">
            <a:spLocks noGrp="1"/>
          </p:cNvSpPr>
          <p:nvPr>
            <p:ph type="body" idx="1"/>
          </p:nvPr>
        </p:nvSpPr>
        <p:spPr>
          <a:xfrm>
            <a:off x="635000" y="1905000"/>
            <a:ext cx="23114000" cy="10160000"/>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8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0.xml><?xml version="1.0" encoding="utf-8"?>
<p:sldLayout xmlns:a="http://schemas.openxmlformats.org/drawingml/2006/main" xmlns:r="http://schemas.openxmlformats.org/officeDocument/2006/relationships" xmlns:p="http://schemas.openxmlformats.org/presentationml/2006/main" type="tx">
  <p:cSld name="Photo - 3 Up">
    <p:spTree>
      <p:nvGrpSpPr>
        <p:cNvPr id="1" name=""/>
        <p:cNvGrpSpPr/>
        <p:nvPr/>
      </p:nvGrpSpPr>
      <p:grpSpPr>
        <a:xfrm>
          <a:off x="0" y="0"/>
          <a:ext cx="0" cy="0"/>
          <a:chOff x="0" y="0"/>
          <a:chExt cx="0" cy="0"/>
        </a:xfrm>
      </p:grpSpPr>
      <p:sp>
        <p:nvSpPr>
          <p:cNvPr id="93" name="Image"/>
          <p:cNvSpPr>
            <a:spLocks noGrp="1"/>
          </p:cNvSpPr>
          <p:nvPr>
            <p:ph type="pic" idx="21"/>
          </p:nvPr>
        </p:nvSpPr>
        <p:spPr>
          <a:xfrm>
            <a:off x="-291704" y="1250156"/>
            <a:ext cx="16841392" cy="11227594"/>
          </a:xfrm>
          <a:prstGeom prst="rect">
            <a:avLst/>
          </a:prstGeom>
        </p:spPr>
        <p:txBody>
          <a:bodyPr lIns="91439" tIns="45719" rIns="91439" bIns="45719" anchor="t">
            <a:noAutofit/>
          </a:bodyPr>
          <a:lstStyle/>
          <a:p>
            <a:endParaRPr/>
          </a:p>
        </p:txBody>
      </p:sp>
      <p:sp>
        <p:nvSpPr>
          <p:cNvPr id="94" name="Image"/>
          <p:cNvSpPr>
            <a:spLocks noGrp="1"/>
          </p:cNvSpPr>
          <p:nvPr>
            <p:ph type="pic" sz="quarter" idx="22"/>
          </p:nvPr>
        </p:nvSpPr>
        <p:spPr>
          <a:xfrm>
            <a:off x="12442031" y="7069144"/>
            <a:ext cx="8518923" cy="5682241"/>
          </a:xfrm>
          <a:prstGeom prst="rect">
            <a:avLst/>
          </a:prstGeom>
        </p:spPr>
        <p:txBody>
          <a:bodyPr lIns="91439" tIns="45719" rIns="91439" bIns="45719" anchor="t">
            <a:noAutofit/>
          </a:bodyPr>
          <a:lstStyle/>
          <a:p>
            <a:endParaRPr/>
          </a:p>
        </p:txBody>
      </p:sp>
      <p:sp>
        <p:nvSpPr>
          <p:cNvPr id="95" name="Image"/>
          <p:cNvSpPr>
            <a:spLocks noGrp="1"/>
          </p:cNvSpPr>
          <p:nvPr>
            <p:ph type="pic" sz="quarter" idx="23"/>
          </p:nvPr>
        </p:nvSpPr>
        <p:spPr>
          <a:xfrm>
            <a:off x="12192000" y="1246988"/>
            <a:ext cx="8251032" cy="5500689"/>
          </a:xfrm>
          <a:prstGeom prst="rect">
            <a:avLst/>
          </a:prstGeom>
        </p:spPr>
        <p:txBody>
          <a:bodyPr lIns="91439" tIns="45719" rIns="91439" bIns="45719" anchor="t">
            <a:noAutofit/>
          </a:bodyPr>
          <a:lstStyle/>
          <a:p>
            <a:endParaRPr/>
          </a:p>
        </p:txBody>
      </p:sp>
      <p:sp>
        <p:nvSpPr>
          <p:cNvPr id="96"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tx">
  <p:cSld name="Quote">
    <p:spTree>
      <p:nvGrpSpPr>
        <p:cNvPr id="1" name=""/>
        <p:cNvGrpSpPr/>
        <p:nvPr/>
      </p:nvGrpSpPr>
      <p:grpSpPr>
        <a:xfrm>
          <a:off x="0" y="0"/>
          <a:ext cx="0" cy="0"/>
          <a:chOff x="0" y="0"/>
          <a:chExt cx="0" cy="0"/>
        </a:xfrm>
      </p:grpSpPr>
      <p:sp>
        <p:nvSpPr>
          <p:cNvPr id="103" name="–Johnny Appleseed"/>
          <p:cNvSpPr txBox="1">
            <a:spLocks noGrp="1"/>
          </p:cNvSpPr>
          <p:nvPr>
            <p:ph type="body" sz="quarter" idx="21"/>
          </p:nvPr>
        </p:nvSpPr>
        <p:spPr>
          <a:xfrm>
            <a:off x="4833937" y="8947546"/>
            <a:ext cx="14716126" cy="660798"/>
          </a:xfrm>
          <a:prstGeom prst="rect">
            <a:avLst/>
          </a:prstGeom>
        </p:spPr>
        <p:txBody>
          <a:bodyPr anchor="t">
            <a:spAutoFit/>
          </a:bodyPr>
          <a:lstStyle>
            <a:lvl1pPr marL="0" indent="0" algn="ctr">
              <a:buSzTx/>
              <a:buNone/>
              <a:defRPr sz="3200">
                <a:latin typeface="+mj-lt"/>
                <a:ea typeface="+mj-ea"/>
                <a:cs typeface="+mj-cs"/>
                <a:sym typeface="Helvetica"/>
              </a:defRPr>
            </a:lvl1pPr>
          </a:lstStyle>
          <a:p>
            <a:r>
              <a:t>–Johnny Appleseed</a:t>
            </a:r>
          </a:p>
        </p:txBody>
      </p:sp>
      <p:sp>
        <p:nvSpPr>
          <p:cNvPr id="104" name="“Type a quote here.”"/>
          <p:cNvSpPr txBox="1">
            <a:spLocks noGrp="1"/>
          </p:cNvSpPr>
          <p:nvPr>
            <p:ph type="body" sz="quarter" idx="22"/>
          </p:nvPr>
        </p:nvSpPr>
        <p:spPr>
          <a:xfrm>
            <a:off x="4833937" y="6000353"/>
            <a:ext cx="14716126" cy="965201"/>
          </a:xfrm>
          <a:prstGeom prst="rect">
            <a:avLst/>
          </a:prstGeom>
        </p:spPr>
        <p:txBody>
          <a:bodyPr>
            <a:spAutoFit/>
          </a:bodyPr>
          <a:lstStyle>
            <a:lvl1pPr marL="0" indent="0" algn="ctr">
              <a:buSzTx/>
              <a:buNone/>
              <a:defRPr sz="5200"/>
            </a:lvl1pPr>
          </a:lstStyle>
          <a:p>
            <a:r>
              <a:t>“Type a quote here.” </a:t>
            </a:r>
          </a:p>
        </p:txBody>
      </p:sp>
      <p:sp>
        <p:nvSpPr>
          <p:cNvPr id="10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Photo">
    <p:spTree>
      <p:nvGrpSpPr>
        <p:cNvPr id="1" name=""/>
        <p:cNvGrpSpPr/>
        <p:nvPr/>
      </p:nvGrpSpPr>
      <p:grpSpPr>
        <a:xfrm>
          <a:off x="0" y="0"/>
          <a:ext cx="0" cy="0"/>
          <a:chOff x="0" y="0"/>
          <a:chExt cx="0" cy="0"/>
        </a:xfrm>
      </p:grpSpPr>
      <p:sp>
        <p:nvSpPr>
          <p:cNvPr id="112" name="Image"/>
          <p:cNvSpPr>
            <a:spLocks noGrp="1"/>
          </p:cNvSpPr>
          <p:nvPr>
            <p:ph type="pic" idx="21"/>
          </p:nvPr>
        </p:nvSpPr>
        <p:spPr>
          <a:xfrm>
            <a:off x="1905000" y="0"/>
            <a:ext cx="20563290" cy="13716000"/>
          </a:xfrm>
          <a:prstGeom prst="rect">
            <a:avLst/>
          </a:prstGeom>
        </p:spPr>
        <p:txBody>
          <a:bodyPr lIns="91439" tIns="45719" rIns="91439" bIns="45719" anchor="t">
            <a:noAutofit/>
          </a:bodyPr>
          <a:lstStyle/>
          <a:p>
            <a:endParaRPr/>
          </a:p>
        </p:txBody>
      </p:sp>
      <p:sp>
        <p:nvSpPr>
          <p:cNvPr id="113"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120"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cSld name="Bullets">
    <p:spTree>
      <p:nvGrpSpPr>
        <p:cNvPr id="1" name=""/>
        <p:cNvGrpSpPr/>
        <p:nvPr/>
      </p:nvGrpSpPr>
      <p:grpSpPr>
        <a:xfrm>
          <a:off x="0" y="0"/>
          <a:ext cx="0" cy="0"/>
          <a:chOff x="0" y="0"/>
          <a:chExt cx="0" cy="0"/>
        </a:xfrm>
      </p:grpSpPr>
      <p:sp>
        <p:nvSpPr>
          <p:cNvPr id="127" name="Body Level One…"/>
          <p:cNvSpPr txBox="1">
            <a:spLocks noGrp="1"/>
          </p:cNvSpPr>
          <p:nvPr>
            <p:ph type="body" sz="half" idx="1"/>
          </p:nvPr>
        </p:nvSpPr>
        <p:spPr>
          <a:xfrm>
            <a:off x="635000" y="635000"/>
            <a:ext cx="10160000" cy="12446000"/>
          </a:xfrm>
          <a:prstGeom prst="rect">
            <a:avLst/>
          </a:prstGeom>
        </p:spPr>
        <p:txBody>
          <a:bodyPr/>
          <a:lstStyle/>
          <a:p>
            <a:r>
              <a:t>Body Level One</a:t>
            </a:r>
          </a:p>
          <a:p>
            <a:pPr lvl="1"/>
            <a:r>
              <a:t>Body Level Two</a:t>
            </a:r>
          </a:p>
          <a:p>
            <a:pPr lvl="2"/>
            <a:r>
              <a:t>Body Level Three</a:t>
            </a:r>
          </a:p>
          <a:p>
            <a:pPr lvl="3"/>
            <a:r>
              <a:t>Body Level Four</a:t>
            </a:r>
          </a:p>
          <a:p>
            <a:pPr lvl="4"/>
            <a:r>
              <a:t>Body Level Five</a:t>
            </a:r>
          </a:p>
        </p:txBody>
      </p:sp>
      <p:sp>
        <p:nvSpPr>
          <p:cNvPr id="12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135" name="Line"/>
          <p:cNvSpPr/>
          <p:nvPr/>
        </p:nvSpPr>
        <p:spPr>
          <a:xfrm>
            <a:off x="3958828" y="2768203"/>
            <a:ext cx="16466344" cy="128"/>
          </a:xfrm>
          <a:prstGeom prst="line">
            <a:avLst/>
          </a:prstGeom>
          <a:ln w="12700">
            <a:solidFill>
              <a:srgbClr val="9A9A9A"/>
            </a:solidFill>
            <a:miter lim="400000"/>
          </a:ln>
        </p:spPr>
        <p:txBody>
          <a:bodyPr lIns="71437" tIns="71437" rIns="71437" bIns="71437" anchor="ctr"/>
          <a:lstStyle/>
          <a:p>
            <a:pPr algn="l" defTabSz="642937">
              <a:defRPr sz="1600"/>
            </a:pPr>
            <a:endParaRPr/>
          </a:p>
        </p:txBody>
      </p:sp>
      <p:sp>
        <p:nvSpPr>
          <p:cNvPr id="136" name="Title Text"/>
          <p:cNvSpPr txBox="1">
            <a:spLocks noGrp="1"/>
          </p:cNvSpPr>
          <p:nvPr>
            <p:ph type="title"/>
          </p:nvPr>
        </p:nvSpPr>
        <p:spPr>
          <a:xfrm>
            <a:off x="3851671" y="464343"/>
            <a:ext cx="16680658" cy="1964532"/>
          </a:xfrm>
          <a:prstGeom prst="rect">
            <a:avLst/>
          </a:prstGeom>
        </p:spPr>
        <p:txBody>
          <a:bodyPr anchor="b">
            <a:noAutofit/>
          </a:bodyPr>
          <a:lstStyle>
            <a:lvl1pPr algn="l">
              <a:defRPr sz="5800" b="0">
                <a:latin typeface="Helvetica Neue Light"/>
                <a:ea typeface="Helvetica Neue Light"/>
                <a:cs typeface="Helvetica Neue Light"/>
                <a:sym typeface="Helvetica Neue Light"/>
              </a:defRPr>
            </a:lvl1pPr>
          </a:lstStyle>
          <a:p>
            <a:r>
              <a:t>Title Text</a:t>
            </a:r>
          </a:p>
        </p:txBody>
      </p:sp>
      <p:sp>
        <p:nvSpPr>
          <p:cNvPr id="137" name="Body Level One…"/>
          <p:cNvSpPr txBox="1">
            <a:spLocks noGrp="1"/>
          </p:cNvSpPr>
          <p:nvPr>
            <p:ph type="body" idx="1"/>
          </p:nvPr>
        </p:nvSpPr>
        <p:spPr>
          <a:xfrm>
            <a:off x="3851671" y="3268265"/>
            <a:ext cx="16680658" cy="9233298"/>
          </a:xfrm>
          <a:prstGeom prst="rect">
            <a:avLst/>
          </a:prstGeom>
        </p:spPr>
        <p:txBody>
          <a:bodyPr anchor="t">
            <a:noAutofit/>
          </a:bodyPr>
          <a:lstStyle>
            <a:lvl1pPr marL="369276" indent="-369276">
              <a:spcBef>
                <a:spcPts val="6700"/>
              </a:spcBef>
              <a:buSzPct val="100000"/>
              <a:defRPr sz="3600">
                <a:solidFill>
                  <a:srgbClr val="747474"/>
                </a:solidFill>
                <a:latin typeface="Helvetica Neue"/>
                <a:ea typeface="Helvetica Neue"/>
                <a:cs typeface="Helvetica Neue"/>
                <a:sym typeface="Helvetica Neue"/>
              </a:defRPr>
            </a:lvl1pPr>
            <a:lvl2pPr marL="813776" indent="-369276">
              <a:spcBef>
                <a:spcPts val="6700"/>
              </a:spcBef>
              <a:buSzPct val="100000"/>
              <a:defRPr sz="3600">
                <a:solidFill>
                  <a:srgbClr val="747474"/>
                </a:solidFill>
                <a:latin typeface="Helvetica Neue"/>
                <a:ea typeface="Helvetica Neue"/>
                <a:cs typeface="Helvetica Neue"/>
                <a:sym typeface="Helvetica Neue"/>
              </a:defRPr>
            </a:lvl2pPr>
            <a:lvl3pPr marL="1258276" indent="-369276">
              <a:spcBef>
                <a:spcPts val="6700"/>
              </a:spcBef>
              <a:buSzPct val="100000"/>
              <a:defRPr sz="3600">
                <a:solidFill>
                  <a:srgbClr val="747474"/>
                </a:solidFill>
                <a:latin typeface="Helvetica Neue"/>
                <a:ea typeface="Helvetica Neue"/>
                <a:cs typeface="Helvetica Neue"/>
                <a:sym typeface="Helvetica Neue"/>
              </a:defRPr>
            </a:lvl3pPr>
            <a:lvl4pPr marL="1702776" indent="-369276">
              <a:spcBef>
                <a:spcPts val="6700"/>
              </a:spcBef>
              <a:buSzPct val="100000"/>
              <a:defRPr sz="3600">
                <a:solidFill>
                  <a:srgbClr val="747474"/>
                </a:solidFill>
                <a:latin typeface="Helvetica Neue"/>
                <a:ea typeface="Helvetica Neue"/>
                <a:cs typeface="Helvetica Neue"/>
                <a:sym typeface="Helvetica Neue"/>
              </a:defRPr>
            </a:lvl4pPr>
            <a:lvl5pPr marL="2147276" indent="-369276">
              <a:spcBef>
                <a:spcPts val="6700"/>
              </a:spcBef>
              <a:buSzPct val="100000"/>
              <a:defRPr sz="3600">
                <a:solidFill>
                  <a:srgbClr val="747474"/>
                </a:solidFill>
                <a:latin typeface="Helvetica Neue"/>
                <a:ea typeface="Helvetica Neue"/>
                <a:cs typeface="Helvetica Neue"/>
                <a:sym typeface="Helvetica Neue"/>
              </a:defRPr>
            </a:lvl5pPr>
          </a:lstStyle>
          <a:p>
            <a:r>
              <a:t>Body Level One</a:t>
            </a:r>
          </a:p>
          <a:p>
            <a:pPr lvl="1"/>
            <a:r>
              <a:t>Body Level Two</a:t>
            </a:r>
          </a:p>
          <a:p>
            <a:pPr lvl="2"/>
            <a:r>
              <a:t>Body Level Three</a:t>
            </a:r>
          </a:p>
          <a:p>
            <a:pPr lvl="3"/>
            <a:r>
              <a:t>Body Level Four</a:t>
            </a:r>
          </a:p>
          <a:p>
            <a:pPr lvl="4"/>
            <a:r>
              <a:t>Body Level Five</a:t>
            </a:r>
          </a:p>
        </p:txBody>
      </p:sp>
      <p:sp>
        <p:nvSpPr>
          <p:cNvPr id="138" name="Slide Number"/>
          <p:cNvSpPr txBox="1">
            <a:spLocks noGrp="1"/>
          </p:cNvSpPr>
          <p:nvPr>
            <p:ph type="sldNum" sz="quarter" idx="2"/>
          </p:nvPr>
        </p:nvSpPr>
        <p:spPr>
          <a:xfrm>
            <a:off x="20329146" y="12930187"/>
            <a:ext cx="409779" cy="415875"/>
          </a:xfrm>
          <a:prstGeom prst="rect">
            <a:avLst/>
          </a:prstGeom>
        </p:spPr>
        <p:txBody>
          <a:bodyPr>
            <a:spAutoFit/>
          </a:bodyPr>
          <a:lstStyle>
            <a:lvl1pPr algn="r">
              <a:defRPr sz="1800">
                <a:latin typeface="Helvetica Neue"/>
                <a:ea typeface="Helvetica Neue"/>
                <a:cs typeface="Helvetica Neue"/>
                <a:sym typeface="Helvetica Neue"/>
              </a:defRPr>
            </a:lvl1pPr>
          </a:lstStyle>
          <a:p>
            <a:fld id="{86CB4B4D-7CA3-9044-876B-883B54F8677D}" type="slidenum">
              <a:t>‹#›</a:t>
            </a:fld>
            <a:endParaRPr/>
          </a:p>
        </p:txBody>
      </p:sp>
    </p:spTree>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145" name="Line"/>
          <p:cNvSpPr/>
          <p:nvPr/>
        </p:nvSpPr>
        <p:spPr>
          <a:xfrm>
            <a:off x="3958828" y="2768203"/>
            <a:ext cx="16466344" cy="128"/>
          </a:xfrm>
          <a:prstGeom prst="line">
            <a:avLst/>
          </a:prstGeom>
          <a:ln w="12700">
            <a:solidFill>
              <a:srgbClr val="9A9A9A"/>
            </a:solidFill>
            <a:miter lim="400000"/>
          </a:ln>
        </p:spPr>
        <p:txBody>
          <a:bodyPr lIns="71437" tIns="71437" rIns="71437" bIns="71437" anchor="ctr"/>
          <a:lstStyle/>
          <a:p>
            <a:pPr algn="l" defTabSz="642937">
              <a:defRPr sz="1600"/>
            </a:pPr>
            <a:endParaRPr/>
          </a:p>
        </p:txBody>
      </p:sp>
      <p:sp>
        <p:nvSpPr>
          <p:cNvPr id="146" name="Title Text"/>
          <p:cNvSpPr txBox="1">
            <a:spLocks noGrp="1"/>
          </p:cNvSpPr>
          <p:nvPr>
            <p:ph type="title"/>
          </p:nvPr>
        </p:nvSpPr>
        <p:spPr>
          <a:xfrm>
            <a:off x="3851671" y="464343"/>
            <a:ext cx="16680658" cy="1964532"/>
          </a:xfrm>
          <a:prstGeom prst="rect">
            <a:avLst/>
          </a:prstGeom>
        </p:spPr>
        <p:txBody>
          <a:bodyPr anchor="b">
            <a:noAutofit/>
          </a:bodyPr>
          <a:lstStyle>
            <a:lvl1pPr algn="l">
              <a:defRPr sz="5800" b="0">
                <a:latin typeface="Helvetica Neue Light"/>
                <a:ea typeface="Helvetica Neue Light"/>
                <a:cs typeface="Helvetica Neue Light"/>
                <a:sym typeface="Helvetica Neue Light"/>
              </a:defRPr>
            </a:lvl1pPr>
          </a:lstStyle>
          <a:p>
            <a:r>
              <a:t>Title Text</a:t>
            </a:r>
          </a:p>
        </p:txBody>
      </p:sp>
      <p:sp>
        <p:nvSpPr>
          <p:cNvPr id="147" name="Slide Number"/>
          <p:cNvSpPr txBox="1">
            <a:spLocks noGrp="1"/>
          </p:cNvSpPr>
          <p:nvPr>
            <p:ph type="sldNum" sz="quarter" idx="2"/>
          </p:nvPr>
        </p:nvSpPr>
        <p:spPr>
          <a:xfrm>
            <a:off x="20329146" y="12930187"/>
            <a:ext cx="409779" cy="415875"/>
          </a:xfrm>
          <a:prstGeom prst="rect">
            <a:avLst/>
          </a:prstGeom>
        </p:spPr>
        <p:txBody>
          <a:bodyPr>
            <a:spAutoFit/>
          </a:bodyPr>
          <a:lstStyle>
            <a:lvl1pPr algn="r">
              <a:defRPr sz="1800">
                <a:latin typeface="Helvetica Neue"/>
                <a:ea typeface="Helvetica Neue"/>
                <a:cs typeface="Helvetica Neue"/>
                <a:sym typeface="Helvetica Neue"/>
              </a:defRPr>
            </a:lvl1pPr>
          </a:lstStyle>
          <a:p>
            <a:fld id="{86CB4B4D-7CA3-9044-876B-883B54F8677D}" type="slidenum">
              <a:t>‹#›</a:t>
            </a:fld>
            <a:endParaRPr/>
          </a:p>
        </p:txBody>
      </p:sp>
    </p:spTree>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type="tx">
  <p:cSld name="Title - Top">
    <p:spTree>
      <p:nvGrpSpPr>
        <p:cNvPr id="1" name=""/>
        <p:cNvGrpSpPr/>
        <p:nvPr/>
      </p:nvGrpSpPr>
      <p:grpSpPr>
        <a:xfrm>
          <a:off x="0" y="0"/>
          <a:ext cx="0" cy="0"/>
          <a:chOff x="0" y="0"/>
          <a:chExt cx="0" cy="0"/>
        </a:xfrm>
      </p:grpSpPr>
      <p:sp>
        <p:nvSpPr>
          <p:cNvPr id="154" name="Line"/>
          <p:cNvSpPr/>
          <p:nvPr/>
        </p:nvSpPr>
        <p:spPr>
          <a:xfrm>
            <a:off x="3958828" y="2768203"/>
            <a:ext cx="16466344" cy="128"/>
          </a:xfrm>
          <a:prstGeom prst="line">
            <a:avLst/>
          </a:prstGeom>
          <a:ln w="12700">
            <a:solidFill>
              <a:srgbClr val="9A9A9A"/>
            </a:solidFill>
            <a:miter lim="400000"/>
          </a:ln>
        </p:spPr>
        <p:txBody>
          <a:bodyPr lIns="71437" tIns="71437" rIns="71437" bIns="71437" anchor="ctr"/>
          <a:lstStyle/>
          <a:p>
            <a:pPr algn="l" defTabSz="642937">
              <a:defRPr sz="1600"/>
            </a:pPr>
            <a:endParaRPr/>
          </a:p>
        </p:txBody>
      </p:sp>
      <p:sp>
        <p:nvSpPr>
          <p:cNvPr id="155" name="Title Text"/>
          <p:cNvSpPr txBox="1">
            <a:spLocks noGrp="1"/>
          </p:cNvSpPr>
          <p:nvPr>
            <p:ph type="title"/>
          </p:nvPr>
        </p:nvSpPr>
        <p:spPr>
          <a:xfrm>
            <a:off x="3851671" y="464343"/>
            <a:ext cx="16680658" cy="1964532"/>
          </a:xfrm>
          <a:prstGeom prst="rect">
            <a:avLst/>
          </a:prstGeom>
        </p:spPr>
        <p:txBody>
          <a:bodyPr anchor="b">
            <a:noAutofit/>
          </a:bodyPr>
          <a:lstStyle>
            <a:lvl1pPr algn="l">
              <a:defRPr sz="5800" b="0">
                <a:latin typeface="Helvetica Neue Bold Condensed"/>
                <a:ea typeface="Helvetica Neue Bold Condensed"/>
                <a:cs typeface="Helvetica Neue Bold Condensed"/>
                <a:sym typeface="Helvetica Neue Bold Condensed"/>
              </a:defRPr>
            </a:lvl1pPr>
          </a:lstStyle>
          <a:p>
            <a:r>
              <a:t>Title Text</a:t>
            </a:r>
          </a:p>
        </p:txBody>
      </p:sp>
      <p:sp>
        <p:nvSpPr>
          <p:cNvPr id="156" name="Slide Number"/>
          <p:cNvSpPr txBox="1">
            <a:spLocks noGrp="1"/>
          </p:cNvSpPr>
          <p:nvPr>
            <p:ph type="sldNum" sz="quarter" idx="2"/>
          </p:nvPr>
        </p:nvSpPr>
        <p:spPr>
          <a:xfrm>
            <a:off x="20534035" y="12930187"/>
            <a:ext cx="409779" cy="428345"/>
          </a:xfrm>
          <a:prstGeom prst="rect">
            <a:avLst/>
          </a:prstGeom>
        </p:spPr>
        <p:txBody>
          <a:bodyPr>
            <a:spAutoFit/>
          </a:bodyPr>
          <a:lstStyle>
            <a:lvl1pPr>
              <a:defRPr sz="1800" b="1">
                <a:latin typeface="Helvetica Neue"/>
                <a:ea typeface="Helvetica Neue"/>
                <a:cs typeface="Helvetica Neue"/>
                <a:sym typeface="Helvetica Neue"/>
              </a:defRPr>
            </a:lvl1pPr>
          </a:lstStyle>
          <a:p>
            <a:fld id="{86CB4B4D-7CA3-9044-876B-883B54F8677D}" type="slidenum">
              <a:t>‹#›</a:t>
            </a:fld>
            <a:endParaRPr/>
          </a:p>
        </p:txBody>
      </p:sp>
    </p:spTree>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type="tx">
  <p:cSld name="Blank">
    <p:spTree>
      <p:nvGrpSpPr>
        <p:cNvPr id="1" name=""/>
        <p:cNvGrpSpPr/>
        <p:nvPr/>
      </p:nvGrpSpPr>
      <p:grpSpPr>
        <a:xfrm>
          <a:off x="0" y="0"/>
          <a:ext cx="0" cy="0"/>
          <a:chOff x="0" y="0"/>
          <a:chExt cx="0" cy="0"/>
        </a:xfrm>
      </p:grpSpPr>
      <p:sp>
        <p:nvSpPr>
          <p:cNvPr id="163" name="Slide Number"/>
          <p:cNvSpPr txBox="1">
            <a:spLocks noGrp="1"/>
          </p:cNvSpPr>
          <p:nvPr>
            <p:ph type="sldNum" sz="quarter" idx="2"/>
          </p:nvPr>
        </p:nvSpPr>
        <p:spPr>
          <a:xfrm>
            <a:off x="11952882" y="13019484"/>
            <a:ext cx="460376" cy="498476"/>
          </a:xfrm>
          <a:prstGeom prst="rect">
            <a:avLst/>
          </a:prstGeom>
        </p:spPr>
        <p:txBody>
          <a:bodyPr>
            <a:spAutoFit/>
          </a:bodyPr>
          <a:lstStyle>
            <a:lvl1pPr>
              <a:defRPr>
                <a:latin typeface="Gill Sans"/>
                <a:ea typeface="Gill Sans"/>
                <a:cs typeface="Gill Sans"/>
                <a:sym typeface="Gill Sans"/>
              </a:defRPr>
            </a:lvl1pPr>
          </a:lstStyle>
          <a:p>
            <a:fld id="{86CB4B4D-7CA3-9044-876B-883B54F8677D}" type="slidenum">
              <a:t>‹#›</a:t>
            </a:fld>
            <a:endParaRPr/>
          </a:p>
        </p:txBody>
      </p:sp>
    </p:spTree>
  </p:cSld>
  <p:clrMapOvr>
    <a:masterClrMapping/>
  </p:clrMapOvr>
  <p:transition spd="med"/>
</p:sldLayout>
</file>

<file path=ppt/slideLayouts/slideLayout19.xml><?xml version="1.0" encoding="utf-8"?>
<p:sldLayout xmlns:a="http://schemas.openxmlformats.org/drawingml/2006/main" xmlns:r="http://schemas.openxmlformats.org/officeDocument/2006/relationships" xmlns:p="http://schemas.openxmlformats.org/presentationml/2006/main" type="tx">
  <p:cSld name="Title &amp; Bullets - Left">
    <p:spTree>
      <p:nvGrpSpPr>
        <p:cNvPr id="1" name=""/>
        <p:cNvGrpSpPr/>
        <p:nvPr/>
      </p:nvGrpSpPr>
      <p:grpSpPr>
        <a:xfrm>
          <a:off x="0" y="0"/>
          <a:ext cx="0" cy="0"/>
          <a:chOff x="0" y="0"/>
          <a:chExt cx="0" cy="0"/>
        </a:xfrm>
      </p:grpSpPr>
      <p:sp>
        <p:nvSpPr>
          <p:cNvPr id="170" name="Line"/>
          <p:cNvSpPr/>
          <p:nvPr/>
        </p:nvSpPr>
        <p:spPr>
          <a:xfrm>
            <a:off x="3958828" y="2768203"/>
            <a:ext cx="16466344" cy="128"/>
          </a:xfrm>
          <a:prstGeom prst="line">
            <a:avLst/>
          </a:prstGeom>
          <a:ln w="12700">
            <a:solidFill>
              <a:srgbClr val="9A9A9A"/>
            </a:solidFill>
            <a:miter lim="400000"/>
          </a:ln>
        </p:spPr>
        <p:txBody>
          <a:bodyPr lIns="71437" tIns="71437" rIns="71437" bIns="71437" anchor="ctr"/>
          <a:lstStyle/>
          <a:p>
            <a:pPr algn="l" defTabSz="642937">
              <a:defRPr sz="1600"/>
            </a:pPr>
            <a:endParaRPr/>
          </a:p>
        </p:txBody>
      </p:sp>
      <p:sp>
        <p:nvSpPr>
          <p:cNvPr id="171" name="Title Text"/>
          <p:cNvSpPr txBox="1">
            <a:spLocks noGrp="1"/>
          </p:cNvSpPr>
          <p:nvPr>
            <p:ph type="title"/>
          </p:nvPr>
        </p:nvSpPr>
        <p:spPr>
          <a:xfrm>
            <a:off x="3851671" y="464343"/>
            <a:ext cx="16680658" cy="1964532"/>
          </a:xfrm>
          <a:prstGeom prst="rect">
            <a:avLst/>
          </a:prstGeom>
        </p:spPr>
        <p:txBody>
          <a:bodyPr anchor="b">
            <a:noAutofit/>
          </a:bodyPr>
          <a:lstStyle>
            <a:lvl1pPr algn="l">
              <a:defRPr sz="5800" b="0">
                <a:latin typeface="Helvetica Neue Bold Condensed"/>
                <a:ea typeface="Helvetica Neue Bold Condensed"/>
                <a:cs typeface="Helvetica Neue Bold Condensed"/>
                <a:sym typeface="Helvetica Neue Bold Condensed"/>
              </a:defRPr>
            </a:lvl1pPr>
          </a:lstStyle>
          <a:p>
            <a:r>
              <a:t>Title Text</a:t>
            </a:r>
          </a:p>
        </p:txBody>
      </p:sp>
      <p:sp>
        <p:nvSpPr>
          <p:cNvPr id="172" name="Body Level One…"/>
          <p:cNvSpPr txBox="1">
            <a:spLocks noGrp="1"/>
          </p:cNvSpPr>
          <p:nvPr>
            <p:ph type="body" sz="quarter" idx="1"/>
          </p:nvPr>
        </p:nvSpPr>
        <p:spPr>
          <a:xfrm>
            <a:off x="3851671" y="3268265"/>
            <a:ext cx="7143751" cy="9233298"/>
          </a:xfrm>
          <a:prstGeom prst="rect">
            <a:avLst/>
          </a:prstGeom>
        </p:spPr>
        <p:txBody>
          <a:bodyPr anchor="t">
            <a:noAutofit/>
          </a:bodyPr>
          <a:lstStyle>
            <a:lvl1pPr marL="369276" indent="-369276">
              <a:spcBef>
                <a:spcPts val="6700"/>
              </a:spcBef>
              <a:buSzPct val="100000"/>
              <a:defRPr sz="3600">
                <a:solidFill>
                  <a:srgbClr val="747474"/>
                </a:solidFill>
                <a:latin typeface="Helvetica Neue"/>
                <a:ea typeface="Helvetica Neue"/>
                <a:cs typeface="Helvetica Neue"/>
                <a:sym typeface="Helvetica Neue"/>
              </a:defRPr>
            </a:lvl1pPr>
            <a:lvl2pPr marL="813776" indent="-369276">
              <a:spcBef>
                <a:spcPts val="6700"/>
              </a:spcBef>
              <a:buSzPct val="100000"/>
              <a:defRPr sz="3600">
                <a:solidFill>
                  <a:srgbClr val="747474"/>
                </a:solidFill>
                <a:latin typeface="Helvetica Neue"/>
                <a:ea typeface="Helvetica Neue"/>
                <a:cs typeface="Helvetica Neue"/>
                <a:sym typeface="Helvetica Neue"/>
              </a:defRPr>
            </a:lvl2pPr>
            <a:lvl3pPr marL="1258276" indent="-369276">
              <a:spcBef>
                <a:spcPts val="6700"/>
              </a:spcBef>
              <a:buSzPct val="100000"/>
              <a:defRPr sz="3600">
                <a:solidFill>
                  <a:srgbClr val="747474"/>
                </a:solidFill>
                <a:latin typeface="Helvetica Neue"/>
                <a:ea typeface="Helvetica Neue"/>
                <a:cs typeface="Helvetica Neue"/>
                <a:sym typeface="Helvetica Neue"/>
              </a:defRPr>
            </a:lvl3pPr>
            <a:lvl4pPr marL="1702776" indent="-369276">
              <a:spcBef>
                <a:spcPts val="6700"/>
              </a:spcBef>
              <a:buSzPct val="100000"/>
              <a:defRPr sz="3600">
                <a:solidFill>
                  <a:srgbClr val="747474"/>
                </a:solidFill>
                <a:latin typeface="Helvetica Neue"/>
                <a:ea typeface="Helvetica Neue"/>
                <a:cs typeface="Helvetica Neue"/>
                <a:sym typeface="Helvetica Neue"/>
              </a:defRPr>
            </a:lvl4pPr>
            <a:lvl5pPr marL="2147276" indent="-369276">
              <a:spcBef>
                <a:spcPts val="6700"/>
              </a:spcBef>
              <a:buSzPct val="100000"/>
              <a:defRPr sz="3600">
                <a:solidFill>
                  <a:srgbClr val="747474"/>
                </a:solidFill>
                <a:latin typeface="Helvetica Neue"/>
                <a:ea typeface="Helvetica Neue"/>
                <a:cs typeface="Helvetica Neue"/>
                <a:sym typeface="Helvetica Neue"/>
              </a:defRPr>
            </a:lvl5pPr>
          </a:lstStyle>
          <a:p>
            <a:r>
              <a:t>Body Level One</a:t>
            </a:r>
          </a:p>
          <a:p>
            <a:pPr lvl="1"/>
            <a:r>
              <a:t>Body Level Two</a:t>
            </a:r>
          </a:p>
          <a:p>
            <a:pPr lvl="2"/>
            <a:r>
              <a:t>Body Level Three</a:t>
            </a:r>
          </a:p>
          <a:p>
            <a:pPr lvl="3"/>
            <a:r>
              <a:t>Body Level Four</a:t>
            </a:r>
          </a:p>
          <a:p>
            <a:pPr lvl="4"/>
            <a:r>
              <a:t>Body Level Five</a:t>
            </a:r>
          </a:p>
        </p:txBody>
      </p:sp>
      <p:sp>
        <p:nvSpPr>
          <p:cNvPr id="173" name="Slide Number"/>
          <p:cNvSpPr txBox="1">
            <a:spLocks noGrp="1"/>
          </p:cNvSpPr>
          <p:nvPr>
            <p:ph type="sldNum" sz="quarter" idx="2"/>
          </p:nvPr>
        </p:nvSpPr>
        <p:spPr>
          <a:xfrm>
            <a:off x="20329146" y="12930187"/>
            <a:ext cx="409779" cy="415875"/>
          </a:xfrm>
          <a:prstGeom prst="rect">
            <a:avLst/>
          </a:prstGeom>
        </p:spPr>
        <p:txBody>
          <a:bodyPr>
            <a:spAutoFit/>
          </a:bodyPr>
          <a:lstStyle>
            <a:lvl1pPr algn="r">
              <a:defRPr sz="1800">
                <a:latin typeface="Helvetica Neue"/>
                <a:ea typeface="Helvetica Neue"/>
                <a:cs typeface="Helvetica Neue"/>
                <a:sym typeface="Helvetica Neue"/>
              </a:defRPr>
            </a:lvl1pPr>
          </a:lstStyle>
          <a:p>
            <a:fld id="{86CB4B4D-7CA3-9044-876B-883B54F8677D}" type="slidenum">
              <a:t>‹#›</a:t>
            </a:fld>
            <a:endParaRPr/>
          </a:p>
        </p:txBody>
      </p:sp>
    </p:spTree>
  </p:cSld>
  <p:clrMapOvr>
    <a:masterClrMapping/>
  </p:clrMapOvr>
  <p:transition spd="med"/>
</p:sldLayout>
</file>

<file path=ppt/slideLayouts/slideLayout20.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180" name="Title Text"/>
          <p:cNvSpPr txBox="1">
            <a:spLocks noGrp="1"/>
          </p:cNvSpPr>
          <p:nvPr>
            <p:ph type="title"/>
          </p:nvPr>
        </p:nvSpPr>
        <p:spPr>
          <a:xfrm>
            <a:off x="4833937" y="357187"/>
            <a:ext cx="14716126" cy="3429001"/>
          </a:xfrm>
          <a:prstGeom prst="rect">
            <a:avLst/>
          </a:prstGeom>
        </p:spPr>
        <p:txBody>
          <a:bodyPr/>
          <a:lstStyle>
            <a:lvl1pPr>
              <a:defRPr b="0">
                <a:latin typeface="+mn-lt"/>
                <a:ea typeface="+mn-ea"/>
                <a:cs typeface="+mn-cs"/>
                <a:sym typeface="Helvetica Light"/>
              </a:defRPr>
            </a:lvl1pPr>
          </a:lstStyle>
          <a:p>
            <a:r>
              <a:t>Title Text</a:t>
            </a:r>
          </a:p>
        </p:txBody>
      </p:sp>
      <p:sp>
        <p:nvSpPr>
          <p:cNvPr id="181" name="Body Level One…"/>
          <p:cNvSpPr txBox="1">
            <a:spLocks noGrp="1"/>
          </p:cNvSpPr>
          <p:nvPr>
            <p:ph type="body" sz="half" idx="1"/>
          </p:nvPr>
        </p:nvSpPr>
        <p:spPr>
          <a:xfrm>
            <a:off x="4833937" y="3893343"/>
            <a:ext cx="14716126" cy="8036720"/>
          </a:xfrm>
          <a:prstGeom prst="rect">
            <a:avLst/>
          </a:prstGeom>
        </p:spPr>
        <p:txBody>
          <a:bodyPr/>
          <a:lstStyle>
            <a:lvl1pPr marL="521368" indent="-521368">
              <a:spcBef>
                <a:spcPts val="5900"/>
              </a:spcBef>
              <a:buSzPct val="100000"/>
              <a:defRPr sz="5200"/>
            </a:lvl1pPr>
            <a:lvl2pPr marL="902368" indent="-521368">
              <a:spcBef>
                <a:spcPts val="5900"/>
              </a:spcBef>
              <a:buSzPct val="100000"/>
              <a:defRPr sz="5200"/>
            </a:lvl2pPr>
            <a:lvl3pPr marL="1283368" indent="-521368">
              <a:spcBef>
                <a:spcPts val="5900"/>
              </a:spcBef>
              <a:buSzPct val="100000"/>
              <a:defRPr sz="5200"/>
            </a:lvl3pPr>
            <a:lvl4pPr marL="1664368" indent="-521368">
              <a:spcBef>
                <a:spcPts val="5900"/>
              </a:spcBef>
              <a:buSzPct val="100000"/>
              <a:defRPr sz="5200"/>
            </a:lvl4pPr>
            <a:lvl5pPr marL="2045368" indent="-521368">
              <a:spcBef>
                <a:spcPts val="5900"/>
              </a:spcBef>
              <a:buSzPct val="100000"/>
              <a:defRPr sz="5200"/>
            </a:lvl5pPr>
          </a:lstStyle>
          <a:p>
            <a:r>
              <a:t>Body Level One</a:t>
            </a:r>
          </a:p>
          <a:p>
            <a:pPr lvl="1"/>
            <a:r>
              <a:t>Body Level Two</a:t>
            </a:r>
          </a:p>
          <a:p>
            <a:pPr lvl="2"/>
            <a:r>
              <a:t>Body Level Three</a:t>
            </a:r>
          </a:p>
          <a:p>
            <a:pPr lvl="3"/>
            <a:r>
              <a:t>Body Level Four</a:t>
            </a:r>
          </a:p>
          <a:p>
            <a:pPr lvl="4"/>
            <a:r>
              <a:t>Body Level Five</a:t>
            </a:r>
          </a:p>
        </p:txBody>
      </p:sp>
      <p:sp>
        <p:nvSpPr>
          <p:cNvPr id="182" name="Slide Number"/>
          <p:cNvSpPr txBox="1">
            <a:spLocks noGrp="1"/>
          </p:cNvSpPr>
          <p:nvPr>
            <p:ph type="sldNum" sz="quarter" idx="2"/>
          </p:nvPr>
        </p:nvSpPr>
        <p:spPr>
          <a:xfrm>
            <a:off x="11935813" y="13001625"/>
            <a:ext cx="494513" cy="511175"/>
          </a:xfrm>
          <a:prstGeom prst="rect">
            <a:avLst/>
          </a:prstGeom>
        </p:spPr>
        <p:txBody>
          <a:bodyPr>
            <a:spAutoFit/>
          </a:bodyPr>
          <a:lstStyle/>
          <a:p>
            <a:fld id="{86CB4B4D-7CA3-9044-876B-883B54F8677D}" type="slidenum">
              <a:t>‹#›</a:t>
            </a:fld>
            <a:endParaRPr/>
          </a:p>
        </p:txBody>
      </p:sp>
    </p:spTree>
  </p:cSld>
  <p:clrMapOvr>
    <a:masterClrMapping/>
  </p:clrMapOvr>
  <p:transition spd="med"/>
</p:sldLayout>
</file>

<file path=ppt/slideLayouts/slideLayout21.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189" name="Line"/>
          <p:cNvSpPr/>
          <p:nvPr/>
        </p:nvSpPr>
        <p:spPr>
          <a:xfrm>
            <a:off x="3958828" y="2768203"/>
            <a:ext cx="16466344" cy="128"/>
          </a:xfrm>
          <a:prstGeom prst="line">
            <a:avLst/>
          </a:prstGeom>
          <a:ln w="12700">
            <a:solidFill>
              <a:srgbClr val="9A9A9A"/>
            </a:solidFill>
            <a:miter lim="400000"/>
          </a:ln>
        </p:spPr>
        <p:txBody>
          <a:bodyPr lIns="71437" tIns="71437" rIns="71437" bIns="71437" anchor="ctr"/>
          <a:lstStyle/>
          <a:p>
            <a:pPr algn="l" defTabSz="642937">
              <a:defRPr sz="1600"/>
            </a:pPr>
            <a:endParaRPr/>
          </a:p>
        </p:txBody>
      </p:sp>
      <p:sp>
        <p:nvSpPr>
          <p:cNvPr id="190" name="Title Text"/>
          <p:cNvSpPr txBox="1">
            <a:spLocks noGrp="1"/>
          </p:cNvSpPr>
          <p:nvPr>
            <p:ph type="title"/>
          </p:nvPr>
        </p:nvSpPr>
        <p:spPr>
          <a:xfrm>
            <a:off x="3851671" y="464343"/>
            <a:ext cx="16680658" cy="1964532"/>
          </a:xfrm>
          <a:prstGeom prst="rect">
            <a:avLst/>
          </a:prstGeom>
        </p:spPr>
        <p:txBody>
          <a:bodyPr anchor="b">
            <a:noAutofit/>
          </a:bodyPr>
          <a:lstStyle>
            <a:lvl1pPr algn="l">
              <a:defRPr sz="5800" b="0">
                <a:latin typeface="Helvetica Neue Bold Condensed"/>
                <a:ea typeface="Helvetica Neue Bold Condensed"/>
                <a:cs typeface="Helvetica Neue Bold Condensed"/>
                <a:sym typeface="Helvetica Neue Bold Condensed"/>
              </a:defRPr>
            </a:lvl1pPr>
          </a:lstStyle>
          <a:p>
            <a:r>
              <a:t>Title Text</a:t>
            </a:r>
          </a:p>
        </p:txBody>
      </p:sp>
      <p:sp>
        <p:nvSpPr>
          <p:cNvPr id="191" name="Body Level One…"/>
          <p:cNvSpPr txBox="1">
            <a:spLocks noGrp="1"/>
          </p:cNvSpPr>
          <p:nvPr>
            <p:ph type="body" idx="1"/>
          </p:nvPr>
        </p:nvSpPr>
        <p:spPr>
          <a:xfrm>
            <a:off x="3851671" y="3268265"/>
            <a:ext cx="16680658" cy="9233298"/>
          </a:xfrm>
          <a:prstGeom prst="rect">
            <a:avLst/>
          </a:prstGeom>
        </p:spPr>
        <p:txBody>
          <a:bodyPr anchor="t">
            <a:noAutofit/>
          </a:bodyPr>
          <a:lstStyle>
            <a:lvl1pPr marL="369276" indent="-369276">
              <a:spcBef>
                <a:spcPts val="6700"/>
              </a:spcBef>
              <a:buSzPct val="100000"/>
              <a:defRPr sz="3600">
                <a:solidFill>
                  <a:srgbClr val="747474"/>
                </a:solidFill>
                <a:latin typeface="Helvetica Neue"/>
                <a:ea typeface="Helvetica Neue"/>
                <a:cs typeface="Helvetica Neue"/>
                <a:sym typeface="Helvetica Neue"/>
              </a:defRPr>
            </a:lvl1pPr>
            <a:lvl2pPr marL="813776" indent="-369276">
              <a:spcBef>
                <a:spcPts val="6700"/>
              </a:spcBef>
              <a:buSzPct val="100000"/>
              <a:defRPr sz="3600">
                <a:solidFill>
                  <a:srgbClr val="747474"/>
                </a:solidFill>
                <a:latin typeface="Helvetica Neue"/>
                <a:ea typeface="Helvetica Neue"/>
                <a:cs typeface="Helvetica Neue"/>
                <a:sym typeface="Helvetica Neue"/>
              </a:defRPr>
            </a:lvl2pPr>
            <a:lvl3pPr marL="1258276" indent="-369276">
              <a:spcBef>
                <a:spcPts val="6700"/>
              </a:spcBef>
              <a:buSzPct val="100000"/>
              <a:defRPr sz="3600">
                <a:solidFill>
                  <a:srgbClr val="747474"/>
                </a:solidFill>
                <a:latin typeface="Helvetica Neue"/>
                <a:ea typeface="Helvetica Neue"/>
                <a:cs typeface="Helvetica Neue"/>
                <a:sym typeface="Helvetica Neue"/>
              </a:defRPr>
            </a:lvl3pPr>
            <a:lvl4pPr marL="1702776" indent="-369276">
              <a:spcBef>
                <a:spcPts val="6700"/>
              </a:spcBef>
              <a:buSzPct val="100000"/>
              <a:defRPr sz="3600">
                <a:solidFill>
                  <a:srgbClr val="747474"/>
                </a:solidFill>
                <a:latin typeface="Helvetica Neue"/>
                <a:ea typeface="Helvetica Neue"/>
                <a:cs typeface="Helvetica Neue"/>
                <a:sym typeface="Helvetica Neue"/>
              </a:defRPr>
            </a:lvl4pPr>
            <a:lvl5pPr marL="2147276" indent="-369276">
              <a:spcBef>
                <a:spcPts val="6700"/>
              </a:spcBef>
              <a:buSzPct val="100000"/>
              <a:defRPr sz="3600">
                <a:solidFill>
                  <a:srgbClr val="747474"/>
                </a:solidFill>
                <a:latin typeface="Helvetica Neue"/>
                <a:ea typeface="Helvetica Neue"/>
                <a:cs typeface="Helvetica Neue"/>
                <a:sym typeface="Helvetica Neue"/>
              </a:defRPr>
            </a:lvl5pPr>
          </a:lstStyle>
          <a:p>
            <a:r>
              <a:t>Body Level One</a:t>
            </a:r>
          </a:p>
          <a:p>
            <a:pPr lvl="1"/>
            <a:r>
              <a:t>Body Level Two</a:t>
            </a:r>
          </a:p>
          <a:p>
            <a:pPr lvl="2"/>
            <a:r>
              <a:t>Body Level Three</a:t>
            </a:r>
          </a:p>
          <a:p>
            <a:pPr lvl="3"/>
            <a:r>
              <a:t>Body Level Four</a:t>
            </a:r>
          </a:p>
          <a:p>
            <a:pPr lvl="4"/>
            <a:r>
              <a:t>Body Level Five</a:t>
            </a:r>
          </a:p>
        </p:txBody>
      </p:sp>
      <p:sp>
        <p:nvSpPr>
          <p:cNvPr id="192" name="Slide Number"/>
          <p:cNvSpPr txBox="1">
            <a:spLocks noGrp="1"/>
          </p:cNvSpPr>
          <p:nvPr>
            <p:ph type="sldNum" sz="quarter" idx="2"/>
          </p:nvPr>
        </p:nvSpPr>
        <p:spPr>
          <a:xfrm>
            <a:off x="20329146" y="12930187"/>
            <a:ext cx="409779" cy="428345"/>
          </a:xfrm>
          <a:prstGeom prst="rect">
            <a:avLst/>
          </a:prstGeom>
        </p:spPr>
        <p:txBody>
          <a:bodyPr>
            <a:spAutoFit/>
          </a:bodyPr>
          <a:lstStyle>
            <a:lvl1pPr algn="r">
              <a:defRPr sz="1800" b="1">
                <a:latin typeface="Helvetica Neue"/>
                <a:ea typeface="Helvetica Neue"/>
                <a:cs typeface="Helvetica Neue"/>
                <a:sym typeface="Helvetica Neue"/>
              </a:defRPr>
            </a:lvl1pPr>
          </a:lstStyle>
          <a:p>
            <a:fld id="{86CB4B4D-7CA3-9044-876B-883B54F8677D}" type="slidenum">
              <a:t>‹#›</a:t>
            </a:fld>
            <a:endParaRPr/>
          </a:p>
        </p:txBody>
      </p:sp>
    </p:spTree>
  </p:cSld>
  <p:clrMapOvr>
    <a:masterClrMapping/>
  </p:clrMapOvr>
  <p:transition spd="med"/>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1536192" y="1645920"/>
            <a:ext cx="14392656" cy="2136648"/>
          </a:xfrm>
        </p:spPr>
        <p:txBody>
          <a:bodyPr anchor="t"/>
          <a:lstStyle/>
          <a:p>
            <a:r>
              <a:rPr lang="en-US"/>
              <a:t>Click to edit Master title style</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1536192" y="3992880"/>
            <a:ext cx="14392656" cy="81991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1544181" y="12658344"/>
            <a:ext cx="5633670" cy="676656"/>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948208" y="12658344"/>
            <a:ext cx="5321808" cy="676656"/>
          </a:xfrm>
        </p:spPr>
        <p:txBody>
          <a:bodyPr/>
          <a:lstStyle/>
          <a:p>
            <a:fld id="{D7E3ECEC-7E7B-4FB9-BAE8-5C10F12795EA}" type="datetimeFigureOut">
              <a:rPr lang="en-US" smtClean="0"/>
              <a:t>4/8/26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5619672" y="12658344"/>
            <a:ext cx="914400" cy="676656"/>
          </a:xfrm>
        </p:spPr>
        <p:txBody>
          <a:bodyPr/>
          <a:lstStyle>
            <a:lvl1pPr>
              <a:defRPr>
                <a:solidFill>
                  <a:schemeClr val="tx1"/>
                </a:solidFill>
                <a:effectLst/>
              </a:defRPr>
            </a:lvl1pPr>
          </a:lstStyle>
          <a:p>
            <a:fld id="{235F31FF-4816-4A7C-BAEE-4B5C41A91EB1}" type="slidenum">
              <a:rPr lang="en-US" smtClean="0"/>
              <a:t>‹#›</a:t>
            </a:fld>
            <a:endParaRPr lang="en-US"/>
          </a:p>
        </p:txBody>
      </p:sp>
      <p:sp>
        <p:nvSpPr>
          <p:cNvPr id="11" name="Picture Placeholder 10">
            <a:extLst>
              <a:ext uri="{FF2B5EF4-FFF2-40B4-BE49-F238E27FC236}">
                <a16:creationId xmlns:a16="http://schemas.microsoft.com/office/drawing/2014/main" id="{8BBFAFCD-BCC9-C2BB-355B-1D08B9A7708D}"/>
              </a:ext>
            </a:extLst>
          </p:cNvPr>
          <p:cNvSpPr>
            <a:spLocks noGrp="1"/>
          </p:cNvSpPr>
          <p:nvPr>
            <p:ph type="pic" sz="quarter" idx="15" hasCustomPrompt="1"/>
          </p:nvPr>
        </p:nvSpPr>
        <p:spPr>
          <a:xfrm>
            <a:off x="17397972" y="1516921"/>
            <a:ext cx="6986028" cy="12199082"/>
          </a:xfrm>
          <a:custGeom>
            <a:avLst/>
            <a:gdLst>
              <a:gd name="connsiteX0" fmla="*/ 501522 w 3493014"/>
              <a:gd name="connsiteY0" fmla="*/ 0 h 6099541"/>
              <a:gd name="connsiteX1" fmla="*/ 3493014 w 3493014"/>
              <a:gd name="connsiteY1" fmla="*/ 0 h 6099541"/>
              <a:gd name="connsiteX2" fmla="*/ 3493014 w 3493014"/>
              <a:gd name="connsiteY2" fmla="*/ 6099541 h 6099541"/>
              <a:gd name="connsiteX3" fmla="*/ 0 w 3493014"/>
              <a:gd name="connsiteY3" fmla="*/ 6099541 h 6099541"/>
              <a:gd name="connsiteX4" fmla="*/ 0 w 3493014"/>
              <a:gd name="connsiteY4" fmla="*/ 501522 h 6099541"/>
              <a:gd name="connsiteX5" fmla="*/ 501522 w 3493014"/>
              <a:gd name="connsiteY5" fmla="*/ 0 h 6099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3014" h="6099541">
                <a:moveTo>
                  <a:pt x="501522" y="0"/>
                </a:moveTo>
                <a:lnTo>
                  <a:pt x="3493014" y="0"/>
                </a:lnTo>
                <a:lnTo>
                  <a:pt x="3493014" y="6099541"/>
                </a:lnTo>
                <a:lnTo>
                  <a:pt x="0" y="6099541"/>
                </a:lnTo>
                <a:lnTo>
                  <a:pt x="0" y="501522"/>
                </a:lnTo>
                <a:cubicBezTo>
                  <a:pt x="0" y="224539"/>
                  <a:pt x="224539" y="0"/>
                  <a:pt x="501522" y="0"/>
                </a:cubicBezTo>
                <a:close/>
              </a:path>
            </a:pathLst>
          </a:custGeom>
          <a:blipFill>
            <a:blip r:embed="rId2">
              <a:alphaModFix amt="70000"/>
            </a:blip>
            <a:stretch>
              <a:fillRect/>
            </a:stretch>
          </a:blipFill>
        </p:spPr>
        <p:txBody>
          <a:bodyPr wrap="square">
            <a:noAutofit/>
          </a:bodyPr>
          <a:lstStyle>
            <a:lvl1pPr marL="0" indent="0">
              <a:buNone/>
              <a:defRPr/>
            </a:lvl1pPr>
          </a:lstStyle>
          <a:p>
            <a:r>
              <a:rPr lang="en-US"/>
              <a:t> </a:t>
            </a:r>
          </a:p>
        </p:txBody>
      </p:sp>
    </p:spTree>
    <p:extLst>
      <p:ext uri="{BB962C8B-B14F-4D97-AF65-F5344CB8AC3E}">
        <p14:creationId xmlns:p14="http://schemas.microsoft.com/office/powerpoint/2010/main" val="21366242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itle Text"/>
          <p:cNvSpPr txBox="1">
            <a:spLocks noGrp="1"/>
          </p:cNvSpPr>
          <p:nvPr>
            <p:ph type="title"/>
          </p:nvPr>
        </p:nvSpPr>
        <p:spPr>
          <a:xfrm>
            <a:off x="635000" y="635000"/>
            <a:ext cx="23114000" cy="25400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normAutofit/>
          </a:bodyPr>
          <a:lstStyle/>
          <a:p>
            <a:r>
              <a:t>Title Text</a:t>
            </a:r>
          </a:p>
        </p:txBody>
      </p:sp>
      <p:sp>
        <p:nvSpPr>
          <p:cNvPr id="3" name="Body Level One…"/>
          <p:cNvSpPr txBox="1">
            <a:spLocks noGrp="1"/>
          </p:cNvSpPr>
          <p:nvPr>
            <p:ph type="body" idx="1"/>
          </p:nvPr>
        </p:nvSpPr>
        <p:spPr>
          <a:xfrm>
            <a:off x="635000" y="3175000"/>
            <a:ext cx="23114000" cy="984250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normAutofit/>
          </a:bodyPr>
          <a:lstStyle/>
          <a:p>
            <a:r>
              <a:t>Body Level One</a:t>
            </a:r>
          </a:p>
          <a:p>
            <a:pPr lvl="1"/>
            <a:r>
              <a:t>Body Level Two</a:t>
            </a:r>
          </a:p>
          <a:p>
            <a:pPr lvl="2"/>
            <a:r>
              <a:t>Body Level Three</a:t>
            </a:r>
          </a:p>
          <a:p>
            <a:pPr lvl="3"/>
            <a:r>
              <a:t>Body Level Four</a:t>
            </a:r>
          </a:p>
          <a:p>
            <a:pPr lvl="4"/>
            <a:r>
              <a:t>Body Level Five</a:t>
            </a:r>
          </a:p>
        </p:txBody>
      </p:sp>
      <p:sp>
        <p:nvSpPr>
          <p:cNvPr id="4" name="Slide Number"/>
          <p:cNvSpPr txBox="1">
            <a:spLocks noGrp="1"/>
          </p:cNvSpPr>
          <p:nvPr>
            <p:ph type="sldNum" sz="quarter" idx="2"/>
          </p:nvPr>
        </p:nvSpPr>
        <p:spPr>
          <a:xfrm>
            <a:off x="11935814" y="13010554"/>
            <a:ext cx="494513" cy="511176"/>
          </a:xfrm>
          <a:prstGeom prst="rect">
            <a:avLst/>
          </a:prstGeom>
          <a:ln w="12700">
            <a:miter lim="400000"/>
          </a:ln>
        </p:spPr>
        <p:txBody>
          <a:bodyPr wrap="none" lIns="71437" tIns="71437" rIns="71437" bIns="71437">
            <a:normAutofit/>
          </a:bodyPr>
          <a:lstStyle>
            <a:lvl1pPr>
              <a:defRPr sz="2400">
                <a:latin typeface="+mn-lt"/>
                <a:ea typeface="+mn-ea"/>
                <a:cs typeface="+mn-cs"/>
                <a:sym typeface="Helvetica Light"/>
              </a:defRPr>
            </a:lvl1pPr>
          </a:lstStyle>
          <a:p>
            <a:fld id="{86CB4B4D-7CA3-9044-876B-883B54F8677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Lst>
  <p:transition spd="med"/>
  <p:txStyles>
    <p:titleStyle>
      <a:lvl1pPr marL="0" marR="0" indent="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1pPr>
      <a:lvl2pPr marL="0" marR="0" indent="2286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2pPr>
      <a:lvl3pPr marL="0" marR="0" indent="4572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3pPr>
      <a:lvl4pPr marL="0" marR="0" indent="6858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4pPr>
      <a:lvl5pPr marL="0" marR="0" indent="9144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5pPr>
      <a:lvl6pPr marL="0" marR="0" indent="11430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6pPr>
      <a:lvl7pPr marL="0" marR="0" indent="13716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7pPr>
      <a:lvl8pPr marL="0" marR="0" indent="16002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8pPr>
      <a:lvl9pPr marL="0" marR="0" indent="1828800" algn="ctr" defTabSz="821531" rtl="0" latinLnBrk="0">
        <a:lnSpc>
          <a:spcPct val="100000"/>
        </a:lnSpc>
        <a:spcBef>
          <a:spcPts val="0"/>
        </a:spcBef>
        <a:spcAft>
          <a:spcPts val="0"/>
        </a:spcAft>
        <a:buClrTx/>
        <a:buSzTx/>
        <a:buFontTx/>
        <a:buNone/>
        <a:tabLst/>
        <a:defRPr sz="11200" b="1" i="0" u="none" strike="noStrike" cap="none" spc="0" baseline="0">
          <a:solidFill>
            <a:srgbClr val="000000"/>
          </a:solidFill>
          <a:uFillTx/>
          <a:latin typeface="+mj-lt"/>
          <a:ea typeface="+mj-ea"/>
          <a:cs typeface="+mj-cs"/>
          <a:sym typeface="Helvetica"/>
        </a:defRPr>
      </a:lvl9pPr>
    </p:titleStyle>
    <p:bodyStyle>
      <a:lvl1pPr marL="617361" marR="0" indent="-617361" algn="l" defTabSz="821531" rtl="0"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1pPr>
      <a:lvl2pPr marL="1061861" marR="0" indent="-617361" algn="l" defTabSz="821531" rtl="0"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2pPr>
      <a:lvl3pPr marL="1506361" marR="0" indent="-617361" algn="l" defTabSz="821531" rtl="0"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3pPr>
      <a:lvl4pPr marL="1950861" marR="0" indent="-617361" algn="l" defTabSz="821531" rtl="0"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4pPr>
      <a:lvl5pPr marL="2395361" marR="0" indent="-617361" algn="l" defTabSz="821531" rtl="0"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5pPr>
      <a:lvl6pPr marL="2839861" marR="0" indent="-617361" algn="l" defTabSz="821531" rtl="0"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6pPr>
      <a:lvl7pPr marL="3284361" marR="0" indent="-617361" algn="l" defTabSz="821531" rtl="0"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7pPr>
      <a:lvl8pPr marL="3728861" marR="0" indent="-617361" algn="l" defTabSz="821531" rtl="0"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8pPr>
      <a:lvl9pPr marL="4173361" marR="0" indent="-617361" algn="l" defTabSz="821531" rtl="0" latinLnBrk="0">
        <a:lnSpc>
          <a:spcPct val="100000"/>
        </a:lnSpc>
        <a:spcBef>
          <a:spcPts val="0"/>
        </a:spcBef>
        <a:spcAft>
          <a:spcPts val="0"/>
        </a:spcAft>
        <a:buClrTx/>
        <a:buSzPct val="75000"/>
        <a:buFontTx/>
        <a:buChar char="•"/>
        <a:tabLst/>
        <a:defRPr sz="5000" b="0" i="0" u="none" strike="noStrike" cap="none" spc="0" baseline="0">
          <a:solidFill>
            <a:srgbClr val="000000"/>
          </a:solidFill>
          <a:uFillTx/>
          <a:latin typeface="+mn-lt"/>
          <a:ea typeface="+mn-ea"/>
          <a:cs typeface="+mn-cs"/>
          <a:sym typeface="Helvetica Light"/>
        </a:defRPr>
      </a:lvl9pPr>
    </p:bodyStyle>
    <p:otherStyle>
      <a:lvl1pPr marL="0" marR="0" indent="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1pPr>
      <a:lvl2pPr marL="0" marR="0" indent="2286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2pPr>
      <a:lvl3pPr marL="0" marR="0" indent="4572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3pPr>
      <a:lvl4pPr marL="0" marR="0" indent="6858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4pPr>
      <a:lvl5pPr marL="0" marR="0" indent="9144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5pPr>
      <a:lvl6pPr marL="0" marR="0" indent="11430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6pPr>
      <a:lvl7pPr marL="0" marR="0" indent="13716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7pPr>
      <a:lvl8pPr marL="0" marR="0" indent="16002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8pPr>
      <a:lvl9pPr marL="0" marR="0" indent="1828800" algn="ctr" defTabSz="821531" rtl="0" latinLnBrk="0">
        <a:lnSpc>
          <a:spcPct val="100000"/>
        </a:lnSpc>
        <a:spcBef>
          <a:spcPts val="0"/>
        </a:spcBef>
        <a:spcAft>
          <a:spcPts val="0"/>
        </a:spcAft>
        <a:buClrTx/>
        <a:buSzTx/>
        <a:buFontTx/>
        <a:buNone/>
        <a:tabLst/>
        <a:defRPr sz="2400" b="0" i="0" u="none" strike="noStrike" cap="none" spc="0" baseline="0">
          <a:solidFill>
            <a:schemeClr val="tx1"/>
          </a:solidFill>
          <a:uFillTx/>
          <a:latin typeface="+mn-lt"/>
          <a:ea typeface="+mn-ea"/>
          <a:cs typeface="+mn-cs"/>
          <a:sym typeface="Helvetica Ligh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4.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8" Type="http://schemas.openxmlformats.org/officeDocument/2006/relationships/image" Target="../media/image17.png"/><Relationship Id="rId13" Type="http://schemas.openxmlformats.org/officeDocument/2006/relationships/image" Target="../media/image22.png"/><Relationship Id="rId3" Type="http://schemas.openxmlformats.org/officeDocument/2006/relationships/image" Target="../media/image12.png"/><Relationship Id="rId7" Type="http://schemas.openxmlformats.org/officeDocument/2006/relationships/image" Target="../media/image16.png"/><Relationship Id="rId12" Type="http://schemas.openxmlformats.org/officeDocument/2006/relationships/image" Target="../media/image21.png"/><Relationship Id="rId17" Type="http://schemas.openxmlformats.org/officeDocument/2006/relationships/image" Target="../media/image26.png"/><Relationship Id="rId2" Type="http://schemas.openxmlformats.org/officeDocument/2006/relationships/notesSlide" Target="../notesSlides/notesSlide1.xml"/><Relationship Id="rId16" Type="http://schemas.openxmlformats.org/officeDocument/2006/relationships/image" Target="../media/image25.png"/><Relationship Id="rId1" Type="http://schemas.openxmlformats.org/officeDocument/2006/relationships/slideLayout" Target="../slideLayouts/slideLayout21.xml"/><Relationship Id="rId6" Type="http://schemas.openxmlformats.org/officeDocument/2006/relationships/image" Target="../media/image15.png"/><Relationship Id="rId11" Type="http://schemas.openxmlformats.org/officeDocument/2006/relationships/image" Target="../media/image20.png"/><Relationship Id="rId5" Type="http://schemas.openxmlformats.org/officeDocument/2006/relationships/image" Target="../media/image14.png"/><Relationship Id="rId15" Type="http://schemas.openxmlformats.org/officeDocument/2006/relationships/image" Target="../media/image24.png"/><Relationship Id="rId10" Type="http://schemas.openxmlformats.org/officeDocument/2006/relationships/image" Target="../media/image19.png"/><Relationship Id="rId4" Type="http://schemas.openxmlformats.org/officeDocument/2006/relationships/image" Target="../media/image13.png"/><Relationship Id="rId9" Type="http://schemas.openxmlformats.org/officeDocument/2006/relationships/image" Target="../media/image18.tif"/><Relationship Id="rId14" Type="http://schemas.openxmlformats.org/officeDocument/2006/relationships/image" Target="../media/image23.png"/></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xml"/><Relationship Id="rId1" Type="http://schemas.openxmlformats.org/officeDocument/2006/relationships/slideLayout" Target="../slideLayouts/slideLayout20.xml"/></Relationships>
</file>

<file path=ppt/slides/_rels/slide1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1.xml"/></Relationships>
</file>

<file path=ppt/slides/_rels/slide2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xml"/><Relationship Id="rId1" Type="http://schemas.openxmlformats.org/officeDocument/2006/relationships/slideLayout" Target="../slideLayouts/slideLayout19.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image" Target="../media/image330.png"/><Relationship Id="rId1" Type="http://schemas.openxmlformats.org/officeDocument/2006/relationships/slideLayout" Target="../slideLayouts/slideLayout13.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24.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13.xml"/><Relationship Id="rId5" Type="http://schemas.openxmlformats.org/officeDocument/2006/relationships/image" Target="../media/image42.png"/><Relationship Id="rId4" Type="http://schemas.openxmlformats.org/officeDocument/2006/relationships/image" Target="../media/image41.png"/></Relationships>
</file>

<file path=ppt/slides/_rels/slide25.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8" Type="http://schemas.openxmlformats.org/officeDocument/2006/relationships/image" Target="../media/image49.png"/><Relationship Id="rId13" Type="http://schemas.openxmlformats.org/officeDocument/2006/relationships/image" Target="../media/image54.png"/><Relationship Id="rId18" Type="http://schemas.openxmlformats.org/officeDocument/2006/relationships/image" Target="../media/image59.png"/><Relationship Id="rId3" Type="http://schemas.openxmlformats.org/officeDocument/2006/relationships/image" Target="../media/image44.png"/><Relationship Id="rId7" Type="http://schemas.openxmlformats.org/officeDocument/2006/relationships/image" Target="../media/image48.png"/><Relationship Id="rId12" Type="http://schemas.openxmlformats.org/officeDocument/2006/relationships/image" Target="../media/image53.png"/><Relationship Id="rId17" Type="http://schemas.openxmlformats.org/officeDocument/2006/relationships/image" Target="../media/image58.png"/><Relationship Id="rId2" Type="http://schemas.openxmlformats.org/officeDocument/2006/relationships/notesSlide" Target="../notesSlides/notesSlide4.xml"/><Relationship Id="rId16" Type="http://schemas.openxmlformats.org/officeDocument/2006/relationships/image" Target="../media/image57.png"/><Relationship Id="rId1" Type="http://schemas.openxmlformats.org/officeDocument/2006/relationships/slideLayout" Target="../slideLayouts/slideLayout18.xml"/><Relationship Id="rId6" Type="http://schemas.openxmlformats.org/officeDocument/2006/relationships/image" Target="../media/image47.png"/><Relationship Id="rId11" Type="http://schemas.openxmlformats.org/officeDocument/2006/relationships/image" Target="../media/image52.png"/><Relationship Id="rId5" Type="http://schemas.openxmlformats.org/officeDocument/2006/relationships/image" Target="../media/image46.png"/><Relationship Id="rId15" Type="http://schemas.openxmlformats.org/officeDocument/2006/relationships/image" Target="../media/image56.png"/><Relationship Id="rId10" Type="http://schemas.openxmlformats.org/officeDocument/2006/relationships/image" Target="../media/image51.png"/><Relationship Id="rId4" Type="http://schemas.openxmlformats.org/officeDocument/2006/relationships/image" Target="../media/image45.png"/><Relationship Id="rId9" Type="http://schemas.openxmlformats.org/officeDocument/2006/relationships/image" Target="../media/image50.png"/><Relationship Id="rId14" Type="http://schemas.openxmlformats.org/officeDocument/2006/relationships/image" Target="../media/image55.png"/></Relationships>
</file>

<file path=ppt/slides/_rels/slide2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hyperlink" Target="http://www.alchemistry.org/wiki/Main_Page" TargetMode="Externa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1" name="11/13/2024"/>
          <p:cNvSpPr txBox="1">
            <a:spLocks noGrp="1"/>
          </p:cNvSpPr>
          <p:nvPr>
            <p:ph type="title"/>
          </p:nvPr>
        </p:nvSpPr>
        <p:spPr>
          <a:prstGeom prst="rect">
            <a:avLst/>
          </a:prstGeom>
        </p:spPr>
        <p:txBody>
          <a:bodyPr>
            <a:normAutofit fontScale="90000"/>
          </a:bodyPr>
          <a:lstStyle/>
          <a:p>
            <a:r>
              <a:rPr lang="en-US" dirty="0"/>
              <a:t>4/8/2026 Free Energy Calculations</a:t>
            </a:r>
            <a:endParaRPr dirty="0"/>
          </a:p>
        </p:txBody>
      </p:sp>
      <p:sp>
        <p:nvSpPr>
          <p:cNvPr id="202" name="Free energy calculations…"/>
          <p:cNvSpPr txBox="1">
            <a:spLocks noGrp="1"/>
          </p:cNvSpPr>
          <p:nvPr>
            <p:ph type="body" idx="1"/>
          </p:nvPr>
        </p:nvSpPr>
        <p:spPr>
          <a:prstGeom prst="rect">
            <a:avLst/>
          </a:prstGeom>
        </p:spPr>
        <p:txBody>
          <a:bodyPr/>
          <a:lstStyle/>
          <a:p>
            <a:r>
              <a:rPr dirty="0"/>
              <a:t>Free energy calculations </a:t>
            </a:r>
          </a:p>
          <a:p>
            <a:r>
              <a:rPr dirty="0"/>
              <a:t>Binding free energy calculations</a:t>
            </a:r>
          </a:p>
          <a:p>
            <a:r>
              <a:rPr dirty="0"/>
              <a:t>Work on exercises / meet with teams</a:t>
            </a:r>
          </a:p>
          <a:p>
            <a:endParaRPr dirty="0"/>
          </a:p>
          <a:p>
            <a:r>
              <a:rPr dirty="0"/>
              <a:t>Today’s lecture is a key step towards the following learning objective: Explain key concepts related to binding free energy calculations. Compare and contrast molecular docking and binding free energy calculations.</a:t>
            </a:r>
          </a:p>
        </p:txBody>
      </p:sp>
      <p:sp>
        <p:nvSpPr>
          <p:cNvPr id="203" name="Slide Number"/>
          <p:cNvSpPr txBox="1">
            <a:spLocks noGrp="1"/>
          </p:cNvSpPr>
          <p:nvPr>
            <p:ph type="sldNum" sz="quarter" idx="2"/>
          </p:nvPr>
        </p:nvSpPr>
        <p:spPr>
          <a:xfrm>
            <a:off x="12020548" y="13010554"/>
            <a:ext cx="325045" cy="51117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a:t>
            </a:fld>
            <a:endParaRPr/>
          </a:p>
        </p:txBody>
      </p:sp>
    </p:spTree>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 name="Free energy calculations"/>
          <p:cNvSpPr txBox="1">
            <a:spLocks noGrp="1"/>
          </p:cNvSpPr>
          <p:nvPr>
            <p:ph type="title"/>
          </p:nvPr>
        </p:nvSpPr>
        <p:spPr>
          <a:prstGeom prst="rect">
            <a:avLst/>
          </a:prstGeom>
        </p:spPr>
        <p:txBody>
          <a:bodyPr/>
          <a:lstStyle/>
          <a:p>
            <a:r>
              <a:t>Free energy calculations</a:t>
            </a:r>
          </a:p>
        </p:txBody>
      </p:sp>
      <p:sp>
        <p:nvSpPr>
          <p:cNvPr id="206" name="Slide Number"/>
          <p:cNvSpPr txBox="1">
            <a:spLocks noGrp="1"/>
          </p:cNvSpPr>
          <p:nvPr>
            <p:ph type="sldNum" sz="quarter" idx="2"/>
          </p:nvPr>
        </p:nvSpPr>
        <p:spPr>
          <a:xfrm>
            <a:off x="12020548" y="13010554"/>
            <a:ext cx="325045" cy="51117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t>2</a:t>
            </a:fld>
            <a:endParaRPr/>
          </a:p>
        </p:txBody>
      </p:sp>
    </p:spTree>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8" name="Estimating Thermodynamic Properties"/>
          <p:cNvSpPr txBox="1">
            <a:spLocks noGrp="1"/>
          </p:cNvSpPr>
          <p:nvPr>
            <p:ph type="title"/>
          </p:nvPr>
        </p:nvSpPr>
        <p:spPr>
          <a:prstGeom prst="rect">
            <a:avLst/>
          </a:prstGeom>
        </p:spPr>
        <p:txBody>
          <a:bodyPr/>
          <a:lstStyle>
            <a:lvl1pPr defTabSz="722947">
              <a:defRPr sz="9856"/>
            </a:lvl1pPr>
          </a:lstStyle>
          <a:p>
            <a:r>
              <a:t>Estimating Thermodynamic Properties</a:t>
            </a:r>
          </a:p>
        </p:txBody>
      </p:sp>
      <p:sp>
        <p:nvSpPr>
          <p:cNvPr id="209" name="Molecular simulations are used to calculate thermodynamic and kinetic properties…"/>
          <p:cNvSpPr txBox="1">
            <a:spLocks noGrp="1"/>
          </p:cNvSpPr>
          <p:nvPr>
            <p:ph type="body" idx="1"/>
          </p:nvPr>
        </p:nvSpPr>
        <p:spPr>
          <a:prstGeom prst="rect">
            <a:avLst/>
          </a:prstGeom>
        </p:spPr>
        <p:txBody>
          <a:bodyPr/>
          <a:lstStyle/>
          <a:p>
            <a:r>
              <a:t>Molecular simulations are used to calculate thermodynamic and kinetic properties</a:t>
            </a:r>
          </a:p>
          <a:p>
            <a:r>
              <a:t>In general, the thermodynamic properties are</a:t>
            </a:r>
          </a:p>
          <a:p>
            <a:pPr lvl="2"/>
            <a:r>
              <a:t>expectation values of an observable, including</a:t>
            </a:r>
          </a:p>
          <a:p>
            <a:pPr lvl="3"/>
            <a:r>
              <a:t>probability of the observable having a certain range of values</a:t>
            </a:r>
          </a:p>
          <a:p>
            <a:pPr lvl="3"/>
            <a:r>
              <a:t>potential of mean force with respect to the observable</a:t>
            </a:r>
          </a:p>
          <a:p>
            <a:pPr lvl="2"/>
            <a:r>
              <a:t>free energy differences between thermodynamic states</a:t>
            </a:r>
          </a:p>
          <a:p>
            <a:pPr lvl="3"/>
            <a:r>
              <a:t>in biomolecular systems, ΔG ~ ΔA</a:t>
            </a:r>
          </a:p>
        </p:txBody>
      </p:sp>
      <p:sp>
        <p:nvSpPr>
          <p:cNvPr id="210" name="Slide Number"/>
          <p:cNvSpPr txBox="1">
            <a:spLocks noGrp="1"/>
          </p:cNvSpPr>
          <p:nvPr>
            <p:ph type="sldNum" sz="quarter" idx="2"/>
          </p:nvPr>
        </p:nvSpPr>
        <p:spPr>
          <a:xfrm>
            <a:off x="12020548" y="13010554"/>
            <a:ext cx="325045" cy="51117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209">
                                            <p:bg/>
                                          </p:spTgt>
                                        </p:tgtEl>
                                        <p:attrNameLst>
                                          <p:attrName>style.visibility</p:attrName>
                                        </p:attrNameLst>
                                      </p:cBhvr>
                                      <p:to>
                                        <p:strVal val="visible"/>
                                      </p:to>
                                    </p:set>
                                  </p:childTnLst>
                                </p:cTn>
                              </p:par>
                              <p:par>
                                <p:cTn id="7" presetID="1" presetClass="entr" presetSubtype="0" fill="hold" grpId="1" nodeType="withEffect">
                                  <p:stCondLst>
                                    <p:cond delay="0"/>
                                  </p:stCondLst>
                                  <p:iterate>
                                    <p:tmAbs val="0"/>
                                  </p:iterate>
                                  <p:childTnLst>
                                    <p:set>
                                      <p:cBhvr>
                                        <p:cTn id="8" fill="hold"/>
                                        <p:tgtEl>
                                          <p:spTgt spid="209">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1" nodeType="clickEffect">
                                  <p:stCondLst>
                                    <p:cond delay="0"/>
                                  </p:stCondLst>
                                  <p:iterate>
                                    <p:tmAbs val="0"/>
                                  </p:iterate>
                                  <p:childTnLst>
                                    <p:set>
                                      <p:cBhvr>
                                        <p:cTn id="12" fill="hold"/>
                                        <p:tgtEl>
                                          <p:spTgt spid="209">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1" nodeType="clickEffect">
                                  <p:stCondLst>
                                    <p:cond delay="0"/>
                                  </p:stCondLst>
                                  <p:iterate>
                                    <p:tmAbs val="0"/>
                                  </p:iterate>
                                  <p:childTnLst>
                                    <p:set>
                                      <p:cBhvr>
                                        <p:cTn id="16" fill="hold"/>
                                        <p:tgtEl>
                                          <p:spTgt spid="209">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1" nodeType="clickEffect">
                                  <p:stCondLst>
                                    <p:cond delay="0"/>
                                  </p:stCondLst>
                                  <p:iterate>
                                    <p:tmAbs val="0"/>
                                  </p:iterate>
                                  <p:childTnLst>
                                    <p:set>
                                      <p:cBhvr>
                                        <p:cTn id="20" fill="hold"/>
                                        <p:tgtEl>
                                          <p:spTgt spid="209">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1" nodeType="clickEffect">
                                  <p:stCondLst>
                                    <p:cond delay="0"/>
                                  </p:stCondLst>
                                  <p:iterate>
                                    <p:tmAbs val="0"/>
                                  </p:iterate>
                                  <p:childTnLst>
                                    <p:set>
                                      <p:cBhvr>
                                        <p:cTn id="24" fill="hold"/>
                                        <p:tgtEl>
                                          <p:spTgt spid="209">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1" nodeType="clickEffect">
                                  <p:stCondLst>
                                    <p:cond delay="0"/>
                                  </p:stCondLst>
                                  <p:iterate>
                                    <p:tmAbs val="0"/>
                                  </p:iterate>
                                  <p:childTnLst>
                                    <p:set>
                                      <p:cBhvr>
                                        <p:cTn id="28" fill="hold"/>
                                        <p:tgtEl>
                                          <p:spTgt spid="209">
                                            <p:txEl>
                                              <p:pRg st="5" end="5"/>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1" nodeType="clickEffect">
                                  <p:stCondLst>
                                    <p:cond delay="0"/>
                                  </p:stCondLst>
                                  <p:iterate>
                                    <p:tmAbs val="0"/>
                                  </p:iterate>
                                  <p:childTnLst>
                                    <p:set>
                                      <p:cBhvr>
                                        <p:cTn id="32" fill="hold"/>
                                        <p:tgtEl>
                                          <p:spTgt spid="209">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9" grpId="1" build="p" bldLvl="5" animBg="1" advAuto="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2" name="What is ΔG?"/>
          <p:cNvSpPr txBox="1">
            <a:spLocks noGrp="1"/>
          </p:cNvSpPr>
          <p:nvPr>
            <p:ph type="title"/>
          </p:nvPr>
        </p:nvSpPr>
        <p:spPr>
          <a:prstGeom prst="rect">
            <a:avLst/>
          </a:prstGeom>
        </p:spPr>
        <p:txBody>
          <a:bodyPr/>
          <a:lstStyle/>
          <a:p>
            <a:r>
              <a:t>What is ΔG?</a:t>
            </a:r>
          </a:p>
        </p:txBody>
      </p:sp>
      <p:sp>
        <p:nvSpPr>
          <p:cNvPr id="213" name="ΔU is the change in average internal energy.…"/>
          <p:cNvSpPr txBox="1">
            <a:spLocks noGrp="1"/>
          </p:cNvSpPr>
          <p:nvPr>
            <p:ph type="body" idx="1"/>
          </p:nvPr>
        </p:nvSpPr>
        <p:spPr>
          <a:prstGeom prst="rect">
            <a:avLst/>
          </a:prstGeom>
        </p:spPr>
        <p:txBody>
          <a:bodyPr/>
          <a:lstStyle/>
          <a:p>
            <a:pPr marL="530930" indent="-530930" defTabSz="706516">
              <a:defRPr sz="4300"/>
            </a:pPr>
            <a:r>
              <a:t>ΔU is the change in average internal energy. </a:t>
            </a:r>
          </a:p>
          <a:p>
            <a:pPr marL="913200" lvl="1" indent="-530930" defTabSz="706516">
              <a:defRPr sz="4300"/>
            </a:pPr>
            <a:r>
              <a:t>internal energy can be computed for individual structures</a:t>
            </a:r>
          </a:p>
          <a:p>
            <a:pPr marL="913200" lvl="1" indent="-530930" defTabSz="706516">
              <a:defRPr sz="4300"/>
            </a:pPr>
            <a:r>
              <a:t>in biomolecular simulations, internal energy is modeled by the molecular mechanics force field</a:t>
            </a:r>
          </a:p>
          <a:p>
            <a:pPr marL="530930" indent="-530930" defTabSz="706516">
              <a:defRPr sz="4300"/>
            </a:pPr>
            <a:r>
              <a:t>ΔH = ΔU + Δ(pV) is the change in enthalpy</a:t>
            </a:r>
          </a:p>
          <a:p>
            <a:pPr marL="913200" lvl="1" indent="-530930" defTabSz="706516">
              <a:defRPr sz="4300"/>
            </a:pPr>
            <a:r>
              <a:t>in biomolecular simulations, change in pV is usually negligible</a:t>
            </a:r>
          </a:p>
          <a:p>
            <a:pPr marL="530930" indent="-530930" defTabSz="706516">
              <a:defRPr sz="4300"/>
            </a:pPr>
            <a:r>
              <a:t>ΔG is the Gibbs free energy</a:t>
            </a:r>
          </a:p>
          <a:p>
            <a:pPr marL="913200" lvl="1" indent="-530930" defTabSz="706516">
              <a:defRPr sz="4300"/>
            </a:pPr>
            <a:r>
              <a:t>at constant pressure and temperature, dictates </a:t>
            </a:r>
          </a:p>
          <a:p>
            <a:pPr marL="1295470" lvl="2" indent="-530930" defTabSz="706516">
              <a:defRPr sz="4300"/>
            </a:pPr>
            <a:r>
              <a:t>spontaneity and </a:t>
            </a:r>
          </a:p>
          <a:p>
            <a:pPr marL="1295470" lvl="2" indent="-530930" defTabSz="706516">
              <a:defRPr sz="4300"/>
            </a:pPr>
            <a:r>
              <a:t>equilibrium constant of process</a:t>
            </a:r>
          </a:p>
          <a:p>
            <a:pPr marL="913200" lvl="1" indent="-530930" defTabSz="706516">
              <a:defRPr sz="4300"/>
            </a:pPr>
            <a:r>
              <a:t>in biomolecular simulation, interest in free energy differences between</a:t>
            </a:r>
          </a:p>
          <a:p>
            <a:pPr marL="1295470" lvl="2" indent="-530930" defTabSz="706516">
              <a:defRPr sz="4300"/>
            </a:pPr>
            <a:r>
              <a:t>conformations of a macromolecule</a:t>
            </a:r>
          </a:p>
          <a:p>
            <a:pPr marL="1295470" lvl="2" indent="-530930" defTabSz="706516">
              <a:defRPr sz="4300"/>
            </a:pPr>
            <a:r>
              <a:t>thermodynamic states with different temperature, pressure, volume, or other parameters</a:t>
            </a:r>
          </a:p>
          <a:p>
            <a:pPr marL="913200" lvl="1" indent="-530930" defTabSz="706516">
              <a:defRPr sz="4300"/>
            </a:pPr>
            <a:r>
              <a:t>ΔG = ΔH + TΔS, but ΔS is very challenging to compute</a:t>
            </a:r>
          </a:p>
        </p:txBody>
      </p:sp>
      <p:sp>
        <p:nvSpPr>
          <p:cNvPr id="214" name="Slide Number"/>
          <p:cNvSpPr txBox="1">
            <a:spLocks noGrp="1"/>
          </p:cNvSpPr>
          <p:nvPr>
            <p:ph type="sldNum" sz="quarter" idx="2"/>
          </p:nvPr>
        </p:nvSpPr>
        <p:spPr>
          <a:xfrm>
            <a:off x="12020548" y="13010554"/>
            <a:ext cx="325045" cy="51117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4</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213">
                                            <p:bg/>
                                          </p:spTgt>
                                        </p:tgtEl>
                                        <p:attrNameLst>
                                          <p:attrName>style.visibility</p:attrName>
                                        </p:attrNameLst>
                                      </p:cBhvr>
                                      <p:to>
                                        <p:strVal val="visible"/>
                                      </p:to>
                                    </p:set>
                                  </p:childTnLst>
                                </p:cTn>
                              </p:par>
                              <p:par>
                                <p:cTn id="7" presetID="1" presetClass="entr" presetSubtype="0" fill="hold" grpId="1" nodeType="withEffect">
                                  <p:stCondLst>
                                    <p:cond delay="0"/>
                                  </p:stCondLst>
                                  <p:iterate>
                                    <p:tmAbs val="0"/>
                                  </p:iterate>
                                  <p:childTnLst>
                                    <p:set>
                                      <p:cBhvr>
                                        <p:cTn id="8" fill="hold"/>
                                        <p:tgtEl>
                                          <p:spTgt spid="213">
                                            <p:txEl>
                                              <p:pRg st="0" end="0"/>
                                            </p:txEl>
                                          </p:spTgt>
                                        </p:tgtEl>
                                        <p:attrNameLst>
                                          <p:attrName>style.visibility</p:attrName>
                                        </p:attrNameLst>
                                      </p:cBhvr>
                                      <p:to>
                                        <p:strVal val="visible"/>
                                      </p:to>
                                    </p:set>
                                  </p:childTnLst>
                                </p:cTn>
                              </p:par>
                              <p:par>
                                <p:cTn id="9" presetID="1" presetClass="entr" presetSubtype="0" fill="hold" grpId="1" nodeType="withEffect">
                                  <p:stCondLst>
                                    <p:cond delay="0"/>
                                  </p:stCondLst>
                                  <p:iterate>
                                    <p:tmAbs val="0"/>
                                  </p:iterate>
                                  <p:childTnLst>
                                    <p:set>
                                      <p:cBhvr>
                                        <p:cTn id="10" fill="hold"/>
                                        <p:tgtEl>
                                          <p:spTgt spid="213">
                                            <p:txEl>
                                              <p:pRg st="1" end="1"/>
                                            </p:txEl>
                                          </p:spTgt>
                                        </p:tgtEl>
                                        <p:attrNameLst>
                                          <p:attrName>style.visibility</p:attrName>
                                        </p:attrNameLst>
                                      </p:cBhvr>
                                      <p:to>
                                        <p:strVal val="visible"/>
                                      </p:to>
                                    </p:set>
                                  </p:childTnLst>
                                </p:cTn>
                              </p:par>
                              <p:par>
                                <p:cTn id="11" presetID="1" presetClass="entr" presetSubtype="0" fill="hold" grpId="1" nodeType="withEffect">
                                  <p:stCondLst>
                                    <p:cond delay="0"/>
                                  </p:stCondLst>
                                  <p:iterate>
                                    <p:tmAbs val="0"/>
                                  </p:iterate>
                                  <p:childTnLst>
                                    <p:set>
                                      <p:cBhvr>
                                        <p:cTn id="12" fill="hold"/>
                                        <p:tgtEl>
                                          <p:spTgt spid="21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1" nodeType="clickEffect">
                                  <p:stCondLst>
                                    <p:cond delay="0"/>
                                  </p:stCondLst>
                                  <p:iterate>
                                    <p:tmAbs val="0"/>
                                  </p:iterate>
                                  <p:childTnLst>
                                    <p:set>
                                      <p:cBhvr>
                                        <p:cTn id="16" fill="hold"/>
                                        <p:tgtEl>
                                          <p:spTgt spid="213">
                                            <p:txEl>
                                              <p:pRg st="3" end="3"/>
                                            </p:txEl>
                                          </p:spTgt>
                                        </p:tgtEl>
                                        <p:attrNameLst>
                                          <p:attrName>style.visibility</p:attrName>
                                        </p:attrNameLst>
                                      </p:cBhvr>
                                      <p:to>
                                        <p:strVal val="visible"/>
                                      </p:to>
                                    </p:set>
                                  </p:childTnLst>
                                </p:cTn>
                              </p:par>
                              <p:par>
                                <p:cTn id="17" presetID="1" presetClass="entr" presetSubtype="0" fill="hold" grpId="1" nodeType="withEffect">
                                  <p:stCondLst>
                                    <p:cond delay="0"/>
                                  </p:stCondLst>
                                  <p:iterate>
                                    <p:tmAbs val="0"/>
                                  </p:iterate>
                                  <p:childTnLst>
                                    <p:set>
                                      <p:cBhvr>
                                        <p:cTn id="18" fill="hold"/>
                                        <p:tgtEl>
                                          <p:spTgt spid="2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1" nodeType="clickEffect">
                                  <p:stCondLst>
                                    <p:cond delay="0"/>
                                  </p:stCondLst>
                                  <p:iterate>
                                    <p:tmAbs val="0"/>
                                  </p:iterate>
                                  <p:childTnLst>
                                    <p:set>
                                      <p:cBhvr>
                                        <p:cTn id="22" fill="hold"/>
                                        <p:tgtEl>
                                          <p:spTgt spid="213">
                                            <p:txEl>
                                              <p:pRg st="5" end="5"/>
                                            </p:txEl>
                                          </p:spTgt>
                                        </p:tgtEl>
                                        <p:attrNameLst>
                                          <p:attrName>style.visibility</p:attrName>
                                        </p:attrNameLst>
                                      </p:cBhvr>
                                      <p:to>
                                        <p:strVal val="visible"/>
                                      </p:to>
                                    </p:set>
                                  </p:childTnLst>
                                </p:cTn>
                              </p:par>
                              <p:par>
                                <p:cTn id="23" presetID="1" presetClass="entr" presetSubtype="0" fill="hold" grpId="1" nodeType="withEffect">
                                  <p:stCondLst>
                                    <p:cond delay="0"/>
                                  </p:stCondLst>
                                  <p:iterate>
                                    <p:tmAbs val="0"/>
                                  </p:iterate>
                                  <p:childTnLst>
                                    <p:set>
                                      <p:cBhvr>
                                        <p:cTn id="24" fill="hold"/>
                                        <p:tgtEl>
                                          <p:spTgt spid="213">
                                            <p:txEl>
                                              <p:pRg st="6" end="6"/>
                                            </p:txEl>
                                          </p:spTgt>
                                        </p:tgtEl>
                                        <p:attrNameLst>
                                          <p:attrName>style.visibility</p:attrName>
                                        </p:attrNameLst>
                                      </p:cBhvr>
                                      <p:to>
                                        <p:strVal val="visible"/>
                                      </p:to>
                                    </p:set>
                                  </p:childTnLst>
                                </p:cTn>
                              </p:par>
                              <p:par>
                                <p:cTn id="25" presetID="1" presetClass="entr" presetSubtype="0" fill="hold" grpId="1" nodeType="withEffect">
                                  <p:stCondLst>
                                    <p:cond delay="0"/>
                                  </p:stCondLst>
                                  <p:iterate>
                                    <p:tmAbs val="0"/>
                                  </p:iterate>
                                  <p:childTnLst>
                                    <p:set>
                                      <p:cBhvr>
                                        <p:cTn id="26" fill="hold"/>
                                        <p:tgtEl>
                                          <p:spTgt spid="213">
                                            <p:txEl>
                                              <p:pRg st="7" end="7"/>
                                            </p:txEl>
                                          </p:spTgt>
                                        </p:tgtEl>
                                        <p:attrNameLst>
                                          <p:attrName>style.visibility</p:attrName>
                                        </p:attrNameLst>
                                      </p:cBhvr>
                                      <p:to>
                                        <p:strVal val="visible"/>
                                      </p:to>
                                    </p:set>
                                  </p:childTnLst>
                                </p:cTn>
                              </p:par>
                              <p:par>
                                <p:cTn id="27" presetID="1" presetClass="entr" presetSubtype="0" fill="hold" grpId="1" nodeType="withEffect">
                                  <p:stCondLst>
                                    <p:cond delay="0"/>
                                  </p:stCondLst>
                                  <p:iterate>
                                    <p:tmAbs val="0"/>
                                  </p:iterate>
                                  <p:childTnLst>
                                    <p:set>
                                      <p:cBhvr>
                                        <p:cTn id="28" fill="hold"/>
                                        <p:tgtEl>
                                          <p:spTgt spid="213">
                                            <p:txEl>
                                              <p:pRg st="8" end="8"/>
                                            </p:txEl>
                                          </p:spTgt>
                                        </p:tgtEl>
                                        <p:attrNameLst>
                                          <p:attrName>style.visibility</p:attrName>
                                        </p:attrNameLst>
                                      </p:cBhvr>
                                      <p:to>
                                        <p:strVal val="visible"/>
                                      </p:to>
                                    </p:set>
                                  </p:childTnLst>
                                </p:cTn>
                              </p:par>
                              <p:par>
                                <p:cTn id="29" presetID="1" presetClass="entr" presetSubtype="0" fill="hold" grpId="1" nodeType="withEffect">
                                  <p:stCondLst>
                                    <p:cond delay="0"/>
                                  </p:stCondLst>
                                  <p:iterate>
                                    <p:tmAbs val="0"/>
                                  </p:iterate>
                                  <p:childTnLst>
                                    <p:set>
                                      <p:cBhvr>
                                        <p:cTn id="30" fill="hold"/>
                                        <p:tgtEl>
                                          <p:spTgt spid="213">
                                            <p:txEl>
                                              <p:pRg st="9" end="9"/>
                                            </p:txEl>
                                          </p:spTgt>
                                        </p:tgtEl>
                                        <p:attrNameLst>
                                          <p:attrName>style.visibility</p:attrName>
                                        </p:attrNameLst>
                                      </p:cBhvr>
                                      <p:to>
                                        <p:strVal val="visible"/>
                                      </p:to>
                                    </p:set>
                                  </p:childTnLst>
                                </p:cTn>
                              </p:par>
                              <p:par>
                                <p:cTn id="31" presetID="1" presetClass="entr" presetSubtype="0" fill="hold" grpId="1" nodeType="withEffect">
                                  <p:stCondLst>
                                    <p:cond delay="0"/>
                                  </p:stCondLst>
                                  <p:iterate>
                                    <p:tmAbs val="0"/>
                                  </p:iterate>
                                  <p:childTnLst>
                                    <p:set>
                                      <p:cBhvr>
                                        <p:cTn id="32" fill="hold"/>
                                        <p:tgtEl>
                                          <p:spTgt spid="213">
                                            <p:txEl>
                                              <p:pRg st="10" end="10"/>
                                            </p:txEl>
                                          </p:spTgt>
                                        </p:tgtEl>
                                        <p:attrNameLst>
                                          <p:attrName>style.visibility</p:attrName>
                                        </p:attrNameLst>
                                      </p:cBhvr>
                                      <p:to>
                                        <p:strVal val="visible"/>
                                      </p:to>
                                    </p:set>
                                  </p:childTnLst>
                                </p:cTn>
                              </p:par>
                              <p:par>
                                <p:cTn id="33" presetID="1" presetClass="entr" presetSubtype="0" fill="hold" grpId="1" nodeType="withEffect">
                                  <p:stCondLst>
                                    <p:cond delay="0"/>
                                  </p:stCondLst>
                                  <p:iterate>
                                    <p:tmAbs val="0"/>
                                  </p:iterate>
                                  <p:childTnLst>
                                    <p:set>
                                      <p:cBhvr>
                                        <p:cTn id="34" fill="hold"/>
                                        <p:tgtEl>
                                          <p:spTgt spid="213">
                                            <p:txEl>
                                              <p:pRg st="11" end="11"/>
                                            </p:txEl>
                                          </p:spTgt>
                                        </p:tgtEl>
                                        <p:attrNameLst>
                                          <p:attrName>style.visibility</p:attrName>
                                        </p:attrNameLst>
                                      </p:cBhvr>
                                      <p:to>
                                        <p:strVal val="visible"/>
                                      </p:to>
                                    </p:set>
                                  </p:childTnLst>
                                </p:cTn>
                              </p:par>
                              <p:par>
                                <p:cTn id="35" presetID="1" presetClass="entr" presetSubtype="0" fill="hold" grpId="1" nodeType="withEffect">
                                  <p:stCondLst>
                                    <p:cond delay="0"/>
                                  </p:stCondLst>
                                  <p:iterate>
                                    <p:tmAbs val="0"/>
                                  </p:iterate>
                                  <p:childTnLst>
                                    <p:set>
                                      <p:cBhvr>
                                        <p:cTn id="36" fill="hold"/>
                                        <p:tgtEl>
                                          <p:spTgt spid="21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1" build="p" animBg="1" advAuto="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6" name="What is ΔA?"/>
          <p:cNvSpPr txBox="1">
            <a:spLocks noGrp="1"/>
          </p:cNvSpPr>
          <p:nvPr>
            <p:ph type="title"/>
          </p:nvPr>
        </p:nvSpPr>
        <p:spPr>
          <a:prstGeom prst="rect">
            <a:avLst/>
          </a:prstGeom>
        </p:spPr>
        <p:txBody>
          <a:bodyPr/>
          <a:lstStyle/>
          <a:p>
            <a:r>
              <a:t>What is ΔA?</a:t>
            </a:r>
          </a:p>
        </p:txBody>
      </p:sp>
      <p:sp>
        <p:nvSpPr>
          <p:cNvPr id="217" name="ΔA is the Helmholtz free energy…"/>
          <p:cNvSpPr txBox="1">
            <a:spLocks noGrp="1"/>
          </p:cNvSpPr>
          <p:nvPr>
            <p:ph type="body" idx="1"/>
          </p:nvPr>
        </p:nvSpPr>
        <p:spPr>
          <a:prstGeom prst="rect">
            <a:avLst/>
          </a:prstGeom>
        </p:spPr>
        <p:txBody>
          <a:bodyPr/>
          <a:lstStyle/>
          <a:p>
            <a:r>
              <a:rPr dirty="0"/>
              <a:t>ΔA is the Helmholtz free energy</a:t>
            </a:r>
          </a:p>
          <a:p>
            <a:pPr lvl="1"/>
            <a:r>
              <a:rPr dirty="0"/>
              <a:t>at constant volume and temperature, dictates </a:t>
            </a:r>
          </a:p>
          <a:p>
            <a:pPr lvl="2"/>
            <a:r>
              <a:rPr dirty="0"/>
              <a:t>spontaneity and </a:t>
            </a:r>
          </a:p>
          <a:p>
            <a:pPr lvl="2"/>
            <a:r>
              <a:rPr dirty="0"/>
              <a:t>equilibrium constant of process</a:t>
            </a:r>
          </a:p>
          <a:p>
            <a:pPr lvl="1"/>
            <a:r>
              <a:rPr dirty="0"/>
              <a:t>in biomolecular simulation, ΔA and ΔG are usually assumed to be equal</a:t>
            </a:r>
            <a:endParaRPr lang="en-US" dirty="0"/>
          </a:p>
          <a:p>
            <a:pPr lvl="2"/>
            <a:r>
              <a:rPr lang="el-GR" dirty="0"/>
              <a:t>Δ</a:t>
            </a:r>
            <a:r>
              <a:rPr lang="en-US" dirty="0"/>
              <a:t>A ≈ </a:t>
            </a:r>
            <a:r>
              <a:rPr lang="el-GR" dirty="0"/>
              <a:t>Δ</a:t>
            </a:r>
            <a:r>
              <a:rPr lang="en-US" dirty="0"/>
              <a:t>G breaks down for pressure-dependent processes</a:t>
            </a:r>
          </a:p>
          <a:p>
            <a:pPr lvl="2"/>
            <a:r>
              <a:rPr lang="en-US" dirty="0"/>
              <a:t>We usually compute </a:t>
            </a:r>
            <a:r>
              <a:rPr lang="el-GR" dirty="0"/>
              <a:t>Δ</a:t>
            </a:r>
            <a:r>
              <a:rPr lang="en-US" dirty="0"/>
              <a:t>A in simulation and interpret it as </a:t>
            </a:r>
            <a:r>
              <a:rPr lang="el-GR" dirty="0"/>
              <a:t>Δ</a:t>
            </a:r>
            <a:r>
              <a:rPr lang="en-US" dirty="0"/>
              <a:t>G under typical biomolecular conditions</a:t>
            </a:r>
            <a:endParaRPr dirty="0"/>
          </a:p>
        </p:txBody>
      </p:sp>
      <p:sp>
        <p:nvSpPr>
          <p:cNvPr id="218" name="Slide Number"/>
          <p:cNvSpPr txBox="1">
            <a:spLocks noGrp="1"/>
          </p:cNvSpPr>
          <p:nvPr>
            <p:ph type="sldNum" sz="quarter" idx="2"/>
          </p:nvPr>
        </p:nvSpPr>
        <p:spPr>
          <a:xfrm>
            <a:off x="12020548" y="13010554"/>
            <a:ext cx="325045" cy="51117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5</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217">
                                            <p:bg/>
                                          </p:spTgt>
                                        </p:tgtEl>
                                        <p:attrNameLst>
                                          <p:attrName>style.visibility</p:attrName>
                                        </p:attrNameLst>
                                      </p:cBhvr>
                                      <p:to>
                                        <p:strVal val="visible"/>
                                      </p:to>
                                    </p:set>
                                  </p:childTnLst>
                                </p:cTn>
                              </p:par>
                              <p:par>
                                <p:cTn id="7" presetID="1" presetClass="entr" presetSubtype="0" fill="hold" grpId="1" nodeType="withEffect">
                                  <p:stCondLst>
                                    <p:cond delay="0"/>
                                  </p:stCondLst>
                                  <p:iterate>
                                    <p:tmAbs val="0"/>
                                  </p:iterate>
                                  <p:childTnLst>
                                    <p:set>
                                      <p:cBhvr>
                                        <p:cTn id="8" fill="hold"/>
                                        <p:tgtEl>
                                          <p:spTgt spid="217">
                                            <p:txEl>
                                              <p:pRg st="0" end="0"/>
                                            </p:txEl>
                                          </p:spTgt>
                                        </p:tgtEl>
                                        <p:attrNameLst>
                                          <p:attrName>style.visibility</p:attrName>
                                        </p:attrNameLst>
                                      </p:cBhvr>
                                      <p:to>
                                        <p:strVal val="visible"/>
                                      </p:to>
                                    </p:set>
                                  </p:childTnLst>
                                </p:cTn>
                              </p:par>
                              <p:par>
                                <p:cTn id="9" presetID="1" presetClass="entr" presetSubtype="0" fill="hold" grpId="1" nodeType="withEffect">
                                  <p:stCondLst>
                                    <p:cond delay="0"/>
                                  </p:stCondLst>
                                  <p:iterate>
                                    <p:tmAbs val="0"/>
                                  </p:iterate>
                                  <p:childTnLst>
                                    <p:set>
                                      <p:cBhvr>
                                        <p:cTn id="10" fill="hold"/>
                                        <p:tgtEl>
                                          <p:spTgt spid="217">
                                            <p:txEl>
                                              <p:pRg st="1" end="1"/>
                                            </p:txEl>
                                          </p:spTgt>
                                        </p:tgtEl>
                                        <p:attrNameLst>
                                          <p:attrName>style.visibility</p:attrName>
                                        </p:attrNameLst>
                                      </p:cBhvr>
                                      <p:to>
                                        <p:strVal val="visible"/>
                                      </p:to>
                                    </p:set>
                                  </p:childTnLst>
                                </p:cTn>
                              </p:par>
                              <p:par>
                                <p:cTn id="11" presetID="1" presetClass="entr" presetSubtype="0" fill="hold" grpId="1" nodeType="withEffect">
                                  <p:stCondLst>
                                    <p:cond delay="0"/>
                                  </p:stCondLst>
                                  <p:iterate>
                                    <p:tmAbs val="0"/>
                                  </p:iterate>
                                  <p:childTnLst>
                                    <p:set>
                                      <p:cBhvr>
                                        <p:cTn id="12" fill="hold"/>
                                        <p:tgtEl>
                                          <p:spTgt spid="217">
                                            <p:txEl>
                                              <p:pRg st="2" end="2"/>
                                            </p:txEl>
                                          </p:spTgt>
                                        </p:tgtEl>
                                        <p:attrNameLst>
                                          <p:attrName>style.visibility</p:attrName>
                                        </p:attrNameLst>
                                      </p:cBhvr>
                                      <p:to>
                                        <p:strVal val="visible"/>
                                      </p:to>
                                    </p:set>
                                  </p:childTnLst>
                                </p:cTn>
                              </p:par>
                              <p:par>
                                <p:cTn id="13" presetID="1" presetClass="entr" presetSubtype="0" fill="hold" grpId="1" nodeType="withEffect">
                                  <p:stCondLst>
                                    <p:cond delay="0"/>
                                  </p:stCondLst>
                                  <p:iterate>
                                    <p:tmAbs val="0"/>
                                  </p:iterate>
                                  <p:childTnLst>
                                    <p:set>
                                      <p:cBhvr>
                                        <p:cTn id="14" fill="hold"/>
                                        <p:tgtEl>
                                          <p:spTgt spid="217">
                                            <p:txEl>
                                              <p:pRg st="3" end="3"/>
                                            </p:txEl>
                                          </p:spTgt>
                                        </p:tgtEl>
                                        <p:attrNameLst>
                                          <p:attrName>style.visibility</p:attrName>
                                        </p:attrNameLst>
                                      </p:cBhvr>
                                      <p:to>
                                        <p:strVal val="visible"/>
                                      </p:to>
                                    </p:set>
                                  </p:childTnLst>
                                </p:cTn>
                              </p:par>
                              <p:par>
                                <p:cTn id="15" presetID="1" presetClass="entr" presetSubtype="0" fill="hold" grpId="1" nodeType="withEffect">
                                  <p:stCondLst>
                                    <p:cond delay="0"/>
                                  </p:stCondLst>
                                  <p:iterate>
                                    <p:tmAbs val="0"/>
                                  </p:iterate>
                                  <p:childTnLst>
                                    <p:set>
                                      <p:cBhvr>
                                        <p:cTn id="16" fill="hold"/>
                                        <p:tgtEl>
                                          <p:spTgt spid="217">
                                            <p:txEl>
                                              <p:pRg st="4" end="4"/>
                                            </p:txEl>
                                          </p:spTgt>
                                        </p:tgtEl>
                                        <p:attrNameLst>
                                          <p:attrName>style.visibility</p:attrName>
                                        </p:attrNameLst>
                                      </p:cBhvr>
                                      <p:to>
                                        <p:strVal val="visible"/>
                                      </p:to>
                                    </p:set>
                                  </p:childTnLst>
                                </p:cTn>
                              </p:par>
                              <p:par>
                                <p:cTn id="17" presetID="1" presetClass="entr" presetSubtype="0" fill="hold" grpId="1" nodeType="withEffect">
                                  <p:stCondLst>
                                    <p:cond delay="0"/>
                                  </p:stCondLst>
                                  <p:iterate>
                                    <p:tmAbs val="0"/>
                                  </p:iterate>
                                  <p:childTnLst>
                                    <p:set>
                                      <p:cBhvr>
                                        <p:cTn id="18" fill="hold"/>
                                        <p:tgtEl>
                                          <p:spTgt spid="217">
                                            <p:txEl>
                                              <p:pRg st="5" end="5"/>
                                            </p:txEl>
                                          </p:spTgt>
                                        </p:tgtEl>
                                        <p:attrNameLst>
                                          <p:attrName>style.visibility</p:attrName>
                                        </p:attrNameLst>
                                      </p:cBhvr>
                                      <p:to>
                                        <p:strVal val="visible"/>
                                      </p:to>
                                    </p:set>
                                  </p:childTnLst>
                                </p:cTn>
                              </p:par>
                              <p:par>
                                <p:cTn id="19" presetID="1" presetClass="entr" presetSubtype="0" fill="hold" grpId="1" nodeType="withEffect">
                                  <p:stCondLst>
                                    <p:cond delay="0"/>
                                  </p:stCondLst>
                                  <p:iterate>
                                    <p:tmAbs val="0"/>
                                  </p:iterate>
                                  <p:childTnLst>
                                    <p:set>
                                      <p:cBhvr>
                                        <p:cTn id="20" fill="hold"/>
                                        <p:tgtEl>
                                          <p:spTgt spid="217">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7" grpId="1" build="p" animBg="1" advAuto="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What is the free energy of a reaction?"/>
          <p:cNvSpPr txBox="1">
            <a:spLocks noGrp="1"/>
          </p:cNvSpPr>
          <p:nvPr>
            <p:ph type="title"/>
          </p:nvPr>
        </p:nvSpPr>
        <p:spPr>
          <a:prstGeom prst="rect">
            <a:avLst/>
          </a:prstGeom>
        </p:spPr>
        <p:txBody>
          <a:bodyPr/>
          <a:lstStyle>
            <a:lvl1pPr defTabSz="739378">
              <a:defRPr sz="10080"/>
            </a:lvl1pPr>
          </a:lstStyle>
          <a:p>
            <a:r>
              <a:t>What is the free energy of a reaction?</a:t>
            </a:r>
          </a:p>
        </p:txBody>
      </p:sp>
      <p:sp>
        <p:nvSpPr>
          <p:cNvPr id="221" name="Slide Number"/>
          <p:cNvSpPr txBox="1">
            <a:spLocks noGrp="1"/>
          </p:cNvSpPr>
          <p:nvPr>
            <p:ph type="sldNum" sz="quarter" idx="2"/>
          </p:nvPr>
        </p:nvSpPr>
        <p:spPr>
          <a:xfrm>
            <a:off x="12020548" y="13010554"/>
            <a:ext cx="325045" cy="51117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6</a:t>
            </a:fld>
            <a:endParaRPr/>
          </a:p>
        </p:txBody>
      </p:sp>
      <p:pic>
        <p:nvPicPr>
          <p:cNvPr id="222" name="Picture 2" descr="Picture 2"/>
          <p:cNvPicPr>
            <a:picLocks noChangeAspect="1"/>
          </p:cNvPicPr>
          <p:nvPr/>
        </p:nvPicPr>
        <p:blipFill>
          <a:blip r:embed="rId2"/>
          <a:stretch>
            <a:fillRect/>
          </a:stretch>
        </p:blipFill>
        <p:spPr>
          <a:xfrm>
            <a:off x="3236765" y="3553432"/>
            <a:ext cx="17892611" cy="8255001"/>
          </a:xfrm>
          <a:prstGeom prst="rect">
            <a:avLst/>
          </a:prstGeom>
          <a:ln w="12700">
            <a:miter lim="400000"/>
          </a:ln>
        </p:spPr>
      </p:pic>
      <p:sp>
        <p:nvSpPr>
          <p:cNvPr id="223" name="https://chem.libretexts.org/Bookshelves/Analytical_Chemistry/Supplemental_Modules_(Analytical_Chemistry)/Electrochemistry/Electrochemistry_and_Thermodynamics"/>
          <p:cNvSpPr txBox="1"/>
          <p:nvPr/>
        </p:nvSpPr>
        <p:spPr>
          <a:xfrm>
            <a:off x="5486640" y="12118119"/>
            <a:ext cx="13410722" cy="35971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anchor="ctr">
            <a:spAutoFit/>
          </a:bodyPr>
          <a:lstStyle/>
          <a:p>
            <a:r>
              <a:rPr sz="1400" dirty="0"/>
              <a:t>https://</a:t>
            </a:r>
            <a:r>
              <a:rPr sz="1400" dirty="0" err="1"/>
              <a:t>chem.libretexts.org</a:t>
            </a:r>
            <a:r>
              <a:rPr sz="1400" dirty="0"/>
              <a:t>/Bookshelves/</a:t>
            </a:r>
            <a:r>
              <a:rPr sz="1400" dirty="0" err="1"/>
              <a:t>Analytical_Chemistry</a:t>
            </a:r>
            <a:r>
              <a:rPr sz="1400" dirty="0"/>
              <a:t>/</a:t>
            </a:r>
            <a:r>
              <a:rPr sz="1400" dirty="0" err="1"/>
              <a:t>Supplemental_Modules</a:t>
            </a:r>
            <a:r>
              <a:rPr sz="1400" dirty="0"/>
              <a:t>_(</a:t>
            </a:r>
            <a:r>
              <a:rPr sz="1400" dirty="0" err="1"/>
              <a:t>Analytical_Chemistry</a:t>
            </a:r>
            <a:r>
              <a:rPr sz="1400" dirty="0"/>
              <a:t>)/Electrochemistry/</a:t>
            </a:r>
            <a:r>
              <a:rPr sz="1400" dirty="0" err="1"/>
              <a:t>Electrochemistry_and_Thermodynamics</a:t>
            </a:r>
            <a:endParaRPr sz="1400" dirty="0"/>
          </a:p>
        </p:txBody>
      </p:sp>
      <mc:AlternateContent xmlns:mc="http://schemas.openxmlformats.org/markup-compatibility/2006" xmlns:a14="http://schemas.microsoft.com/office/drawing/2010/main">
        <mc:Choice Requires="a14">
          <p:sp>
            <p:nvSpPr>
              <p:cNvPr id="224" name="Equation"/>
              <p:cNvSpPr txBox="1"/>
              <p:nvPr/>
            </p:nvSpPr>
            <p:spPr>
              <a:xfrm>
                <a:off x="8587182" y="3176872"/>
                <a:ext cx="7191777" cy="445136"/>
              </a:xfrm>
              <a:prstGeom prst="rect">
                <a:avLst/>
              </a:prstGeom>
              <a:ln w="12700">
                <a:miter lim="400000"/>
              </a:ln>
            </p:spPr>
            <p:txBody>
              <a:bodyPr wrap="none" lIns="0" tIns="0" rIns="0" bIns="0">
                <a:spAutoFit/>
              </a:bodyPr>
              <a:lstStyle/>
              <a:p>
                <a:pPr algn="l" defTabSz="914400" latinLnBrk="1">
                  <a:defRPr sz="1800"/>
                </a:pPr>
                <a14:m>
                  <m:oMathPara xmlns:m="http://schemas.openxmlformats.org/officeDocument/2006/math">
                    <m:oMathParaPr>
                      <m:jc m:val="centerGroup"/>
                    </m:oMathParaPr>
                    <m:oMath xmlns:m="http://schemas.openxmlformats.org/officeDocument/2006/math">
                      <m:r>
                        <m:rPr>
                          <m:sty m:val="p"/>
                        </m:rPr>
                        <a:rPr sz="5000" i="1">
                          <a:solidFill>
                            <a:srgbClr val="000000"/>
                          </a:solidFill>
                          <a:latin typeface="Cambria Math" panose="02040503050406030204" pitchFamily="18" charset="0"/>
                        </a:rPr>
                        <m:t>Δ</m:t>
                      </m:r>
                      <m:r>
                        <a:rPr sz="5000" i="1">
                          <a:solidFill>
                            <a:srgbClr val="000000"/>
                          </a:solidFill>
                          <a:latin typeface="Cambria Math" panose="02040503050406030204" pitchFamily="18" charset="0"/>
                        </a:rPr>
                        <m:t>𝐺</m:t>
                      </m:r>
                      <m:r>
                        <a:rPr sz="5000" i="1">
                          <a:solidFill>
                            <a:srgbClr val="000000"/>
                          </a:solidFill>
                          <a:latin typeface="Cambria Math" panose="02040503050406030204" pitchFamily="18" charset="0"/>
                        </a:rPr>
                        <m:t>=</m:t>
                      </m:r>
                      <m:r>
                        <m:rPr>
                          <m:sty m:val="p"/>
                        </m:rPr>
                        <a:rPr sz="5000" i="1">
                          <a:solidFill>
                            <a:srgbClr val="000000"/>
                          </a:solidFill>
                          <a:latin typeface="Cambria Math" panose="02040503050406030204" pitchFamily="18" charset="0"/>
                        </a:rPr>
                        <m:t>Δ</m:t>
                      </m:r>
                      <m:r>
                        <a:rPr sz="5000" i="1">
                          <a:solidFill>
                            <a:srgbClr val="000000"/>
                          </a:solidFill>
                          <a:latin typeface="Cambria Math" panose="02040503050406030204" pitchFamily="18" charset="0"/>
                        </a:rPr>
                        <m:t>𝐻</m:t>
                      </m:r>
                      <m:r>
                        <a:rPr sz="5000" i="1">
                          <a:solidFill>
                            <a:srgbClr val="000000"/>
                          </a:solidFill>
                          <a:latin typeface="Cambria Math" panose="02040503050406030204" pitchFamily="18" charset="0"/>
                        </a:rPr>
                        <m:t>−</m:t>
                      </m:r>
                      <m:r>
                        <a:rPr sz="5000" i="1">
                          <a:solidFill>
                            <a:srgbClr val="000000"/>
                          </a:solidFill>
                          <a:latin typeface="Cambria Math" panose="02040503050406030204" pitchFamily="18" charset="0"/>
                        </a:rPr>
                        <m:t>𝑇</m:t>
                      </m:r>
                      <m:r>
                        <m:rPr>
                          <m:sty m:val="p"/>
                        </m:rPr>
                        <a:rPr sz="5000" i="1">
                          <a:solidFill>
                            <a:srgbClr val="000000"/>
                          </a:solidFill>
                          <a:latin typeface="Cambria Math" panose="02040503050406030204" pitchFamily="18" charset="0"/>
                        </a:rPr>
                        <m:t>Δ</m:t>
                      </m:r>
                      <m:r>
                        <a:rPr sz="5000" i="1">
                          <a:solidFill>
                            <a:srgbClr val="000000"/>
                          </a:solidFill>
                          <a:latin typeface="Cambria Math" panose="02040503050406030204" pitchFamily="18" charset="0"/>
                        </a:rPr>
                        <m:t>𝑆</m:t>
                      </m:r>
                      <m:r>
                        <a:rPr sz="5000" i="1">
                          <a:solidFill>
                            <a:srgbClr val="000000"/>
                          </a:solidFill>
                          <a:latin typeface="Cambria Math" panose="02040503050406030204" pitchFamily="18" charset="0"/>
                        </a:rPr>
                        <m:t>=</m:t>
                      </m:r>
                      <m:r>
                        <a:rPr sz="5000" i="1">
                          <a:solidFill>
                            <a:srgbClr val="000000"/>
                          </a:solidFill>
                          <a:latin typeface="Cambria Math" panose="02040503050406030204" pitchFamily="18" charset="0"/>
                        </a:rPr>
                        <m:t>𝑅𝑇</m:t>
                      </m:r>
                      <m:r>
                        <m:rPr>
                          <m:sty m:val="p"/>
                        </m:rPr>
                        <a:rPr sz="5000" i="1">
                          <a:solidFill>
                            <a:srgbClr val="000000"/>
                          </a:solidFill>
                          <a:latin typeface="Cambria Math" panose="02040503050406030204" pitchFamily="18" charset="0"/>
                        </a:rPr>
                        <m:t>ln</m:t>
                      </m:r>
                      <m:r>
                        <a:rPr sz="5000" i="1">
                          <a:solidFill>
                            <a:srgbClr val="000000"/>
                          </a:solidFill>
                          <a:latin typeface="Cambria Math" panose="02040503050406030204" pitchFamily="18" charset="0"/>
                        </a:rPr>
                        <m:t>𝐾</m:t>
                      </m:r>
                    </m:oMath>
                  </m:oMathPara>
                </a14:m>
                <a:endParaRPr sz="5000"/>
              </a:p>
            </p:txBody>
          </p:sp>
        </mc:Choice>
        <mc:Fallback xmlns="">
          <p:sp>
            <p:nvSpPr>
              <p:cNvPr id="224" name="Equation"/>
              <p:cNvSpPr txBox="1">
                <a:spLocks noRot="1" noChangeAspect="1" noMove="1" noResize="1" noEditPoints="1" noAdjustHandles="1" noChangeArrowheads="1" noChangeShapeType="1" noTextEdit="1"/>
              </p:cNvSpPr>
              <p:nvPr/>
            </p:nvSpPr>
            <p:spPr>
              <a:xfrm>
                <a:off x="8587182" y="3176872"/>
                <a:ext cx="7191777" cy="445136"/>
              </a:xfrm>
              <a:prstGeom prst="rect">
                <a:avLst/>
              </a:prstGeom>
              <a:blipFill>
                <a:blip r:embed="rId3"/>
                <a:stretch>
                  <a:fillRect l="-1411" r="-1235" b="-77778"/>
                </a:stretch>
              </a:blipFill>
              <a:ln w="12700">
                <a:miter lim="400000"/>
              </a:ln>
            </p:spPr>
            <p:txBody>
              <a:bodyPr/>
              <a:lstStyle/>
              <a:p>
                <a:r>
                  <a:rPr lang="en-US">
                    <a:noFill/>
                  </a:rPr>
                  <a:t> </a:t>
                </a:r>
              </a:p>
            </p:txBody>
          </p:sp>
        </mc:Fallback>
      </mc:AlternateContent>
    </p:spTree>
  </p:cSld>
  <p:clrMapOvr>
    <a:masterClrMapping/>
  </p:clrMapOvr>
  <p:transition spd="me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How are free energy calculations useful?"/>
          <p:cNvSpPr txBox="1">
            <a:spLocks noGrp="1"/>
          </p:cNvSpPr>
          <p:nvPr>
            <p:ph type="title"/>
          </p:nvPr>
        </p:nvSpPr>
        <p:spPr>
          <a:prstGeom prst="rect">
            <a:avLst/>
          </a:prstGeom>
        </p:spPr>
        <p:txBody>
          <a:bodyPr>
            <a:normAutofit fontScale="90000"/>
          </a:bodyPr>
          <a:lstStyle>
            <a:lvl1pPr defTabSz="681870">
              <a:defRPr sz="9296"/>
            </a:lvl1pPr>
          </a:lstStyle>
          <a:p>
            <a:r>
              <a:t>How are free energy calculations useful?</a:t>
            </a:r>
          </a:p>
        </p:txBody>
      </p:sp>
      <p:sp>
        <p:nvSpPr>
          <p:cNvPr id="227" name="Noncovalent binding between molecules (see [2])…"/>
          <p:cNvSpPr txBox="1">
            <a:spLocks noGrp="1"/>
          </p:cNvSpPr>
          <p:nvPr>
            <p:ph type="body" idx="1"/>
          </p:nvPr>
        </p:nvSpPr>
        <p:spPr>
          <a:prstGeom prst="rect">
            <a:avLst/>
          </a:prstGeom>
        </p:spPr>
        <p:txBody>
          <a:bodyPr/>
          <a:lstStyle/>
          <a:p>
            <a:r>
              <a:t>Noncovalent binding between molecules (see [2])</a:t>
            </a:r>
          </a:p>
          <a:p>
            <a:pPr lvl="1"/>
            <a:r>
              <a:t>Design molecules to manipulate protein function</a:t>
            </a:r>
          </a:p>
          <a:p>
            <a:pPr lvl="1"/>
            <a:r>
              <a:t>Recognize toxins</a:t>
            </a:r>
          </a:p>
          <a:p>
            <a:pPr lvl="1"/>
            <a:r>
              <a:t>Identify enzyme functions</a:t>
            </a:r>
          </a:p>
          <a:p>
            <a:pPr lvl="1"/>
            <a:r>
              <a:t>Protein design: design binders to target molecule</a:t>
            </a:r>
          </a:p>
          <a:p>
            <a:pPr lvl="1"/>
            <a:r>
              <a:t>Aid medicinal chemistry, guide synthesis</a:t>
            </a:r>
          </a:p>
          <a:p>
            <a:r>
              <a:t>Hydration free energies</a:t>
            </a:r>
          </a:p>
          <a:p>
            <a:pPr lvl="1"/>
            <a:r>
              <a:t>Part of binding free energy &amp; solubility</a:t>
            </a:r>
          </a:p>
          <a:p>
            <a:r>
              <a:t>Conformational free energies relevant to</a:t>
            </a:r>
          </a:p>
          <a:p>
            <a:pPr lvl="1"/>
            <a:r>
              <a:t>biological mechanism</a:t>
            </a:r>
          </a:p>
          <a:p>
            <a:pPr lvl="1"/>
            <a:r>
              <a:t>binding free energy</a:t>
            </a:r>
          </a:p>
        </p:txBody>
      </p:sp>
      <p:grpSp>
        <p:nvGrpSpPr>
          <p:cNvPr id="234" name="Group"/>
          <p:cNvGrpSpPr/>
          <p:nvPr/>
        </p:nvGrpSpPr>
        <p:grpSpPr>
          <a:xfrm>
            <a:off x="18193466" y="5264873"/>
            <a:ext cx="4876801" cy="5523054"/>
            <a:chOff x="-215900" y="-139700"/>
            <a:chExt cx="4876800" cy="5523052"/>
          </a:xfrm>
        </p:grpSpPr>
        <p:grpSp>
          <p:nvGrpSpPr>
            <p:cNvPr id="232" name="Group"/>
            <p:cNvGrpSpPr/>
            <p:nvPr/>
          </p:nvGrpSpPr>
          <p:grpSpPr>
            <a:xfrm>
              <a:off x="-215900" y="-139700"/>
              <a:ext cx="4876800" cy="4597400"/>
              <a:chOff x="-215900" y="-139700"/>
              <a:chExt cx="4876800" cy="4597400"/>
            </a:xfrm>
          </p:grpSpPr>
          <p:grpSp>
            <p:nvGrpSpPr>
              <p:cNvPr id="230" name="image26.png"/>
              <p:cNvGrpSpPr/>
              <p:nvPr/>
            </p:nvGrpSpPr>
            <p:grpSpPr>
              <a:xfrm>
                <a:off x="-215900" y="-139700"/>
                <a:ext cx="4876800" cy="3888033"/>
                <a:chOff x="0" y="0"/>
                <a:chExt cx="4876800" cy="3888032"/>
              </a:xfrm>
            </p:grpSpPr>
            <p:pic>
              <p:nvPicPr>
                <p:cNvPr id="229" name="image26.png" descr="image26.png"/>
                <p:cNvPicPr>
                  <a:picLocks noChangeAspect="1"/>
                </p:cNvPicPr>
                <p:nvPr/>
              </p:nvPicPr>
              <p:blipFill>
                <a:blip r:embed="rId2"/>
                <a:srcRect/>
                <a:stretch>
                  <a:fillRect/>
                </a:stretch>
              </p:blipFill>
              <p:spPr>
                <a:xfrm>
                  <a:off x="215900" y="139700"/>
                  <a:ext cx="4445000" cy="3329233"/>
                </a:xfrm>
                <a:custGeom>
                  <a:avLst/>
                  <a:gdLst/>
                  <a:ahLst/>
                  <a:cxnLst>
                    <a:cxn ang="0">
                      <a:pos x="wd2" y="hd2"/>
                    </a:cxn>
                    <a:cxn ang="5400000">
                      <a:pos x="wd2" y="hd2"/>
                    </a:cxn>
                    <a:cxn ang="10800000">
                      <a:pos x="wd2" y="hd2"/>
                    </a:cxn>
                    <a:cxn ang="16200000">
                      <a:pos x="wd2" y="hd2"/>
                    </a:cxn>
                  </a:cxnLst>
                  <a:rect l="0" t="0" r="r" b="b"/>
                  <a:pathLst>
                    <a:path w="21600" h="21600" extrusionOk="0">
                      <a:moveTo>
                        <a:pt x="2910" y="0"/>
                      </a:moveTo>
                      <a:lnTo>
                        <a:pt x="2787" y="317"/>
                      </a:lnTo>
                      <a:cubicBezTo>
                        <a:pt x="2718" y="491"/>
                        <a:pt x="2552" y="792"/>
                        <a:pt x="2418" y="986"/>
                      </a:cubicBezTo>
                      <a:cubicBezTo>
                        <a:pt x="2285" y="1181"/>
                        <a:pt x="2155" y="1381"/>
                        <a:pt x="2127" y="1432"/>
                      </a:cubicBezTo>
                      <a:cubicBezTo>
                        <a:pt x="2081" y="1516"/>
                        <a:pt x="2021" y="1528"/>
                        <a:pt x="1402" y="1568"/>
                      </a:cubicBezTo>
                      <a:lnTo>
                        <a:pt x="727" y="1612"/>
                      </a:lnTo>
                      <a:lnTo>
                        <a:pt x="430" y="1393"/>
                      </a:lnTo>
                      <a:cubicBezTo>
                        <a:pt x="267" y="1273"/>
                        <a:pt x="104" y="1164"/>
                        <a:pt x="67" y="1148"/>
                      </a:cubicBezTo>
                      <a:cubicBezTo>
                        <a:pt x="1" y="1120"/>
                        <a:pt x="0" y="1167"/>
                        <a:pt x="0" y="11360"/>
                      </a:cubicBezTo>
                      <a:lnTo>
                        <a:pt x="0" y="21600"/>
                      </a:lnTo>
                      <a:lnTo>
                        <a:pt x="10800" y="21600"/>
                      </a:lnTo>
                      <a:lnTo>
                        <a:pt x="21600" y="21600"/>
                      </a:lnTo>
                      <a:lnTo>
                        <a:pt x="21600" y="10799"/>
                      </a:lnTo>
                      <a:lnTo>
                        <a:pt x="21600" y="0"/>
                      </a:lnTo>
                      <a:lnTo>
                        <a:pt x="12256" y="0"/>
                      </a:lnTo>
                      <a:lnTo>
                        <a:pt x="2910" y="0"/>
                      </a:lnTo>
                      <a:close/>
                    </a:path>
                  </a:pathLst>
                </a:custGeom>
                <a:ln>
                  <a:noFill/>
                </a:ln>
                <a:effectLst/>
              </p:spPr>
            </p:pic>
            <p:pic>
              <p:nvPicPr>
                <p:cNvPr id="228" name="image26.png" descr="image26.png"/>
                <p:cNvPicPr>
                  <a:picLocks/>
                </p:cNvPicPr>
                <p:nvPr/>
              </p:nvPicPr>
              <p:blipFill>
                <a:blip r:embed="rId3"/>
                <a:stretch>
                  <a:fillRect/>
                </a:stretch>
              </p:blipFill>
              <p:spPr>
                <a:xfrm>
                  <a:off x="0" y="0"/>
                  <a:ext cx="4876800" cy="3888033"/>
                </a:xfrm>
                <a:prstGeom prst="rect">
                  <a:avLst/>
                </a:prstGeom>
                <a:effectLst/>
              </p:spPr>
            </p:pic>
          </p:grpSp>
          <p:pic>
            <p:nvPicPr>
              <p:cNvPr id="231" name="image27.png" descr="image27.png"/>
              <p:cNvPicPr>
                <a:picLocks noChangeAspect="1"/>
              </p:cNvPicPr>
              <p:nvPr/>
            </p:nvPicPr>
            <p:blipFill>
              <a:blip r:embed="rId4"/>
              <a:stretch>
                <a:fillRect/>
              </a:stretch>
            </p:blipFill>
            <p:spPr>
              <a:xfrm>
                <a:off x="635000" y="3784600"/>
                <a:ext cx="3165390" cy="673100"/>
              </a:xfrm>
              <a:prstGeom prst="rect">
                <a:avLst/>
              </a:prstGeom>
              <a:ln w="12700" cap="flat">
                <a:noFill/>
                <a:miter lim="400000"/>
              </a:ln>
              <a:effectLst/>
            </p:spPr>
          </p:pic>
        </p:grpSp>
        <p:sp>
          <p:nvSpPr>
            <p:cNvPr id="233" name="(from [1])"/>
            <p:cNvSpPr txBox="1"/>
            <p:nvPr/>
          </p:nvSpPr>
          <p:spPr>
            <a:xfrm>
              <a:off x="1320601" y="4757877"/>
              <a:ext cx="1803798" cy="625476"/>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ctr">
              <a:spAutoFit/>
            </a:bodyPr>
            <a:lstStyle/>
            <a:p>
              <a:r>
                <a:t>(from [1])</a:t>
              </a:r>
            </a:p>
          </p:txBody>
        </p:sp>
      </p:grpSp>
      <p:sp>
        <p:nvSpPr>
          <p:cNvPr id="235" name="Slide Number"/>
          <p:cNvSpPr txBox="1">
            <a:spLocks noGrp="1"/>
          </p:cNvSpPr>
          <p:nvPr>
            <p:ph type="sldNum" sz="quarter" idx="2"/>
          </p:nvPr>
        </p:nvSpPr>
        <p:spPr>
          <a:xfrm>
            <a:off x="12020548" y="13010554"/>
            <a:ext cx="325045" cy="51117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7</a:t>
            </a:fld>
            <a:endParaRPr/>
          </a:p>
        </p:txBody>
      </p:sp>
    </p:spTree>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How are ΔG/ΔA calculated from molecular simulations?"/>
          <p:cNvSpPr txBox="1">
            <a:spLocks noGrp="1"/>
          </p:cNvSpPr>
          <p:nvPr>
            <p:ph type="title"/>
          </p:nvPr>
        </p:nvSpPr>
        <p:spPr>
          <a:prstGeom prst="rect">
            <a:avLst/>
          </a:prstGeom>
        </p:spPr>
        <p:txBody>
          <a:bodyPr/>
          <a:lstStyle/>
          <a:p>
            <a:r>
              <a:t>How are ΔG/ΔA calculated from molecular simulations?</a:t>
            </a:r>
          </a:p>
        </p:txBody>
      </p:sp>
      <p:sp>
        <p:nvSpPr>
          <p:cNvPr id="238" name="Slide Number"/>
          <p:cNvSpPr txBox="1">
            <a:spLocks noGrp="1"/>
          </p:cNvSpPr>
          <p:nvPr>
            <p:ph type="sldNum" sz="quarter" idx="2"/>
          </p:nvPr>
        </p:nvSpPr>
        <p:spPr>
          <a:xfrm>
            <a:off x="12020548" y="13010554"/>
            <a:ext cx="325045" cy="51117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8</a:t>
            </a:fld>
            <a:endParaRPr/>
          </a:p>
        </p:txBody>
      </p:sp>
    </p:spTree>
  </p:cSld>
  <p:clrMapOvr>
    <a:masterClrMapping/>
  </p:clrMapOvr>
  <p:transition spd="me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FC37D2E-E0AA-BE4F-17E7-10C0BE3C6164}"/>
              </a:ext>
            </a:extLst>
          </p:cNvPr>
          <p:cNvSpPr>
            <a:spLocks noGrp="1"/>
          </p:cNvSpPr>
          <p:nvPr>
            <p:ph type="body" sz="quarter" idx="21"/>
          </p:nvPr>
        </p:nvSpPr>
        <p:spPr>
          <a:xfrm>
            <a:off x="6418896" y="11659455"/>
            <a:ext cx="14716126" cy="660798"/>
          </a:xfrm>
        </p:spPr>
        <p:txBody>
          <a:bodyPr/>
          <a:lstStyle/>
          <a:p>
            <a:r>
              <a:rPr lang="en-US" dirty="0"/>
              <a:t>David L. Goodstein (1975) in "States of Matter"</a:t>
            </a:r>
          </a:p>
        </p:txBody>
      </p:sp>
      <p:sp>
        <p:nvSpPr>
          <p:cNvPr id="3" name="Text Placeholder 2">
            <a:extLst>
              <a:ext uri="{FF2B5EF4-FFF2-40B4-BE49-F238E27FC236}">
                <a16:creationId xmlns:a16="http://schemas.microsoft.com/office/drawing/2014/main" id="{89449519-C0A9-D26E-29ED-0A4D67590954}"/>
              </a:ext>
            </a:extLst>
          </p:cNvPr>
          <p:cNvSpPr>
            <a:spLocks noGrp="1"/>
          </p:cNvSpPr>
          <p:nvPr>
            <p:ph type="body" sz="quarter" idx="22"/>
          </p:nvPr>
        </p:nvSpPr>
        <p:spPr>
          <a:xfrm>
            <a:off x="4833937" y="4687012"/>
            <a:ext cx="14716126" cy="5745803"/>
          </a:xfrm>
        </p:spPr>
        <p:txBody>
          <a:bodyPr/>
          <a:lstStyle/>
          <a:p>
            <a:r>
              <a:rPr lang="en-US" dirty="0"/>
              <a:t>Ludwig Boltzmann, who spent much of his life studying Statistical Mechanics, died in 1906, by his own hand. Paul Ehrenfest, carrying on the work, died similarly in 1933. Now it is our turn to study Statistical Mechanics. Perhaps it will be wise to approach the subject cautiously.</a:t>
            </a:r>
          </a:p>
          <a:p>
            <a:endParaRPr lang="en-US" dirty="0"/>
          </a:p>
        </p:txBody>
      </p:sp>
      <p:pic>
        <p:nvPicPr>
          <p:cNvPr id="1029" name="Picture 5" descr="Image">
            <a:extLst>
              <a:ext uri="{FF2B5EF4-FFF2-40B4-BE49-F238E27FC236}">
                <a16:creationId xmlns:a16="http://schemas.microsoft.com/office/drawing/2014/main" id="{B2A8B044-487B-310B-D239-D28313B8FE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08998" y="4086642"/>
            <a:ext cx="19135923" cy="7494903"/>
          </a:xfrm>
          <a:prstGeom prst="rect">
            <a:avLst/>
          </a:prstGeom>
          <a:noFill/>
          <a:extLst>
            <a:ext uri="{909E8E84-426E-40DD-AFC4-6F175D3DCCD1}">
              <a14:hiddenFill xmlns:a14="http://schemas.microsoft.com/office/drawing/2010/main">
                <a:solidFill>
                  <a:srgbClr val="FFFFFF"/>
                </a:solidFill>
              </a14:hiddenFill>
            </a:ext>
          </a:extLst>
        </p:spPr>
      </p:pic>
      <p:pic>
        <p:nvPicPr>
          <p:cNvPr id="1031" name="Picture 7" descr="An anxious descent – Physics World">
            <a:extLst>
              <a:ext uri="{FF2B5EF4-FFF2-40B4-BE49-F238E27FC236}">
                <a16:creationId xmlns:a16="http://schemas.microsoft.com/office/drawing/2014/main" id="{BC3E6586-62FC-91E9-DC8D-FE5E888EB32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5809934"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37143873"/>
      </p:ext>
    </p:extLst>
  </p:cSld>
  <p:clrMapOvr>
    <a:masterClrMapping/>
  </p:clrMapOvr>
  <p:transition spd="me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0" name="Basic Statistical Mechanics"/>
          <p:cNvSpPr txBox="1">
            <a:spLocks noGrp="1"/>
          </p:cNvSpPr>
          <p:nvPr>
            <p:ph type="title"/>
          </p:nvPr>
        </p:nvSpPr>
        <p:spPr>
          <a:prstGeom prst="rect">
            <a:avLst/>
          </a:prstGeom>
        </p:spPr>
        <p:txBody>
          <a:bodyPr/>
          <a:lstStyle/>
          <a:p>
            <a:r>
              <a:t>Basic Statistical Mechanics</a:t>
            </a:r>
          </a:p>
        </p:txBody>
      </p:sp>
      <mc:AlternateContent xmlns:mc="http://schemas.openxmlformats.org/markup-compatibility/2006" xmlns:a14="http://schemas.microsoft.com/office/drawing/2010/main">
        <mc:Choice Requires="a14">
          <p:sp>
            <p:nvSpPr>
              <p:cNvPr id="241" name="In the Boltzmann distribution, the probability of a configuration   with energy   is,…"/>
              <p:cNvSpPr txBox="1">
                <a:spLocks noGrp="1"/>
              </p:cNvSpPr>
              <p:nvPr>
                <p:ph type="body" idx="1"/>
              </p:nvPr>
            </p:nvSpPr>
            <p:spPr>
              <a:prstGeom prst="rect">
                <a:avLst/>
              </a:prstGeom>
            </p:spPr>
            <p:txBody>
              <a:bodyPr>
                <a:normAutofit/>
              </a:bodyPr>
              <a:lstStyle/>
              <a:p>
                <a:pPr>
                  <a:spcBef>
                    <a:spcPts val="1000"/>
                  </a:spcBef>
                </a:pPr>
                <a:r>
                  <a:rPr lang="en-US" dirty="0"/>
                  <a:t>We now connect thermodynamics to quantities we can sample in simulations</a:t>
                </a:r>
              </a:p>
              <a:p>
                <a:pPr>
                  <a:spcBef>
                    <a:spcPts val="1000"/>
                  </a:spcBef>
                </a:pPr>
                <a:r>
                  <a:rPr dirty="0"/>
                  <a:t>In the Boltzmann distribution, the probability of a configuration </a:t>
                </a:r>
                <a14:m>
                  <m:oMath xmlns:m="http://schemas.openxmlformats.org/officeDocument/2006/math">
                    <m:sSup>
                      <m:sSupPr>
                        <m:ctrlPr>
                          <a:rPr sz="6100" i="1">
                            <a:solidFill>
                              <a:srgbClr val="000000"/>
                            </a:solidFill>
                            <a:latin typeface="Cambria Math" panose="02040503050406030204" pitchFamily="18" charset="0"/>
                          </a:rPr>
                        </m:ctrlPr>
                      </m:sSupPr>
                      <m:e>
                        <m:r>
                          <a:rPr sz="6100" i="1">
                            <a:solidFill>
                              <a:srgbClr val="000000"/>
                            </a:solidFill>
                            <a:latin typeface="Cambria Math" panose="02040503050406030204" pitchFamily="18" charset="0"/>
                          </a:rPr>
                          <m:t>𝑟</m:t>
                        </m:r>
                      </m:e>
                      <m:sup>
                        <m:r>
                          <a:rPr sz="6100" i="1">
                            <a:solidFill>
                              <a:srgbClr val="000000"/>
                            </a:solidFill>
                            <a:latin typeface="Cambria Math" panose="02040503050406030204" pitchFamily="18" charset="0"/>
                          </a:rPr>
                          <m:t>𝑁</m:t>
                        </m:r>
                      </m:sup>
                    </m:sSup>
                  </m:oMath>
                </a14:m>
                <a:r>
                  <a:rPr dirty="0"/>
                  <a:t> with energy </a:t>
                </a:r>
                <a14:m>
                  <m:oMath xmlns:m="http://schemas.openxmlformats.org/officeDocument/2006/math">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𝑈</m:t>
                        </m:r>
                      </m:e>
                      <m:sub>
                        <m:r>
                          <a:rPr sz="6100" i="1">
                            <a:solidFill>
                              <a:srgbClr val="000000"/>
                            </a:solidFill>
                            <a:latin typeface="Cambria Math" panose="02040503050406030204" pitchFamily="18" charset="0"/>
                          </a:rPr>
                          <m:t>𝑠</m:t>
                        </m:r>
                      </m:sub>
                    </m:sSub>
                    <m:r>
                      <a:rPr sz="6100" i="1">
                        <a:solidFill>
                          <a:srgbClr val="000000"/>
                        </a:solidFill>
                        <a:latin typeface="Cambria Math" panose="02040503050406030204" pitchFamily="18" charset="0"/>
                      </a:rPr>
                      <m:t>(</m:t>
                    </m:r>
                    <m:sSup>
                      <m:sSupPr>
                        <m:ctrlPr>
                          <a:rPr sz="6100" i="1">
                            <a:solidFill>
                              <a:srgbClr val="000000"/>
                            </a:solidFill>
                            <a:latin typeface="Cambria Math" panose="02040503050406030204" pitchFamily="18" charset="0"/>
                          </a:rPr>
                        </m:ctrlPr>
                      </m:sSupPr>
                      <m:e>
                        <m:r>
                          <a:rPr sz="6100" i="1">
                            <a:solidFill>
                              <a:srgbClr val="000000"/>
                            </a:solidFill>
                            <a:latin typeface="Cambria Math" panose="02040503050406030204" pitchFamily="18" charset="0"/>
                          </a:rPr>
                          <m:t>𝑟</m:t>
                        </m:r>
                      </m:e>
                      <m:sup>
                        <m:r>
                          <a:rPr sz="6100" i="1">
                            <a:solidFill>
                              <a:srgbClr val="000000"/>
                            </a:solidFill>
                            <a:latin typeface="Cambria Math" panose="02040503050406030204" pitchFamily="18" charset="0"/>
                          </a:rPr>
                          <m:t>𝑁</m:t>
                        </m:r>
                      </m:sup>
                    </m:sSup>
                    <m:r>
                      <a:rPr sz="6100" i="1">
                        <a:solidFill>
                          <a:srgbClr val="000000"/>
                        </a:solidFill>
                        <a:latin typeface="Cambria Math" panose="02040503050406030204" pitchFamily="18" charset="0"/>
                      </a:rPr>
                      <m:t>)</m:t>
                    </m:r>
                  </m:oMath>
                </a14:m>
                <a:r>
                  <a:rPr dirty="0"/>
                  <a:t> is,</a:t>
                </a:r>
              </a:p>
              <a:p>
                <a:pPr marL="0" lvl="1" indent="228600" algn="ctr">
                  <a:spcBef>
                    <a:spcPts val="1000"/>
                  </a:spcBef>
                  <a:buSzTx/>
                  <a:buNone/>
                </a:pPr>
                <a14:m>
                  <m:oMath xmlns:m="http://schemas.openxmlformats.org/officeDocument/2006/math">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𝜋</m:t>
                        </m:r>
                      </m:e>
                      <m:sub>
                        <m:r>
                          <a:rPr sz="6100" i="1">
                            <a:solidFill>
                              <a:srgbClr val="000000"/>
                            </a:solidFill>
                            <a:latin typeface="Cambria Math" panose="02040503050406030204" pitchFamily="18" charset="0"/>
                          </a:rPr>
                          <m:t>𝑠</m:t>
                        </m:r>
                      </m:sub>
                    </m:sSub>
                    <m:r>
                      <a:rPr sz="6100" i="1">
                        <a:solidFill>
                          <a:srgbClr val="000000"/>
                        </a:solidFill>
                        <a:latin typeface="Cambria Math" panose="02040503050406030204" pitchFamily="18" charset="0"/>
                      </a:rPr>
                      <m:t>(</m:t>
                    </m:r>
                    <m:sSup>
                      <m:sSupPr>
                        <m:ctrlPr>
                          <a:rPr sz="6100" i="1">
                            <a:solidFill>
                              <a:srgbClr val="000000"/>
                            </a:solidFill>
                            <a:latin typeface="Cambria Math" panose="02040503050406030204" pitchFamily="18" charset="0"/>
                          </a:rPr>
                        </m:ctrlPr>
                      </m:sSupPr>
                      <m:e>
                        <m:r>
                          <a:rPr sz="6100" i="1">
                            <a:solidFill>
                              <a:srgbClr val="000000"/>
                            </a:solidFill>
                            <a:latin typeface="Cambria Math" panose="02040503050406030204" pitchFamily="18" charset="0"/>
                          </a:rPr>
                          <m:t>𝑟</m:t>
                        </m:r>
                      </m:e>
                      <m:sup>
                        <m:r>
                          <a:rPr sz="6100" i="1">
                            <a:solidFill>
                              <a:srgbClr val="000000"/>
                            </a:solidFill>
                            <a:latin typeface="Cambria Math" panose="02040503050406030204" pitchFamily="18" charset="0"/>
                          </a:rPr>
                          <m:t>𝑁</m:t>
                        </m:r>
                      </m:sup>
                    </m:sSup>
                    <m:r>
                      <a:rPr sz="6100" i="1">
                        <a:solidFill>
                          <a:srgbClr val="000000"/>
                        </a:solidFill>
                        <a:latin typeface="Cambria Math" panose="02040503050406030204" pitchFamily="18" charset="0"/>
                      </a:rPr>
                      <m:t>)∝</m:t>
                    </m:r>
                    <m:r>
                      <m:rPr>
                        <m:sty m:val="p"/>
                      </m:rPr>
                      <a:rPr sz="6100" i="1">
                        <a:solidFill>
                          <a:srgbClr val="000000"/>
                        </a:solidFill>
                        <a:latin typeface="Cambria Math" panose="02040503050406030204" pitchFamily="18" charset="0"/>
                      </a:rPr>
                      <m:t>exp</m:t>
                    </m:r>
                    <m:d>
                      <m:dPr>
                        <m:begChr m:val="["/>
                        <m:endChr m:val="]"/>
                        <m:ctrlPr>
                          <a:rPr sz="6100" i="1">
                            <a:solidFill>
                              <a:srgbClr val="000000"/>
                            </a:solidFill>
                            <a:latin typeface="Cambria Math" panose="02040503050406030204" pitchFamily="18" charset="0"/>
                          </a:rPr>
                        </m:ctrlPr>
                      </m:dPr>
                      <m:e>
                        <m:r>
                          <a:rPr sz="6100" i="1">
                            <a:solidFill>
                              <a:srgbClr val="000000"/>
                            </a:solidFill>
                            <a:latin typeface="Cambria Math" panose="02040503050406030204" pitchFamily="18" charset="0"/>
                          </a:rPr>
                          <m:t>−</m:t>
                        </m:r>
                        <m:r>
                          <a:rPr sz="6100" i="1">
                            <a:solidFill>
                              <a:srgbClr val="000000"/>
                            </a:solidFill>
                            <a:latin typeface="Cambria Math" panose="02040503050406030204" pitchFamily="18" charset="0"/>
                          </a:rPr>
                          <m:t>𝛽</m:t>
                        </m:r>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𝑈</m:t>
                            </m:r>
                          </m:e>
                          <m:sub>
                            <m:r>
                              <a:rPr sz="6100" i="1">
                                <a:solidFill>
                                  <a:srgbClr val="000000"/>
                                </a:solidFill>
                                <a:latin typeface="Cambria Math" panose="02040503050406030204" pitchFamily="18" charset="0"/>
                              </a:rPr>
                              <m:t>𝑠</m:t>
                            </m:r>
                          </m:sub>
                        </m:sSub>
                        <m:r>
                          <a:rPr sz="6100" i="1">
                            <a:solidFill>
                              <a:srgbClr val="000000"/>
                            </a:solidFill>
                            <a:latin typeface="Cambria Math" panose="02040503050406030204" pitchFamily="18" charset="0"/>
                          </a:rPr>
                          <m:t>(</m:t>
                        </m:r>
                        <m:sSup>
                          <m:sSupPr>
                            <m:ctrlPr>
                              <a:rPr sz="6100" i="1">
                                <a:solidFill>
                                  <a:srgbClr val="000000"/>
                                </a:solidFill>
                                <a:latin typeface="Cambria Math" panose="02040503050406030204" pitchFamily="18" charset="0"/>
                              </a:rPr>
                            </m:ctrlPr>
                          </m:sSupPr>
                          <m:e>
                            <m:r>
                              <a:rPr sz="6100" i="1">
                                <a:solidFill>
                                  <a:srgbClr val="000000"/>
                                </a:solidFill>
                                <a:latin typeface="Cambria Math" panose="02040503050406030204" pitchFamily="18" charset="0"/>
                              </a:rPr>
                              <m:t>𝑟</m:t>
                            </m:r>
                          </m:e>
                          <m:sup>
                            <m:r>
                              <a:rPr sz="6100" i="1">
                                <a:solidFill>
                                  <a:srgbClr val="000000"/>
                                </a:solidFill>
                                <a:latin typeface="Cambria Math" panose="02040503050406030204" pitchFamily="18" charset="0"/>
                              </a:rPr>
                              <m:t>𝑁</m:t>
                            </m:r>
                          </m:sup>
                        </m:sSup>
                        <m:r>
                          <a:rPr sz="6100" i="1">
                            <a:solidFill>
                              <a:srgbClr val="000000"/>
                            </a:solidFill>
                            <a:latin typeface="Cambria Math" panose="02040503050406030204" pitchFamily="18" charset="0"/>
                          </a:rPr>
                          <m:t>)</m:t>
                        </m:r>
                      </m:e>
                    </m:d>
                  </m:oMath>
                </a14:m>
                <a:r>
                  <a:rPr dirty="0"/>
                  <a:t> (unnormalized)</a:t>
                </a:r>
              </a:p>
              <a:p>
                <a:pPr marL="0" lvl="1" indent="228600" algn="ctr">
                  <a:spcBef>
                    <a:spcPts val="1000"/>
                  </a:spcBef>
                  <a:buSzTx/>
                  <a:buNone/>
                </a:pPr>
                <a14:m>
                  <m:oMath xmlns:m="http://schemas.openxmlformats.org/officeDocument/2006/math">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𝜌</m:t>
                        </m:r>
                      </m:e>
                      <m:sub>
                        <m:r>
                          <a:rPr sz="6100" i="1">
                            <a:solidFill>
                              <a:srgbClr val="000000"/>
                            </a:solidFill>
                            <a:latin typeface="Cambria Math" panose="02040503050406030204" pitchFamily="18" charset="0"/>
                          </a:rPr>
                          <m:t>𝑠</m:t>
                        </m:r>
                      </m:sub>
                    </m:sSub>
                    <m:r>
                      <a:rPr sz="6100" i="1">
                        <a:solidFill>
                          <a:srgbClr val="000000"/>
                        </a:solidFill>
                        <a:latin typeface="Cambria Math" panose="02040503050406030204" pitchFamily="18" charset="0"/>
                      </a:rPr>
                      <m:t>(</m:t>
                    </m:r>
                    <m:sSup>
                      <m:sSupPr>
                        <m:ctrlPr>
                          <a:rPr sz="6100" i="1">
                            <a:solidFill>
                              <a:srgbClr val="000000"/>
                            </a:solidFill>
                            <a:latin typeface="Cambria Math" panose="02040503050406030204" pitchFamily="18" charset="0"/>
                          </a:rPr>
                        </m:ctrlPr>
                      </m:sSupPr>
                      <m:e>
                        <m:r>
                          <a:rPr sz="6100" i="1">
                            <a:solidFill>
                              <a:srgbClr val="000000"/>
                            </a:solidFill>
                            <a:latin typeface="Cambria Math" panose="02040503050406030204" pitchFamily="18" charset="0"/>
                          </a:rPr>
                          <m:t>𝑟</m:t>
                        </m:r>
                      </m:e>
                      <m:sup>
                        <m:r>
                          <a:rPr sz="6100" i="1">
                            <a:solidFill>
                              <a:srgbClr val="000000"/>
                            </a:solidFill>
                            <a:latin typeface="Cambria Math" panose="02040503050406030204" pitchFamily="18" charset="0"/>
                          </a:rPr>
                          <m:t>𝑁</m:t>
                        </m:r>
                      </m:sup>
                    </m:sSup>
                    <m:r>
                      <a:rPr sz="6100" i="1">
                        <a:solidFill>
                          <a:srgbClr val="000000"/>
                        </a:solidFill>
                        <a:latin typeface="Cambria Math" panose="02040503050406030204" pitchFamily="18" charset="0"/>
                      </a:rPr>
                      <m:t>)=</m:t>
                    </m:r>
                    <m:r>
                      <m:rPr>
                        <m:sty m:val="p"/>
                      </m:rPr>
                      <a:rPr sz="6100" i="1">
                        <a:solidFill>
                          <a:srgbClr val="000000"/>
                        </a:solidFill>
                        <a:latin typeface="Cambria Math" panose="02040503050406030204" pitchFamily="18" charset="0"/>
                      </a:rPr>
                      <m:t>exp</m:t>
                    </m:r>
                    <m:d>
                      <m:dPr>
                        <m:begChr m:val="["/>
                        <m:endChr m:val="]"/>
                        <m:ctrlPr>
                          <a:rPr sz="6100" i="1">
                            <a:solidFill>
                              <a:srgbClr val="000000"/>
                            </a:solidFill>
                            <a:latin typeface="Cambria Math" panose="02040503050406030204" pitchFamily="18" charset="0"/>
                          </a:rPr>
                        </m:ctrlPr>
                      </m:dPr>
                      <m:e>
                        <m:r>
                          <a:rPr sz="6100" i="1">
                            <a:solidFill>
                              <a:srgbClr val="000000"/>
                            </a:solidFill>
                            <a:latin typeface="Cambria Math" panose="02040503050406030204" pitchFamily="18" charset="0"/>
                          </a:rPr>
                          <m:t>−</m:t>
                        </m:r>
                        <m:r>
                          <a:rPr sz="6100" i="1">
                            <a:solidFill>
                              <a:srgbClr val="000000"/>
                            </a:solidFill>
                            <a:latin typeface="Cambria Math" panose="02040503050406030204" pitchFamily="18" charset="0"/>
                          </a:rPr>
                          <m:t>𝛽</m:t>
                        </m:r>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𝑈</m:t>
                            </m:r>
                          </m:e>
                          <m:sub>
                            <m:r>
                              <a:rPr sz="6100" i="1">
                                <a:solidFill>
                                  <a:srgbClr val="000000"/>
                                </a:solidFill>
                                <a:latin typeface="Cambria Math" panose="02040503050406030204" pitchFamily="18" charset="0"/>
                              </a:rPr>
                              <m:t>𝑠</m:t>
                            </m:r>
                          </m:sub>
                        </m:sSub>
                        <m:r>
                          <a:rPr sz="6100" i="1">
                            <a:solidFill>
                              <a:srgbClr val="000000"/>
                            </a:solidFill>
                            <a:latin typeface="Cambria Math" panose="02040503050406030204" pitchFamily="18" charset="0"/>
                          </a:rPr>
                          <m:t>(</m:t>
                        </m:r>
                        <m:sSup>
                          <m:sSupPr>
                            <m:ctrlPr>
                              <a:rPr sz="6100" i="1">
                                <a:solidFill>
                                  <a:srgbClr val="000000"/>
                                </a:solidFill>
                                <a:latin typeface="Cambria Math" panose="02040503050406030204" pitchFamily="18" charset="0"/>
                              </a:rPr>
                            </m:ctrlPr>
                          </m:sSupPr>
                          <m:e>
                            <m:r>
                              <a:rPr sz="6100" i="1">
                                <a:solidFill>
                                  <a:srgbClr val="000000"/>
                                </a:solidFill>
                                <a:latin typeface="Cambria Math" panose="02040503050406030204" pitchFamily="18" charset="0"/>
                              </a:rPr>
                              <m:t>𝑟</m:t>
                            </m:r>
                          </m:e>
                          <m:sup>
                            <m:r>
                              <a:rPr sz="6100" i="1">
                                <a:solidFill>
                                  <a:srgbClr val="000000"/>
                                </a:solidFill>
                                <a:latin typeface="Cambria Math" panose="02040503050406030204" pitchFamily="18" charset="0"/>
                              </a:rPr>
                              <m:t>𝑁</m:t>
                            </m:r>
                          </m:sup>
                        </m:sSup>
                        <m:r>
                          <a:rPr sz="6100" i="1">
                            <a:solidFill>
                              <a:srgbClr val="000000"/>
                            </a:solidFill>
                            <a:latin typeface="Cambria Math" panose="02040503050406030204" pitchFamily="18" charset="0"/>
                          </a:rPr>
                          <m:t>)</m:t>
                        </m:r>
                      </m:e>
                    </m:d>
                    <m:r>
                      <a:rPr sz="6100" i="1">
                        <a:solidFill>
                          <a:srgbClr val="000000"/>
                        </a:solidFill>
                        <a:latin typeface="Cambria Math" panose="02040503050406030204" pitchFamily="18" charset="0"/>
                      </a:rPr>
                      <m:t>/</m:t>
                    </m:r>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𝑄</m:t>
                        </m:r>
                      </m:e>
                      <m:sub>
                        <m:r>
                          <a:rPr sz="6100" i="1">
                            <a:solidFill>
                              <a:srgbClr val="000000"/>
                            </a:solidFill>
                            <a:latin typeface="Cambria Math" panose="02040503050406030204" pitchFamily="18" charset="0"/>
                          </a:rPr>
                          <m:t>𝑠</m:t>
                        </m:r>
                      </m:sub>
                    </m:sSub>
                  </m:oMath>
                </a14:m>
                <a:r>
                  <a:rPr dirty="0"/>
                  <a:t> (normalized)</a:t>
                </a:r>
              </a:p>
              <a:p>
                <a:pPr>
                  <a:spcBef>
                    <a:spcPts val="1000"/>
                  </a:spcBef>
                </a:pPr>
                <a:r>
                  <a:rPr dirty="0"/>
                  <a:t>A partition function is the normalizing constant of the Boltzmann distribution</a:t>
                </a:r>
              </a:p>
              <a:p>
                <a:pPr marL="0" indent="0" algn="ctr">
                  <a:spcBef>
                    <a:spcPts val="1000"/>
                  </a:spcBef>
                  <a:buSzTx/>
                  <a:buNone/>
                </a:pPr>
                <a14:m>
                  <m:oMathPara xmlns:m="http://schemas.openxmlformats.org/officeDocument/2006/math">
                    <m:oMathParaPr>
                      <m:jc m:val="center"/>
                    </m:oMathParaPr>
                    <m:oMath xmlns:m="http://schemas.openxmlformats.org/officeDocument/2006/math">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𝑄</m:t>
                          </m:r>
                        </m:e>
                        <m:sub>
                          <m:r>
                            <a:rPr sz="6100" i="1">
                              <a:solidFill>
                                <a:srgbClr val="000000"/>
                              </a:solidFill>
                              <a:latin typeface="Cambria Math" panose="02040503050406030204" pitchFamily="18" charset="0"/>
                            </a:rPr>
                            <m:t>𝑠</m:t>
                          </m:r>
                        </m:sub>
                      </m:sSub>
                      <m:r>
                        <a:rPr sz="6100" i="1">
                          <a:solidFill>
                            <a:srgbClr val="000000"/>
                          </a:solidFill>
                          <a:latin typeface="Cambria Math" panose="02040503050406030204" pitchFamily="18" charset="0"/>
                        </a:rPr>
                        <m:t>=∫</m:t>
                      </m:r>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𝜋</m:t>
                          </m:r>
                        </m:e>
                        <m:sub>
                          <m:r>
                            <a:rPr sz="6100" i="1">
                              <a:solidFill>
                                <a:srgbClr val="000000"/>
                              </a:solidFill>
                              <a:latin typeface="Cambria Math" panose="02040503050406030204" pitchFamily="18" charset="0"/>
                            </a:rPr>
                            <m:t>𝑠</m:t>
                          </m:r>
                        </m:sub>
                      </m:sSub>
                      <m:r>
                        <a:rPr sz="6100" i="1">
                          <a:solidFill>
                            <a:srgbClr val="000000"/>
                          </a:solidFill>
                          <a:latin typeface="Cambria Math" panose="02040503050406030204" pitchFamily="18" charset="0"/>
                        </a:rPr>
                        <m:t>(</m:t>
                      </m:r>
                      <m:sSup>
                        <m:sSupPr>
                          <m:ctrlPr>
                            <a:rPr sz="6100" i="1">
                              <a:solidFill>
                                <a:srgbClr val="000000"/>
                              </a:solidFill>
                              <a:latin typeface="Cambria Math" panose="02040503050406030204" pitchFamily="18" charset="0"/>
                            </a:rPr>
                          </m:ctrlPr>
                        </m:sSupPr>
                        <m:e>
                          <m:r>
                            <a:rPr sz="6100" i="1">
                              <a:solidFill>
                                <a:srgbClr val="000000"/>
                              </a:solidFill>
                              <a:latin typeface="Cambria Math" panose="02040503050406030204" pitchFamily="18" charset="0"/>
                            </a:rPr>
                            <m:t>𝑟</m:t>
                          </m:r>
                        </m:e>
                        <m:sup>
                          <m:r>
                            <a:rPr sz="6100" i="1">
                              <a:solidFill>
                                <a:srgbClr val="000000"/>
                              </a:solidFill>
                              <a:latin typeface="Cambria Math" panose="02040503050406030204" pitchFamily="18" charset="0"/>
                            </a:rPr>
                            <m:t>𝑁</m:t>
                          </m:r>
                        </m:sup>
                      </m:sSup>
                      <m:r>
                        <a:rPr sz="6100" i="1">
                          <a:solidFill>
                            <a:srgbClr val="000000"/>
                          </a:solidFill>
                          <a:latin typeface="Cambria Math" panose="02040503050406030204" pitchFamily="18" charset="0"/>
                        </a:rPr>
                        <m:t>)</m:t>
                      </m:r>
                      <m:r>
                        <a:rPr sz="6100" i="1">
                          <a:solidFill>
                            <a:srgbClr val="000000"/>
                          </a:solidFill>
                          <a:latin typeface="Cambria Math" panose="02040503050406030204" pitchFamily="18" charset="0"/>
                        </a:rPr>
                        <m:t>𝑑</m:t>
                      </m:r>
                      <m:sSup>
                        <m:sSupPr>
                          <m:ctrlPr>
                            <a:rPr sz="6100" i="1">
                              <a:solidFill>
                                <a:srgbClr val="000000"/>
                              </a:solidFill>
                              <a:latin typeface="Cambria Math" panose="02040503050406030204" pitchFamily="18" charset="0"/>
                            </a:rPr>
                          </m:ctrlPr>
                        </m:sSupPr>
                        <m:e>
                          <m:r>
                            <a:rPr sz="6100" i="1">
                              <a:solidFill>
                                <a:srgbClr val="000000"/>
                              </a:solidFill>
                              <a:latin typeface="Cambria Math" panose="02040503050406030204" pitchFamily="18" charset="0"/>
                            </a:rPr>
                            <m:t>𝑟</m:t>
                          </m:r>
                        </m:e>
                        <m:sup>
                          <m:r>
                            <a:rPr sz="6100" i="1">
                              <a:solidFill>
                                <a:srgbClr val="000000"/>
                              </a:solidFill>
                              <a:latin typeface="Cambria Math" panose="02040503050406030204" pitchFamily="18" charset="0"/>
                            </a:rPr>
                            <m:t>𝑁</m:t>
                          </m:r>
                        </m:sup>
                      </m:sSup>
                    </m:oMath>
                  </m:oMathPara>
                </a14:m>
                <a:endParaRPr dirty="0"/>
              </a:p>
              <a:p>
                <a:pPr>
                  <a:spcBef>
                    <a:spcPts val="1000"/>
                  </a:spcBef>
                </a:pPr>
                <a:r>
                  <a:rPr dirty="0"/>
                  <a:t>The free energy difference is related to a ratio of partition functions</a:t>
                </a:r>
              </a:p>
              <a:p>
                <a:pPr marL="0" lvl="1" indent="228600" algn="ctr">
                  <a:spcBef>
                    <a:spcPts val="1000"/>
                  </a:spcBef>
                  <a:buSzTx/>
                  <a:buNone/>
                </a:pPr>
                <a14:m>
                  <m:oMathPara xmlns:m="http://schemas.openxmlformats.org/officeDocument/2006/math">
                    <m:oMathParaPr>
                      <m:jc m:val="center"/>
                    </m:oMathParaPr>
                    <m:oMath xmlns:m="http://schemas.openxmlformats.org/officeDocument/2006/math">
                      <m:r>
                        <a:rPr sz="6100" i="1">
                          <a:solidFill>
                            <a:srgbClr val="000000"/>
                          </a:solidFill>
                          <a:latin typeface="Cambria Math" panose="02040503050406030204" pitchFamily="18" charset="0"/>
                        </a:rPr>
                        <m:t>𝛽</m:t>
                      </m:r>
                      <m:r>
                        <a:rPr sz="6100" i="1">
                          <a:solidFill>
                            <a:srgbClr val="000000"/>
                          </a:solidFill>
                          <a:latin typeface="Cambria Math" panose="02040503050406030204" pitchFamily="18" charset="0"/>
                        </a:rPr>
                        <m:t>(</m:t>
                      </m:r>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𝐴</m:t>
                          </m:r>
                        </m:e>
                        <m:sub>
                          <m:r>
                            <a:rPr sz="6100" i="1">
                              <a:solidFill>
                                <a:srgbClr val="000000"/>
                              </a:solidFill>
                              <a:latin typeface="Cambria Math" panose="02040503050406030204" pitchFamily="18" charset="0"/>
                            </a:rPr>
                            <m:t>1</m:t>
                          </m:r>
                        </m:sub>
                      </m:sSub>
                      <m:r>
                        <a:rPr sz="6100" i="1">
                          <a:solidFill>
                            <a:srgbClr val="000000"/>
                          </a:solidFill>
                          <a:latin typeface="Cambria Math" panose="02040503050406030204" pitchFamily="18" charset="0"/>
                        </a:rPr>
                        <m:t>−</m:t>
                      </m:r>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𝐴</m:t>
                          </m:r>
                        </m:e>
                        <m:sub>
                          <m:r>
                            <a:rPr sz="6100" i="1">
                              <a:solidFill>
                                <a:srgbClr val="000000"/>
                              </a:solidFill>
                              <a:latin typeface="Cambria Math" panose="02040503050406030204" pitchFamily="18" charset="0"/>
                            </a:rPr>
                            <m:t>0</m:t>
                          </m:r>
                        </m:sub>
                      </m:sSub>
                      <m:r>
                        <a:rPr sz="6100" i="1">
                          <a:solidFill>
                            <a:srgbClr val="000000"/>
                          </a:solidFill>
                          <a:latin typeface="Cambria Math" panose="02040503050406030204" pitchFamily="18" charset="0"/>
                        </a:rPr>
                        <m:t>)=−</m:t>
                      </m:r>
                      <m:r>
                        <m:rPr>
                          <m:sty m:val="p"/>
                        </m:rPr>
                        <a:rPr sz="6100" i="1">
                          <a:solidFill>
                            <a:srgbClr val="000000"/>
                          </a:solidFill>
                          <a:latin typeface="Cambria Math" panose="02040503050406030204" pitchFamily="18" charset="0"/>
                        </a:rPr>
                        <m:t>ln</m:t>
                      </m:r>
                      <m:d>
                        <m:dPr>
                          <m:ctrlPr>
                            <a:rPr sz="6100" i="1">
                              <a:solidFill>
                                <a:srgbClr val="000000"/>
                              </a:solidFill>
                              <a:latin typeface="Cambria Math" panose="02040503050406030204" pitchFamily="18" charset="0"/>
                            </a:rPr>
                          </m:ctrlPr>
                        </m:dPr>
                        <m:e>
                          <m:f>
                            <m:fPr>
                              <m:ctrlPr>
                                <a:rPr sz="6100" i="1">
                                  <a:solidFill>
                                    <a:srgbClr val="000000"/>
                                  </a:solidFill>
                                  <a:latin typeface="Cambria Math" panose="02040503050406030204" pitchFamily="18" charset="0"/>
                                </a:rPr>
                              </m:ctrlPr>
                            </m:fPr>
                            <m:num>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𝑄</m:t>
                                  </m:r>
                                </m:e>
                                <m:sub>
                                  <m:r>
                                    <a:rPr sz="6100" i="1">
                                      <a:solidFill>
                                        <a:srgbClr val="000000"/>
                                      </a:solidFill>
                                      <a:latin typeface="Cambria Math" panose="02040503050406030204" pitchFamily="18" charset="0"/>
                                    </a:rPr>
                                    <m:t>0</m:t>
                                  </m:r>
                                </m:sub>
                              </m:sSub>
                            </m:num>
                            <m:den>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𝑄</m:t>
                                  </m:r>
                                </m:e>
                                <m:sub>
                                  <m:r>
                                    <a:rPr sz="6100" i="1">
                                      <a:solidFill>
                                        <a:srgbClr val="000000"/>
                                      </a:solidFill>
                                      <a:latin typeface="Cambria Math" panose="02040503050406030204" pitchFamily="18" charset="0"/>
                                    </a:rPr>
                                    <m:t>1</m:t>
                                  </m:r>
                                </m:sub>
                              </m:sSub>
                            </m:den>
                          </m:f>
                        </m:e>
                      </m:d>
                    </m:oMath>
                  </m:oMathPara>
                </a14:m>
                <a:endParaRPr dirty="0"/>
              </a:p>
            </p:txBody>
          </p:sp>
        </mc:Choice>
        <mc:Fallback xmlns="">
          <p:sp>
            <p:nvSpPr>
              <p:cNvPr id="241" name="In the Boltzmann distribution, the probability of a configuration   with energy   is,…"/>
              <p:cNvSpPr txBox="1">
                <a:spLocks noGrp="1" noRot="1" noChangeAspect="1" noMove="1" noResize="1" noEditPoints="1" noAdjustHandles="1" noChangeArrowheads="1" noChangeShapeType="1" noTextEdit="1"/>
              </p:cNvSpPr>
              <p:nvPr>
                <p:ph type="body" idx="1"/>
              </p:nvPr>
            </p:nvSpPr>
            <p:spPr>
              <a:prstGeom prst="rect">
                <a:avLst/>
              </a:prstGeom>
              <a:blipFill>
                <a:blip r:embed="rId2"/>
                <a:stretch>
                  <a:fillRect l="-714" t="-258" r="-988" b="-1677"/>
                </a:stretch>
              </a:blipFill>
            </p:spPr>
            <p:txBody>
              <a:bodyPr/>
              <a:lstStyle/>
              <a:p>
                <a:r>
                  <a:rPr lang="en-US">
                    <a:noFill/>
                  </a:rPr>
                  <a:t> </a:t>
                </a:r>
              </a:p>
            </p:txBody>
          </p:sp>
        </mc:Fallback>
      </mc:AlternateContent>
      <p:sp>
        <p:nvSpPr>
          <p:cNvPr id="242" name="Slide Number"/>
          <p:cNvSpPr txBox="1">
            <a:spLocks noGrp="1"/>
          </p:cNvSpPr>
          <p:nvPr>
            <p:ph type="sldNum" sz="quarter" idx="2"/>
          </p:nvPr>
        </p:nvSpPr>
        <p:spPr>
          <a:xfrm>
            <a:off x="12020548" y="13010554"/>
            <a:ext cx="325045" cy="511176"/>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10</a:t>
            </a:fld>
            <a:endParaRPr/>
          </a:p>
        </p:txBody>
      </p:sp>
    </p:spTree>
  </p:cSld>
  <p:clrMapOvr>
    <a:masterClrMapping/>
  </p:clrMapOvr>
  <p:transition spd="me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4" name="The Zwanzig Relation: Derivation"/>
          <p:cNvSpPr txBox="1">
            <a:spLocks noGrp="1"/>
          </p:cNvSpPr>
          <p:nvPr>
            <p:ph type="title"/>
          </p:nvPr>
        </p:nvSpPr>
        <p:spPr>
          <a:prstGeom prst="rect">
            <a:avLst/>
          </a:prstGeom>
        </p:spPr>
        <p:txBody>
          <a:bodyPr/>
          <a:lstStyle/>
          <a:p>
            <a:r>
              <a:t>The Zwanzig Relation: Derivation</a:t>
            </a:r>
          </a:p>
        </p:txBody>
      </p:sp>
      <mc:AlternateContent xmlns:mc="http://schemas.openxmlformats.org/markup-compatibility/2006" xmlns:a14="http://schemas.microsoft.com/office/drawing/2010/main">
        <mc:Choice Requires="a14">
          <p:sp>
            <p:nvSpPr>
              <p:cNvPr id="245" name="From before,  .…"/>
              <p:cNvSpPr txBox="1">
                <a:spLocks noGrp="1"/>
              </p:cNvSpPr>
              <p:nvPr>
                <p:ph type="body" idx="1"/>
              </p:nvPr>
            </p:nvSpPr>
            <p:spPr>
              <a:prstGeom prst="rect">
                <a:avLst/>
              </a:prstGeom>
            </p:spPr>
            <p:txBody>
              <a:bodyPr/>
              <a:lstStyle/>
              <a:p>
                <a:pPr marL="580319" indent="-580319" defTabSz="772239">
                  <a:spcBef>
                    <a:spcPts val="900"/>
                  </a:spcBef>
                  <a:defRPr sz="4700"/>
                </a:pPr>
                <a:r>
                  <a:rPr lang="en-US" dirty="0"/>
                  <a:t>Understanding the </a:t>
                </a:r>
                <a:r>
                  <a:rPr lang="en-US" i="1" dirty="0"/>
                  <a:t>result</a:t>
                </a:r>
                <a:r>
                  <a:rPr lang="en-US" dirty="0"/>
                  <a:t> is sufficient for this course</a:t>
                </a:r>
              </a:p>
              <a:p>
                <a:pPr marL="580319" indent="-580319" defTabSz="772239">
                  <a:spcBef>
                    <a:spcPts val="900"/>
                  </a:spcBef>
                  <a:defRPr sz="4700"/>
                </a:pPr>
                <a:r>
                  <a:rPr dirty="0"/>
                  <a:t>From before, </a:t>
                </a:r>
                <a14:m>
                  <m:oMath xmlns:m="http://schemas.openxmlformats.org/officeDocument/2006/math">
                    <m:r>
                      <a:rPr sz="5750" i="1">
                        <a:solidFill>
                          <a:srgbClr val="000000"/>
                        </a:solidFill>
                        <a:latin typeface="Cambria Math" panose="02040503050406030204" pitchFamily="18" charset="0"/>
                      </a:rPr>
                      <m:t>𝛽</m:t>
                    </m:r>
                    <m:r>
                      <a:rPr sz="5750" i="1">
                        <a:solidFill>
                          <a:srgbClr val="000000"/>
                        </a:solidFill>
                        <a:latin typeface="Cambria Math" panose="02040503050406030204" pitchFamily="18" charset="0"/>
                      </a:rPr>
                      <m:t>(</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𝐴</m:t>
                        </m:r>
                      </m:e>
                      <m:sub>
                        <m:r>
                          <a:rPr sz="5750" i="1">
                            <a:solidFill>
                              <a:srgbClr val="000000"/>
                            </a:solidFill>
                            <a:latin typeface="Cambria Math" panose="02040503050406030204" pitchFamily="18" charset="0"/>
                          </a:rPr>
                          <m:t>1</m:t>
                        </m:r>
                      </m:sub>
                    </m:sSub>
                    <m:r>
                      <a:rPr sz="5750" i="1">
                        <a:solidFill>
                          <a:srgbClr val="000000"/>
                        </a:solidFill>
                        <a:latin typeface="Cambria Math" panose="02040503050406030204" pitchFamily="18" charset="0"/>
                      </a:rPr>
                      <m:t>−</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𝐴</m:t>
                        </m:r>
                      </m:e>
                      <m:sub>
                        <m:r>
                          <a:rPr sz="5750" i="1">
                            <a:solidFill>
                              <a:srgbClr val="000000"/>
                            </a:solidFill>
                            <a:latin typeface="Cambria Math" panose="02040503050406030204" pitchFamily="18" charset="0"/>
                          </a:rPr>
                          <m:t>0</m:t>
                        </m:r>
                      </m:sub>
                    </m:sSub>
                    <m:r>
                      <a:rPr sz="5750" i="1">
                        <a:solidFill>
                          <a:srgbClr val="000000"/>
                        </a:solidFill>
                        <a:latin typeface="Cambria Math" panose="02040503050406030204" pitchFamily="18" charset="0"/>
                      </a:rPr>
                      <m:t>)=−</m:t>
                    </m:r>
                    <m:r>
                      <m:rPr>
                        <m:sty m:val="p"/>
                      </m:rPr>
                      <a:rPr sz="5750" i="1">
                        <a:solidFill>
                          <a:srgbClr val="000000"/>
                        </a:solidFill>
                        <a:latin typeface="Cambria Math" panose="02040503050406030204" pitchFamily="18" charset="0"/>
                      </a:rPr>
                      <m:t>ln</m:t>
                    </m:r>
                    <m:d>
                      <m:dPr>
                        <m:ctrlPr>
                          <a:rPr sz="5750" i="1">
                            <a:solidFill>
                              <a:srgbClr val="000000"/>
                            </a:solidFill>
                            <a:latin typeface="Cambria Math" panose="02040503050406030204" pitchFamily="18" charset="0"/>
                          </a:rPr>
                        </m:ctrlPr>
                      </m:dPr>
                      <m:e>
                        <m:f>
                          <m:fPr>
                            <m:ctrlPr>
                              <a:rPr sz="5750" i="1">
                                <a:solidFill>
                                  <a:srgbClr val="000000"/>
                                </a:solidFill>
                                <a:latin typeface="Cambria Math" panose="02040503050406030204" pitchFamily="18" charset="0"/>
                              </a:rPr>
                            </m:ctrlPr>
                          </m:fPr>
                          <m:num>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𝑄</m:t>
                                </m:r>
                              </m:e>
                              <m:sub>
                                <m:r>
                                  <a:rPr sz="5750" i="1">
                                    <a:solidFill>
                                      <a:srgbClr val="000000"/>
                                    </a:solidFill>
                                    <a:latin typeface="Cambria Math" panose="02040503050406030204" pitchFamily="18" charset="0"/>
                                  </a:rPr>
                                  <m:t>0</m:t>
                                </m:r>
                              </m:sub>
                            </m:sSub>
                          </m:num>
                          <m:den>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𝑄</m:t>
                                </m:r>
                              </m:e>
                              <m:sub>
                                <m:r>
                                  <a:rPr sz="5750" i="1">
                                    <a:solidFill>
                                      <a:srgbClr val="000000"/>
                                    </a:solidFill>
                                    <a:latin typeface="Cambria Math" panose="02040503050406030204" pitchFamily="18" charset="0"/>
                                  </a:rPr>
                                  <m:t>1</m:t>
                                </m:r>
                              </m:sub>
                            </m:sSub>
                          </m:den>
                        </m:f>
                      </m:e>
                    </m:d>
                  </m:oMath>
                </a14:m>
                <a:r>
                  <a:rPr dirty="0"/>
                  <a:t>.</a:t>
                </a:r>
              </a:p>
              <a:p>
                <a:pPr marL="580319" indent="-580319" defTabSz="772239">
                  <a:spcBef>
                    <a:spcPts val="900"/>
                  </a:spcBef>
                  <a:defRPr sz="4700"/>
                </a:pPr>
                <a:r>
                  <a:rPr dirty="0"/>
                  <a:t>Substituting in partition functions, </a:t>
                </a:r>
                <a14:m>
                  <m:oMath xmlns:m="http://schemas.openxmlformats.org/officeDocument/2006/math">
                    <m:r>
                      <a:rPr sz="5750" i="1">
                        <a:solidFill>
                          <a:srgbClr val="000000"/>
                        </a:solidFill>
                        <a:latin typeface="Cambria Math" panose="02040503050406030204" pitchFamily="18" charset="0"/>
                      </a:rPr>
                      <m:t>𝛽</m:t>
                    </m:r>
                    <m:r>
                      <a:rPr sz="5750" i="1">
                        <a:solidFill>
                          <a:srgbClr val="000000"/>
                        </a:solidFill>
                        <a:latin typeface="Cambria Math" panose="02040503050406030204" pitchFamily="18" charset="0"/>
                      </a:rPr>
                      <m:t>(</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𝐴</m:t>
                        </m:r>
                      </m:e>
                      <m:sub>
                        <m:r>
                          <a:rPr sz="5750" i="1">
                            <a:solidFill>
                              <a:srgbClr val="000000"/>
                            </a:solidFill>
                            <a:latin typeface="Cambria Math" panose="02040503050406030204" pitchFamily="18" charset="0"/>
                          </a:rPr>
                          <m:t>1</m:t>
                        </m:r>
                      </m:sub>
                    </m:sSub>
                    <m:r>
                      <a:rPr sz="5750" i="1">
                        <a:solidFill>
                          <a:srgbClr val="000000"/>
                        </a:solidFill>
                        <a:latin typeface="Cambria Math" panose="02040503050406030204" pitchFamily="18" charset="0"/>
                      </a:rPr>
                      <m:t>−</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𝐴</m:t>
                        </m:r>
                      </m:e>
                      <m:sub>
                        <m:r>
                          <a:rPr sz="5750" i="1">
                            <a:solidFill>
                              <a:srgbClr val="000000"/>
                            </a:solidFill>
                            <a:latin typeface="Cambria Math" panose="02040503050406030204" pitchFamily="18" charset="0"/>
                          </a:rPr>
                          <m:t>0</m:t>
                        </m:r>
                      </m:sub>
                    </m:sSub>
                    <m:r>
                      <a:rPr sz="5750" i="1">
                        <a:solidFill>
                          <a:srgbClr val="000000"/>
                        </a:solidFill>
                        <a:latin typeface="Cambria Math" panose="02040503050406030204" pitchFamily="18" charset="0"/>
                      </a:rPr>
                      <m:t>)=−</m:t>
                    </m:r>
                    <m:r>
                      <m:rPr>
                        <m:sty m:val="p"/>
                      </m:rPr>
                      <a:rPr sz="5750" i="1">
                        <a:solidFill>
                          <a:srgbClr val="000000"/>
                        </a:solidFill>
                        <a:latin typeface="Cambria Math" panose="02040503050406030204" pitchFamily="18" charset="0"/>
                      </a:rPr>
                      <m:t>ln</m:t>
                    </m:r>
                    <m:d>
                      <m:dPr>
                        <m:ctrlPr>
                          <a:rPr sz="5750" i="1">
                            <a:solidFill>
                              <a:srgbClr val="000000"/>
                            </a:solidFill>
                            <a:latin typeface="Cambria Math" panose="02040503050406030204" pitchFamily="18" charset="0"/>
                          </a:rPr>
                        </m:ctrlPr>
                      </m:dPr>
                      <m:e>
                        <m:f>
                          <m:fPr>
                            <m:ctrlPr>
                              <a:rPr sz="5750" i="1">
                                <a:solidFill>
                                  <a:srgbClr val="000000"/>
                                </a:solidFill>
                                <a:latin typeface="Cambria Math" panose="02040503050406030204" pitchFamily="18" charset="0"/>
                              </a:rPr>
                            </m:ctrlPr>
                          </m:fPr>
                          <m:num>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𝑒</m:t>
                                </m:r>
                              </m:e>
                              <m:sup>
                                <m:r>
                                  <a:rPr sz="5750" i="1">
                                    <a:solidFill>
                                      <a:srgbClr val="000000"/>
                                    </a:solidFill>
                                    <a:latin typeface="Cambria Math" panose="02040503050406030204" pitchFamily="18" charset="0"/>
                                  </a:rPr>
                                  <m:t>−</m:t>
                                </m:r>
                                <m:r>
                                  <a:rPr sz="5750" i="1">
                                    <a:solidFill>
                                      <a:srgbClr val="000000"/>
                                    </a:solidFill>
                                    <a:latin typeface="Cambria Math" panose="02040503050406030204" pitchFamily="18" charset="0"/>
                                  </a:rPr>
                                  <m:t>𝛽</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𝑈</m:t>
                                    </m:r>
                                  </m:e>
                                  <m:sub>
                                    <m:r>
                                      <a:rPr sz="5750" i="1">
                                        <a:solidFill>
                                          <a:srgbClr val="000000"/>
                                        </a:solidFill>
                                        <a:latin typeface="Cambria Math" panose="02040503050406030204" pitchFamily="18" charset="0"/>
                                      </a:rPr>
                                      <m:t>1</m:t>
                                    </m:r>
                                  </m:sub>
                                </m:sSub>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r>
                                  <a:rPr sz="5750" i="1">
                                    <a:solidFill>
                                      <a:srgbClr val="000000"/>
                                    </a:solidFill>
                                    <a:latin typeface="Cambria Math" panose="02040503050406030204" pitchFamily="18" charset="0"/>
                                  </a:rPr>
                                  <m:t>)</m:t>
                                </m:r>
                              </m:sup>
                            </m:sSup>
                            <m:r>
                              <a:rPr sz="5750" i="1">
                                <a:solidFill>
                                  <a:srgbClr val="000000"/>
                                </a:solidFill>
                                <a:latin typeface="Cambria Math" panose="02040503050406030204" pitchFamily="18" charset="0"/>
                              </a:rPr>
                              <m:t>𝑑</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num>
                          <m:den>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𝑒</m:t>
                                </m:r>
                              </m:e>
                              <m:sup>
                                <m:r>
                                  <a:rPr sz="5750" i="1">
                                    <a:solidFill>
                                      <a:srgbClr val="000000"/>
                                    </a:solidFill>
                                    <a:latin typeface="Cambria Math" panose="02040503050406030204" pitchFamily="18" charset="0"/>
                                  </a:rPr>
                                  <m:t>−</m:t>
                                </m:r>
                                <m:r>
                                  <a:rPr sz="5750" i="1">
                                    <a:solidFill>
                                      <a:srgbClr val="000000"/>
                                    </a:solidFill>
                                    <a:latin typeface="Cambria Math" panose="02040503050406030204" pitchFamily="18" charset="0"/>
                                  </a:rPr>
                                  <m:t>𝛽</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𝑈</m:t>
                                    </m:r>
                                  </m:e>
                                  <m:sub>
                                    <m:r>
                                      <a:rPr sz="5750" i="1">
                                        <a:solidFill>
                                          <a:srgbClr val="000000"/>
                                        </a:solidFill>
                                        <a:latin typeface="Cambria Math" panose="02040503050406030204" pitchFamily="18" charset="0"/>
                                      </a:rPr>
                                      <m:t>0</m:t>
                                    </m:r>
                                  </m:sub>
                                </m:sSub>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r>
                                  <a:rPr sz="5750" i="1">
                                    <a:solidFill>
                                      <a:srgbClr val="000000"/>
                                    </a:solidFill>
                                    <a:latin typeface="Cambria Math" panose="02040503050406030204" pitchFamily="18" charset="0"/>
                                  </a:rPr>
                                  <m:t>)</m:t>
                                </m:r>
                              </m:sup>
                            </m:sSup>
                            <m:r>
                              <a:rPr sz="5750" i="1">
                                <a:solidFill>
                                  <a:srgbClr val="000000"/>
                                </a:solidFill>
                                <a:latin typeface="Cambria Math" panose="02040503050406030204" pitchFamily="18" charset="0"/>
                              </a:rPr>
                              <m:t>𝑑</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den>
                        </m:f>
                      </m:e>
                    </m:d>
                  </m:oMath>
                </a14:m>
                <a:r>
                  <a:rPr dirty="0"/>
                  <a:t>.</a:t>
                </a:r>
              </a:p>
              <a:p>
                <a:pPr marL="580319" indent="-580319" defTabSz="772239">
                  <a:spcBef>
                    <a:spcPts val="900"/>
                  </a:spcBef>
                  <a:defRPr sz="4700"/>
                </a:pPr>
                <a:r>
                  <a:rPr dirty="0"/>
                  <a:t>Multiplying by one, </a:t>
                </a:r>
                <a14:m>
                  <m:oMath xmlns:m="http://schemas.openxmlformats.org/officeDocument/2006/math">
                    <m:r>
                      <a:rPr sz="5750" i="1">
                        <a:solidFill>
                          <a:srgbClr val="000000"/>
                        </a:solidFill>
                        <a:latin typeface="Cambria Math" panose="02040503050406030204" pitchFamily="18" charset="0"/>
                      </a:rPr>
                      <m:t>𝛽</m:t>
                    </m:r>
                    <m:r>
                      <a:rPr sz="5750" i="1">
                        <a:solidFill>
                          <a:srgbClr val="000000"/>
                        </a:solidFill>
                        <a:latin typeface="Cambria Math" panose="02040503050406030204" pitchFamily="18" charset="0"/>
                      </a:rPr>
                      <m:t>(</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𝐴</m:t>
                        </m:r>
                      </m:e>
                      <m:sub>
                        <m:r>
                          <a:rPr sz="5750" i="1">
                            <a:solidFill>
                              <a:srgbClr val="000000"/>
                            </a:solidFill>
                            <a:latin typeface="Cambria Math" panose="02040503050406030204" pitchFamily="18" charset="0"/>
                          </a:rPr>
                          <m:t>1</m:t>
                        </m:r>
                      </m:sub>
                    </m:sSub>
                    <m:r>
                      <a:rPr sz="5750" i="1">
                        <a:solidFill>
                          <a:srgbClr val="000000"/>
                        </a:solidFill>
                        <a:latin typeface="Cambria Math" panose="02040503050406030204" pitchFamily="18" charset="0"/>
                      </a:rPr>
                      <m:t>−</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𝐴</m:t>
                        </m:r>
                      </m:e>
                      <m:sub>
                        <m:r>
                          <a:rPr sz="5750" i="1">
                            <a:solidFill>
                              <a:srgbClr val="000000"/>
                            </a:solidFill>
                            <a:latin typeface="Cambria Math" panose="02040503050406030204" pitchFamily="18" charset="0"/>
                          </a:rPr>
                          <m:t>0</m:t>
                        </m:r>
                      </m:sub>
                    </m:sSub>
                    <m:r>
                      <a:rPr sz="5750" i="1">
                        <a:solidFill>
                          <a:srgbClr val="000000"/>
                        </a:solidFill>
                        <a:latin typeface="Cambria Math" panose="02040503050406030204" pitchFamily="18" charset="0"/>
                      </a:rPr>
                      <m:t>)=−</m:t>
                    </m:r>
                    <m:r>
                      <m:rPr>
                        <m:sty m:val="p"/>
                      </m:rPr>
                      <a:rPr sz="5750" i="1">
                        <a:solidFill>
                          <a:srgbClr val="000000"/>
                        </a:solidFill>
                        <a:latin typeface="Cambria Math" panose="02040503050406030204" pitchFamily="18" charset="0"/>
                      </a:rPr>
                      <m:t>ln</m:t>
                    </m:r>
                    <m:d>
                      <m:dPr>
                        <m:ctrlPr>
                          <a:rPr sz="5750" i="1">
                            <a:solidFill>
                              <a:srgbClr val="000000"/>
                            </a:solidFill>
                            <a:latin typeface="Cambria Math" panose="02040503050406030204" pitchFamily="18" charset="0"/>
                          </a:rPr>
                        </m:ctrlPr>
                      </m:dPr>
                      <m:e>
                        <m:f>
                          <m:fPr>
                            <m:ctrlPr>
                              <a:rPr sz="5750" i="1">
                                <a:solidFill>
                                  <a:srgbClr val="000000"/>
                                </a:solidFill>
                                <a:latin typeface="Cambria Math" panose="02040503050406030204" pitchFamily="18" charset="0"/>
                              </a:rPr>
                            </m:ctrlPr>
                          </m:fPr>
                          <m:num>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𝑒</m:t>
                                </m:r>
                              </m:e>
                              <m:sup>
                                <m:r>
                                  <a:rPr sz="5750" i="1">
                                    <a:solidFill>
                                      <a:srgbClr val="000000"/>
                                    </a:solidFill>
                                    <a:latin typeface="Cambria Math" panose="02040503050406030204" pitchFamily="18" charset="0"/>
                                  </a:rPr>
                                  <m:t>−</m:t>
                                </m:r>
                                <m:r>
                                  <a:rPr sz="5750" i="1">
                                    <a:solidFill>
                                      <a:srgbClr val="000000"/>
                                    </a:solidFill>
                                    <a:latin typeface="Cambria Math" panose="02040503050406030204" pitchFamily="18" charset="0"/>
                                  </a:rPr>
                                  <m:t>𝛽</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𝑈</m:t>
                                    </m:r>
                                  </m:e>
                                  <m:sub>
                                    <m:r>
                                      <a:rPr sz="5750" i="1">
                                        <a:solidFill>
                                          <a:srgbClr val="000000"/>
                                        </a:solidFill>
                                        <a:latin typeface="Cambria Math" panose="02040503050406030204" pitchFamily="18" charset="0"/>
                                      </a:rPr>
                                      <m:t>1</m:t>
                                    </m:r>
                                  </m:sub>
                                </m:sSub>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r>
                                  <a:rPr sz="5750" i="1">
                                    <a:solidFill>
                                      <a:srgbClr val="000000"/>
                                    </a:solidFill>
                                    <a:latin typeface="Cambria Math" panose="02040503050406030204" pitchFamily="18" charset="0"/>
                                  </a:rPr>
                                  <m:t>)+</m:t>
                                </m:r>
                                <m:r>
                                  <a:rPr sz="5750" i="1">
                                    <a:solidFill>
                                      <a:srgbClr val="000000"/>
                                    </a:solidFill>
                                    <a:latin typeface="Cambria Math" panose="02040503050406030204" pitchFamily="18" charset="0"/>
                                  </a:rPr>
                                  <m:t>𝛽</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𝑈</m:t>
                                    </m:r>
                                  </m:e>
                                  <m:sub>
                                    <m:r>
                                      <a:rPr sz="5750" i="1">
                                        <a:solidFill>
                                          <a:srgbClr val="000000"/>
                                        </a:solidFill>
                                        <a:latin typeface="Cambria Math" panose="02040503050406030204" pitchFamily="18" charset="0"/>
                                      </a:rPr>
                                      <m:t>0</m:t>
                                    </m:r>
                                  </m:sub>
                                </m:sSub>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r>
                                  <a:rPr sz="5750" i="1">
                                    <a:solidFill>
                                      <a:srgbClr val="000000"/>
                                    </a:solidFill>
                                    <a:latin typeface="Cambria Math" panose="02040503050406030204" pitchFamily="18" charset="0"/>
                                  </a:rPr>
                                  <m:t>)−</m:t>
                                </m:r>
                                <m:r>
                                  <a:rPr sz="5750" i="1">
                                    <a:solidFill>
                                      <a:srgbClr val="000000"/>
                                    </a:solidFill>
                                    <a:latin typeface="Cambria Math" panose="02040503050406030204" pitchFamily="18" charset="0"/>
                                  </a:rPr>
                                  <m:t>𝛽</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𝑈</m:t>
                                    </m:r>
                                  </m:e>
                                  <m:sub>
                                    <m:r>
                                      <a:rPr sz="5750" i="1">
                                        <a:solidFill>
                                          <a:srgbClr val="000000"/>
                                        </a:solidFill>
                                        <a:latin typeface="Cambria Math" panose="02040503050406030204" pitchFamily="18" charset="0"/>
                                      </a:rPr>
                                      <m:t>0</m:t>
                                    </m:r>
                                  </m:sub>
                                </m:sSub>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r>
                                  <a:rPr sz="5750" i="1">
                                    <a:solidFill>
                                      <a:srgbClr val="000000"/>
                                    </a:solidFill>
                                    <a:latin typeface="Cambria Math" panose="02040503050406030204" pitchFamily="18" charset="0"/>
                                  </a:rPr>
                                  <m:t>)</m:t>
                                </m:r>
                              </m:sup>
                            </m:sSup>
                            <m:r>
                              <a:rPr sz="5750" i="1">
                                <a:solidFill>
                                  <a:srgbClr val="000000"/>
                                </a:solidFill>
                                <a:latin typeface="Cambria Math" panose="02040503050406030204" pitchFamily="18" charset="0"/>
                              </a:rPr>
                              <m:t>𝑑</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num>
                          <m:den>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𝑒</m:t>
                                </m:r>
                              </m:e>
                              <m:sup>
                                <m:r>
                                  <a:rPr sz="5750" i="1">
                                    <a:solidFill>
                                      <a:srgbClr val="000000"/>
                                    </a:solidFill>
                                    <a:latin typeface="Cambria Math" panose="02040503050406030204" pitchFamily="18" charset="0"/>
                                  </a:rPr>
                                  <m:t>−</m:t>
                                </m:r>
                                <m:r>
                                  <a:rPr sz="5750" i="1">
                                    <a:solidFill>
                                      <a:srgbClr val="000000"/>
                                    </a:solidFill>
                                    <a:latin typeface="Cambria Math" panose="02040503050406030204" pitchFamily="18" charset="0"/>
                                  </a:rPr>
                                  <m:t>𝛽</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𝑈</m:t>
                                    </m:r>
                                  </m:e>
                                  <m:sub>
                                    <m:r>
                                      <a:rPr sz="5750" i="1">
                                        <a:solidFill>
                                          <a:srgbClr val="000000"/>
                                        </a:solidFill>
                                        <a:latin typeface="Cambria Math" panose="02040503050406030204" pitchFamily="18" charset="0"/>
                                      </a:rPr>
                                      <m:t>0</m:t>
                                    </m:r>
                                  </m:sub>
                                </m:sSub>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r>
                                  <a:rPr sz="5750" i="1">
                                    <a:solidFill>
                                      <a:srgbClr val="000000"/>
                                    </a:solidFill>
                                    <a:latin typeface="Cambria Math" panose="02040503050406030204" pitchFamily="18" charset="0"/>
                                  </a:rPr>
                                  <m:t>)</m:t>
                                </m:r>
                              </m:sup>
                            </m:sSup>
                            <m:r>
                              <a:rPr sz="5750" i="1">
                                <a:solidFill>
                                  <a:srgbClr val="000000"/>
                                </a:solidFill>
                                <a:latin typeface="Cambria Math" panose="02040503050406030204" pitchFamily="18" charset="0"/>
                              </a:rPr>
                              <m:t>𝑑</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den>
                        </m:f>
                      </m:e>
                    </m:d>
                  </m:oMath>
                </a14:m>
                <a:r>
                  <a:rPr dirty="0"/>
                  <a:t>.</a:t>
                </a:r>
              </a:p>
              <a:p>
                <a:pPr marL="580319" indent="-580319" defTabSz="772239">
                  <a:spcBef>
                    <a:spcPts val="900"/>
                  </a:spcBef>
                  <a:defRPr sz="4700"/>
                </a:pPr>
                <a:r>
                  <a:rPr dirty="0"/>
                  <a:t>Defining the potential energy difference </a:t>
                </a:r>
                <a14:m>
                  <m:oMath xmlns:m="http://schemas.openxmlformats.org/officeDocument/2006/math">
                    <m:r>
                      <m:rPr>
                        <m:sty m:val="p"/>
                      </m:rPr>
                      <a:rPr sz="5750" i="1">
                        <a:solidFill>
                          <a:srgbClr val="000000"/>
                        </a:solidFill>
                        <a:latin typeface="Cambria Math" panose="02040503050406030204" pitchFamily="18" charset="0"/>
                      </a:rPr>
                      <m:t>Δ</m:t>
                    </m:r>
                    <m:r>
                      <a:rPr sz="5750" i="1">
                        <a:solidFill>
                          <a:srgbClr val="000000"/>
                        </a:solidFill>
                        <a:latin typeface="Cambria Math" panose="02040503050406030204" pitchFamily="18" charset="0"/>
                      </a:rPr>
                      <m:t>𝑈</m:t>
                    </m:r>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r>
                      <a:rPr sz="5750" i="1">
                        <a:solidFill>
                          <a:srgbClr val="000000"/>
                        </a:solidFill>
                        <a:latin typeface="Cambria Math" panose="02040503050406030204" pitchFamily="18" charset="0"/>
                      </a:rPr>
                      <m:t>)=</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𝑈</m:t>
                        </m:r>
                      </m:e>
                      <m:sub>
                        <m:r>
                          <a:rPr sz="5750" i="1">
                            <a:solidFill>
                              <a:srgbClr val="000000"/>
                            </a:solidFill>
                            <a:latin typeface="Cambria Math" panose="02040503050406030204" pitchFamily="18" charset="0"/>
                          </a:rPr>
                          <m:t>1</m:t>
                        </m:r>
                      </m:sub>
                    </m:sSub>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r>
                      <a:rPr sz="5750" i="1">
                        <a:solidFill>
                          <a:srgbClr val="000000"/>
                        </a:solidFill>
                        <a:latin typeface="Cambria Math" panose="02040503050406030204" pitchFamily="18" charset="0"/>
                      </a:rPr>
                      <m:t>)−</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𝑈</m:t>
                        </m:r>
                      </m:e>
                      <m:sub>
                        <m:r>
                          <a:rPr sz="5750" i="1">
                            <a:solidFill>
                              <a:srgbClr val="000000"/>
                            </a:solidFill>
                            <a:latin typeface="Cambria Math" panose="02040503050406030204" pitchFamily="18" charset="0"/>
                          </a:rPr>
                          <m:t>0</m:t>
                        </m:r>
                      </m:sub>
                    </m:sSub>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r>
                      <a:rPr sz="5750" i="1">
                        <a:solidFill>
                          <a:srgbClr val="000000"/>
                        </a:solidFill>
                        <a:latin typeface="Cambria Math" panose="02040503050406030204" pitchFamily="18" charset="0"/>
                      </a:rPr>
                      <m:t>)</m:t>
                    </m:r>
                  </m:oMath>
                </a14:m>
                <a:r>
                  <a:rPr dirty="0"/>
                  <a:t>,  </a:t>
                </a:r>
                <a14:m>
                  <m:oMath xmlns:m="http://schemas.openxmlformats.org/officeDocument/2006/math">
                    <m:r>
                      <a:rPr sz="5750" i="1">
                        <a:solidFill>
                          <a:srgbClr val="000000"/>
                        </a:solidFill>
                        <a:latin typeface="Cambria Math" panose="02040503050406030204" pitchFamily="18" charset="0"/>
                      </a:rPr>
                      <m:t>𝛽</m:t>
                    </m:r>
                    <m:r>
                      <a:rPr sz="5750" i="1">
                        <a:solidFill>
                          <a:srgbClr val="000000"/>
                        </a:solidFill>
                        <a:latin typeface="Cambria Math" panose="02040503050406030204" pitchFamily="18" charset="0"/>
                      </a:rPr>
                      <m:t>(</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𝐴</m:t>
                        </m:r>
                      </m:e>
                      <m:sub>
                        <m:r>
                          <a:rPr sz="5750" i="1">
                            <a:solidFill>
                              <a:srgbClr val="000000"/>
                            </a:solidFill>
                            <a:latin typeface="Cambria Math" panose="02040503050406030204" pitchFamily="18" charset="0"/>
                          </a:rPr>
                          <m:t>1</m:t>
                        </m:r>
                      </m:sub>
                    </m:sSub>
                    <m:r>
                      <a:rPr sz="5750" i="1">
                        <a:solidFill>
                          <a:srgbClr val="000000"/>
                        </a:solidFill>
                        <a:latin typeface="Cambria Math" panose="02040503050406030204" pitchFamily="18" charset="0"/>
                      </a:rPr>
                      <m:t>−</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𝐴</m:t>
                        </m:r>
                      </m:e>
                      <m:sub>
                        <m:r>
                          <a:rPr sz="5750" i="1">
                            <a:solidFill>
                              <a:srgbClr val="000000"/>
                            </a:solidFill>
                            <a:latin typeface="Cambria Math" panose="02040503050406030204" pitchFamily="18" charset="0"/>
                          </a:rPr>
                          <m:t>0</m:t>
                        </m:r>
                      </m:sub>
                    </m:sSub>
                    <m:r>
                      <a:rPr sz="5750" i="1">
                        <a:solidFill>
                          <a:srgbClr val="000000"/>
                        </a:solidFill>
                        <a:latin typeface="Cambria Math" panose="02040503050406030204" pitchFamily="18" charset="0"/>
                      </a:rPr>
                      <m:t>)=−</m:t>
                    </m:r>
                    <m:r>
                      <m:rPr>
                        <m:sty m:val="p"/>
                      </m:rPr>
                      <a:rPr sz="5750" i="1">
                        <a:solidFill>
                          <a:srgbClr val="000000"/>
                        </a:solidFill>
                        <a:latin typeface="Cambria Math" panose="02040503050406030204" pitchFamily="18" charset="0"/>
                      </a:rPr>
                      <m:t>ln</m:t>
                    </m:r>
                    <m:d>
                      <m:dPr>
                        <m:ctrlPr>
                          <a:rPr sz="5750" i="1">
                            <a:solidFill>
                              <a:srgbClr val="000000"/>
                            </a:solidFill>
                            <a:latin typeface="Cambria Math" panose="02040503050406030204" pitchFamily="18" charset="0"/>
                          </a:rPr>
                        </m:ctrlPr>
                      </m:dPr>
                      <m:e>
                        <m:f>
                          <m:fPr>
                            <m:ctrlPr>
                              <a:rPr sz="5750" i="1">
                                <a:solidFill>
                                  <a:srgbClr val="000000"/>
                                </a:solidFill>
                                <a:latin typeface="Cambria Math" panose="02040503050406030204" pitchFamily="18" charset="0"/>
                              </a:rPr>
                            </m:ctrlPr>
                          </m:fPr>
                          <m:num>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𝑒</m:t>
                                </m:r>
                              </m:e>
                              <m:sup>
                                <m:r>
                                  <a:rPr sz="5750" i="1">
                                    <a:solidFill>
                                      <a:srgbClr val="000000"/>
                                    </a:solidFill>
                                    <a:latin typeface="Cambria Math" panose="02040503050406030204" pitchFamily="18" charset="0"/>
                                  </a:rPr>
                                  <m:t>−</m:t>
                                </m:r>
                                <m:r>
                                  <a:rPr sz="5750" i="1">
                                    <a:solidFill>
                                      <a:srgbClr val="000000"/>
                                    </a:solidFill>
                                    <a:latin typeface="Cambria Math" panose="02040503050406030204" pitchFamily="18" charset="0"/>
                                  </a:rPr>
                                  <m:t>𝛽</m:t>
                                </m:r>
                                <m:r>
                                  <m:rPr>
                                    <m:sty m:val="p"/>
                                  </m:rPr>
                                  <a:rPr sz="5750" i="1">
                                    <a:solidFill>
                                      <a:srgbClr val="000000"/>
                                    </a:solidFill>
                                    <a:latin typeface="Cambria Math" panose="02040503050406030204" pitchFamily="18" charset="0"/>
                                  </a:rPr>
                                  <m:t>Δ</m:t>
                                </m:r>
                                <m:r>
                                  <a:rPr sz="5750" i="1">
                                    <a:solidFill>
                                      <a:srgbClr val="000000"/>
                                    </a:solidFill>
                                    <a:latin typeface="Cambria Math" panose="02040503050406030204" pitchFamily="18" charset="0"/>
                                  </a:rPr>
                                  <m:t>𝑈</m:t>
                                </m:r>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r>
                                  <a:rPr sz="5750" i="1">
                                    <a:solidFill>
                                      <a:srgbClr val="000000"/>
                                    </a:solidFill>
                                    <a:latin typeface="Cambria Math" panose="02040503050406030204" pitchFamily="18" charset="0"/>
                                  </a:rPr>
                                  <m:t>)</m:t>
                                </m:r>
                              </m:sup>
                            </m:sSup>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𝑒</m:t>
                                </m:r>
                              </m:e>
                              <m:sup>
                                <m:r>
                                  <a:rPr sz="5750" i="1">
                                    <a:solidFill>
                                      <a:srgbClr val="000000"/>
                                    </a:solidFill>
                                    <a:latin typeface="Cambria Math" panose="02040503050406030204" pitchFamily="18" charset="0"/>
                                  </a:rPr>
                                  <m:t>−</m:t>
                                </m:r>
                                <m:r>
                                  <a:rPr sz="5750" i="1">
                                    <a:solidFill>
                                      <a:srgbClr val="000000"/>
                                    </a:solidFill>
                                    <a:latin typeface="Cambria Math" panose="02040503050406030204" pitchFamily="18" charset="0"/>
                                  </a:rPr>
                                  <m:t>𝛽</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𝑈</m:t>
                                    </m:r>
                                  </m:e>
                                  <m:sub>
                                    <m:r>
                                      <a:rPr sz="5750" i="1">
                                        <a:solidFill>
                                          <a:srgbClr val="000000"/>
                                        </a:solidFill>
                                        <a:latin typeface="Cambria Math" panose="02040503050406030204" pitchFamily="18" charset="0"/>
                                      </a:rPr>
                                      <m:t>0</m:t>
                                    </m:r>
                                  </m:sub>
                                </m:sSub>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r>
                                  <a:rPr sz="5750" i="1">
                                    <a:solidFill>
                                      <a:srgbClr val="000000"/>
                                    </a:solidFill>
                                    <a:latin typeface="Cambria Math" panose="02040503050406030204" pitchFamily="18" charset="0"/>
                                  </a:rPr>
                                  <m:t>)</m:t>
                                </m:r>
                              </m:sup>
                            </m:sSup>
                            <m:r>
                              <a:rPr sz="5750" i="1">
                                <a:solidFill>
                                  <a:srgbClr val="000000"/>
                                </a:solidFill>
                                <a:latin typeface="Cambria Math" panose="02040503050406030204" pitchFamily="18" charset="0"/>
                              </a:rPr>
                              <m:t>𝑑</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num>
                          <m:den>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𝑒</m:t>
                                </m:r>
                              </m:e>
                              <m:sup>
                                <m:r>
                                  <a:rPr sz="5750" i="1">
                                    <a:solidFill>
                                      <a:srgbClr val="000000"/>
                                    </a:solidFill>
                                    <a:latin typeface="Cambria Math" panose="02040503050406030204" pitchFamily="18" charset="0"/>
                                  </a:rPr>
                                  <m:t>−</m:t>
                                </m:r>
                                <m:r>
                                  <a:rPr sz="5750" i="1">
                                    <a:solidFill>
                                      <a:srgbClr val="000000"/>
                                    </a:solidFill>
                                    <a:latin typeface="Cambria Math" panose="02040503050406030204" pitchFamily="18" charset="0"/>
                                  </a:rPr>
                                  <m:t>𝛽</m:t>
                                </m:r>
                                <m:sSub>
                                  <m:sSubPr>
                                    <m:ctrlPr>
                                      <a:rPr sz="5750" i="1">
                                        <a:solidFill>
                                          <a:srgbClr val="000000"/>
                                        </a:solidFill>
                                        <a:latin typeface="Cambria Math" panose="02040503050406030204" pitchFamily="18" charset="0"/>
                                      </a:rPr>
                                    </m:ctrlPr>
                                  </m:sSubPr>
                                  <m:e>
                                    <m:r>
                                      <a:rPr sz="5750" i="1">
                                        <a:solidFill>
                                          <a:srgbClr val="000000"/>
                                        </a:solidFill>
                                        <a:latin typeface="Cambria Math" panose="02040503050406030204" pitchFamily="18" charset="0"/>
                                      </a:rPr>
                                      <m:t>𝑈</m:t>
                                    </m:r>
                                  </m:e>
                                  <m:sub>
                                    <m:r>
                                      <a:rPr sz="5750" i="1">
                                        <a:solidFill>
                                          <a:srgbClr val="000000"/>
                                        </a:solidFill>
                                        <a:latin typeface="Cambria Math" panose="02040503050406030204" pitchFamily="18" charset="0"/>
                                      </a:rPr>
                                      <m:t>0</m:t>
                                    </m:r>
                                  </m:sub>
                                </m:sSub>
                                <m:r>
                                  <a:rPr sz="5750" i="1">
                                    <a:solidFill>
                                      <a:srgbClr val="000000"/>
                                    </a:solidFill>
                                    <a:latin typeface="Cambria Math" panose="02040503050406030204" pitchFamily="18" charset="0"/>
                                  </a:rPr>
                                  <m:t>(</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r>
                                  <a:rPr sz="5750" i="1">
                                    <a:solidFill>
                                      <a:srgbClr val="000000"/>
                                    </a:solidFill>
                                    <a:latin typeface="Cambria Math" panose="02040503050406030204" pitchFamily="18" charset="0"/>
                                  </a:rPr>
                                  <m:t>)</m:t>
                                </m:r>
                              </m:sup>
                            </m:sSup>
                            <m:r>
                              <a:rPr sz="5750" i="1">
                                <a:solidFill>
                                  <a:srgbClr val="000000"/>
                                </a:solidFill>
                                <a:latin typeface="Cambria Math" panose="02040503050406030204" pitchFamily="18" charset="0"/>
                              </a:rPr>
                              <m:t>𝑑</m:t>
                            </m:r>
                            <m:sSup>
                              <m:sSupPr>
                                <m:ctrlPr>
                                  <a:rPr sz="5750" i="1">
                                    <a:solidFill>
                                      <a:srgbClr val="000000"/>
                                    </a:solidFill>
                                    <a:latin typeface="Cambria Math" panose="02040503050406030204" pitchFamily="18" charset="0"/>
                                  </a:rPr>
                                </m:ctrlPr>
                              </m:sSupPr>
                              <m:e>
                                <m:r>
                                  <a:rPr sz="5750" i="1">
                                    <a:solidFill>
                                      <a:srgbClr val="000000"/>
                                    </a:solidFill>
                                    <a:latin typeface="Cambria Math" panose="02040503050406030204" pitchFamily="18" charset="0"/>
                                  </a:rPr>
                                  <m:t>𝑟</m:t>
                                </m:r>
                              </m:e>
                              <m:sup>
                                <m:r>
                                  <a:rPr sz="5750" i="1">
                                    <a:solidFill>
                                      <a:srgbClr val="000000"/>
                                    </a:solidFill>
                                    <a:latin typeface="Cambria Math" panose="02040503050406030204" pitchFamily="18" charset="0"/>
                                  </a:rPr>
                                  <m:t>𝑁</m:t>
                                </m:r>
                              </m:sup>
                            </m:sSup>
                          </m:den>
                        </m:f>
                      </m:e>
                    </m:d>
                  </m:oMath>
                </a14:m>
                <a:endParaRPr sz="5000" dirty="0"/>
              </a:p>
            </p:txBody>
          </p:sp>
        </mc:Choice>
        <mc:Fallback xmlns="">
          <p:sp>
            <p:nvSpPr>
              <p:cNvPr id="245" name="From before,  .…"/>
              <p:cNvSpPr txBox="1">
                <a:spLocks noGrp="1" noRot="1" noChangeAspect="1" noMove="1" noResize="1" noEditPoints="1" noAdjustHandles="1" noChangeArrowheads="1" noChangeShapeType="1" noTextEdit="1"/>
              </p:cNvSpPr>
              <p:nvPr>
                <p:ph type="body" idx="1"/>
              </p:nvPr>
            </p:nvSpPr>
            <p:spPr>
              <a:prstGeom prst="rect">
                <a:avLst/>
              </a:prstGeom>
              <a:blipFill>
                <a:blip r:embed="rId2"/>
                <a:stretch>
                  <a:fillRect l="-659"/>
                </a:stretch>
              </a:blipFill>
            </p:spPr>
            <p:txBody>
              <a:bodyPr/>
              <a:lstStyle/>
              <a:p>
                <a:r>
                  <a:rPr lang="en-US">
                    <a:noFill/>
                  </a:rPr>
                  <a:t> </a:t>
                </a:r>
              </a:p>
            </p:txBody>
          </p:sp>
        </mc:Fallback>
      </mc:AlternateContent>
      <p:sp>
        <p:nvSpPr>
          <p:cNvPr id="246"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11</a:t>
            </a:fld>
            <a:endParaRPr/>
          </a:p>
        </p:txBody>
      </p:sp>
    </p:spTree>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8" name="The Zwanzig Relation: In Practice"/>
          <p:cNvSpPr txBox="1">
            <a:spLocks noGrp="1"/>
          </p:cNvSpPr>
          <p:nvPr>
            <p:ph type="title"/>
          </p:nvPr>
        </p:nvSpPr>
        <p:spPr>
          <a:prstGeom prst="rect">
            <a:avLst/>
          </a:prstGeom>
        </p:spPr>
        <p:txBody>
          <a:bodyPr/>
          <a:lstStyle/>
          <a:p>
            <a:r>
              <a:t>The Zwanzig Relation: In Practice</a:t>
            </a:r>
          </a:p>
        </p:txBody>
      </p:sp>
      <mc:AlternateContent xmlns:mc="http://schemas.openxmlformats.org/markup-compatibility/2006" xmlns:a14="http://schemas.microsoft.com/office/drawing/2010/main">
        <mc:Choice Requires="a14">
          <p:sp>
            <p:nvSpPr>
              <p:cNvPr id="249" name="Using the definition of  ,  .…"/>
              <p:cNvSpPr txBox="1">
                <a:spLocks noGrp="1"/>
              </p:cNvSpPr>
              <p:nvPr>
                <p:ph type="body" idx="1"/>
              </p:nvPr>
            </p:nvSpPr>
            <p:spPr>
              <a:prstGeom prst="rect">
                <a:avLst/>
              </a:prstGeom>
            </p:spPr>
            <p:txBody>
              <a:bodyPr/>
              <a:lstStyle/>
              <a:p>
                <a:pPr marL="574145" indent="-574145" defTabSz="764024">
                  <a:spcBef>
                    <a:spcPts val="900"/>
                  </a:spcBef>
                  <a:defRPr sz="4650"/>
                </a:pPr>
                <a:r>
                  <a:rPr dirty="0"/>
                  <a:t>Using the definition of </a:t>
                </a:r>
                <a14:m>
                  <m:oMath xmlns:m="http://schemas.openxmlformats.org/officeDocument/2006/math">
                    <m:sSub>
                      <m:sSubPr>
                        <m:ctrlPr>
                          <a:rPr sz="5650" i="1">
                            <a:solidFill>
                              <a:srgbClr val="000000"/>
                            </a:solidFill>
                            <a:latin typeface="Cambria Math" panose="02040503050406030204" pitchFamily="18" charset="0"/>
                          </a:rPr>
                        </m:ctrlPr>
                      </m:sSubPr>
                      <m:e>
                        <m:r>
                          <a:rPr sz="5650" i="1">
                            <a:solidFill>
                              <a:srgbClr val="000000"/>
                            </a:solidFill>
                            <a:latin typeface="Cambria Math" panose="02040503050406030204" pitchFamily="18" charset="0"/>
                          </a:rPr>
                          <m:t>𝜌</m:t>
                        </m:r>
                      </m:e>
                      <m:sub>
                        <m:r>
                          <a:rPr sz="5650" i="1">
                            <a:solidFill>
                              <a:srgbClr val="000000"/>
                            </a:solidFill>
                            <a:latin typeface="Cambria Math" panose="02040503050406030204" pitchFamily="18" charset="0"/>
                          </a:rPr>
                          <m:t>𝑠</m:t>
                        </m:r>
                      </m:sub>
                    </m:sSub>
                    <m:r>
                      <a:rPr sz="5650" i="1">
                        <a:solidFill>
                          <a:srgbClr val="000000"/>
                        </a:solidFill>
                        <a:latin typeface="Cambria Math" panose="02040503050406030204" pitchFamily="18" charset="0"/>
                      </a:rPr>
                      <m:t>(</m:t>
                    </m:r>
                    <m:sSup>
                      <m:sSupPr>
                        <m:ctrlPr>
                          <a:rPr sz="5650" i="1">
                            <a:solidFill>
                              <a:srgbClr val="000000"/>
                            </a:solidFill>
                            <a:latin typeface="Cambria Math" panose="02040503050406030204" pitchFamily="18" charset="0"/>
                          </a:rPr>
                        </m:ctrlPr>
                      </m:sSupPr>
                      <m:e>
                        <m:r>
                          <a:rPr sz="5650" i="1">
                            <a:solidFill>
                              <a:srgbClr val="000000"/>
                            </a:solidFill>
                            <a:latin typeface="Cambria Math" panose="02040503050406030204" pitchFamily="18" charset="0"/>
                          </a:rPr>
                          <m:t>𝑟</m:t>
                        </m:r>
                      </m:e>
                      <m:sup>
                        <m:r>
                          <a:rPr sz="5650" i="1">
                            <a:solidFill>
                              <a:srgbClr val="000000"/>
                            </a:solidFill>
                            <a:latin typeface="Cambria Math" panose="02040503050406030204" pitchFamily="18" charset="0"/>
                          </a:rPr>
                          <m:t>𝑁</m:t>
                        </m:r>
                      </m:sup>
                    </m:sSup>
                    <m:r>
                      <a:rPr sz="5650" i="1">
                        <a:solidFill>
                          <a:srgbClr val="000000"/>
                        </a:solidFill>
                        <a:latin typeface="Cambria Math" panose="02040503050406030204" pitchFamily="18" charset="0"/>
                      </a:rPr>
                      <m:t>)</m:t>
                    </m:r>
                  </m:oMath>
                </a14:m>
                <a:r>
                  <a:rPr dirty="0"/>
                  <a:t>, </a:t>
                </a:r>
                <a14:m>
                  <m:oMath xmlns:m="http://schemas.openxmlformats.org/officeDocument/2006/math">
                    <m:r>
                      <a:rPr sz="5650" i="1">
                        <a:solidFill>
                          <a:srgbClr val="000000"/>
                        </a:solidFill>
                        <a:latin typeface="Cambria Math" panose="02040503050406030204" pitchFamily="18" charset="0"/>
                      </a:rPr>
                      <m:t>𝛽</m:t>
                    </m:r>
                    <m:r>
                      <a:rPr sz="5650" i="1">
                        <a:solidFill>
                          <a:srgbClr val="000000"/>
                        </a:solidFill>
                        <a:latin typeface="Cambria Math" panose="02040503050406030204" pitchFamily="18" charset="0"/>
                      </a:rPr>
                      <m:t>(</m:t>
                    </m:r>
                    <m:sSub>
                      <m:sSubPr>
                        <m:ctrlPr>
                          <a:rPr sz="5650" i="1">
                            <a:solidFill>
                              <a:srgbClr val="000000"/>
                            </a:solidFill>
                            <a:latin typeface="Cambria Math" panose="02040503050406030204" pitchFamily="18" charset="0"/>
                          </a:rPr>
                        </m:ctrlPr>
                      </m:sSubPr>
                      <m:e>
                        <m:r>
                          <a:rPr sz="5650" i="1">
                            <a:solidFill>
                              <a:srgbClr val="000000"/>
                            </a:solidFill>
                            <a:latin typeface="Cambria Math" panose="02040503050406030204" pitchFamily="18" charset="0"/>
                          </a:rPr>
                          <m:t>𝐴</m:t>
                        </m:r>
                      </m:e>
                      <m:sub>
                        <m:r>
                          <a:rPr sz="5650" i="1">
                            <a:solidFill>
                              <a:srgbClr val="000000"/>
                            </a:solidFill>
                            <a:latin typeface="Cambria Math" panose="02040503050406030204" pitchFamily="18" charset="0"/>
                          </a:rPr>
                          <m:t>1</m:t>
                        </m:r>
                      </m:sub>
                    </m:sSub>
                    <m:r>
                      <a:rPr sz="5650" i="1">
                        <a:solidFill>
                          <a:srgbClr val="000000"/>
                        </a:solidFill>
                        <a:latin typeface="Cambria Math" panose="02040503050406030204" pitchFamily="18" charset="0"/>
                      </a:rPr>
                      <m:t>−</m:t>
                    </m:r>
                    <m:sSub>
                      <m:sSubPr>
                        <m:ctrlPr>
                          <a:rPr sz="5650" i="1">
                            <a:solidFill>
                              <a:srgbClr val="000000"/>
                            </a:solidFill>
                            <a:latin typeface="Cambria Math" panose="02040503050406030204" pitchFamily="18" charset="0"/>
                          </a:rPr>
                        </m:ctrlPr>
                      </m:sSubPr>
                      <m:e>
                        <m:r>
                          <a:rPr sz="5650" i="1">
                            <a:solidFill>
                              <a:srgbClr val="000000"/>
                            </a:solidFill>
                            <a:latin typeface="Cambria Math" panose="02040503050406030204" pitchFamily="18" charset="0"/>
                          </a:rPr>
                          <m:t>𝐴</m:t>
                        </m:r>
                      </m:e>
                      <m:sub>
                        <m:r>
                          <a:rPr sz="5650" i="1">
                            <a:solidFill>
                              <a:srgbClr val="000000"/>
                            </a:solidFill>
                            <a:latin typeface="Cambria Math" panose="02040503050406030204" pitchFamily="18" charset="0"/>
                          </a:rPr>
                          <m:t>0</m:t>
                        </m:r>
                      </m:sub>
                    </m:sSub>
                    <m:r>
                      <a:rPr sz="5650" i="1">
                        <a:solidFill>
                          <a:srgbClr val="000000"/>
                        </a:solidFill>
                        <a:latin typeface="Cambria Math" panose="02040503050406030204" pitchFamily="18" charset="0"/>
                      </a:rPr>
                      <m:t>)=−</m:t>
                    </m:r>
                    <m:r>
                      <m:rPr>
                        <m:sty m:val="p"/>
                      </m:rPr>
                      <a:rPr sz="5650" i="1">
                        <a:solidFill>
                          <a:srgbClr val="000000"/>
                        </a:solidFill>
                        <a:latin typeface="Cambria Math" panose="02040503050406030204" pitchFamily="18" charset="0"/>
                      </a:rPr>
                      <m:t>ln</m:t>
                    </m:r>
                    <m:r>
                      <a:rPr sz="5650" i="1">
                        <a:solidFill>
                          <a:srgbClr val="000000"/>
                        </a:solidFill>
                        <a:latin typeface="Cambria Math" panose="02040503050406030204" pitchFamily="18" charset="0"/>
                      </a:rPr>
                      <m:t>∫</m:t>
                    </m:r>
                    <m:sSub>
                      <m:sSubPr>
                        <m:ctrlPr>
                          <a:rPr sz="5650" i="1">
                            <a:solidFill>
                              <a:srgbClr val="000000"/>
                            </a:solidFill>
                            <a:latin typeface="Cambria Math" panose="02040503050406030204" pitchFamily="18" charset="0"/>
                          </a:rPr>
                        </m:ctrlPr>
                      </m:sSubPr>
                      <m:e>
                        <m:r>
                          <a:rPr sz="5650" i="1">
                            <a:solidFill>
                              <a:srgbClr val="000000"/>
                            </a:solidFill>
                            <a:latin typeface="Cambria Math" panose="02040503050406030204" pitchFamily="18" charset="0"/>
                          </a:rPr>
                          <m:t>𝜌</m:t>
                        </m:r>
                      </m:e>
                      <m:sub>
                        <m:r>
                          <a:rPr sz="5650" i="1">
                            <a:solidFill>
                              <a:srgbClr val="000000"/>
                            </a:solidFill>
                            <a:latin typeface="Cambria Math" panose="02040503050406030204" pitchFamily="18" charset="0"/>
                          </a:rPr>
                          <m:t>0</m:t>
                        </m:r>
                      </m:sub>
                    </m:sSub>
                    <m:r>
                      <a:rPr sz="5650" i="1">
                        <a:solidFill>
                          <a:srgbClr val="000000"/>
                        </a:solidFill>
                        <a:latin typeface="Cambria Math" panose="02040503050406030204" pitchFamily="18" charset="0"/>
                      </a:rPr>
                      <m:t>(</m:t>
                    </m:r>
                    <m:sSup>
                      <m:sSupPr>
                        <m:ctrlPr>
                          <a:rPr sz="5650" i="1">
                            <a:solidFill>
                              <a:srgbClr val="000000"/>
                            </a:solidFill>
                            <a:latin typeface="Cambria Math" panose="02040503050406030204" pitchFamily="18" charset="0"/>
                          </a:rPr>
                        </m:ctrlPr>
                      </m:sSupPr>
                      <m:e>
                        <m:r>
                          <a:rPr sz="5650" i="1">
                            <a:solidFill>
                              <a:srgbClr val="000000"/>
                            </a:solidFill>
                            <a:latin typeface="Cambria Math" panose="02040503050406030204" pitchFamily="18" charset="0"/>
                          </a:rPr>
                          <m:t>𝑟</m:t>
                        </m:r>
                      </m:e>
                      <m:sup>
                        <m:r>
                          <a:rPr sz="5650" i="1">
                            <a:solidFill>
                              <a:srgbClr val="000000"/>
                            </a:solidFill>
                            <a:latin typeface="Cambria Math" panose="02040503050406030204" pitchFamily="18" charset="0"/>
                          </a:rPr>
                          <m:t>𝑁</m:t>
                        </m:r>
                      </m:sup>
                    </m:sSup>
                    <m:r>
                      <a:rPr sz="5650" i="1">
                        <a:solidFill>
                          <a:srgbClr val="000000"/>
                        </a:solidFill>
                        <a:latin typeface="Cambria Math" panose="02040503050406030204" pitchFamily="18" charset="0"/>
                      </a:rPr>
                      <m:t>)</m:t>
                    </m:r>
                    <m:sSup>
                      <m:sSupPr>
                        <m:ctrlPr>
                          <a:rPr sz="5650" i="1">
                            <a:solidFill>
                              <a:srgbClr val="000000"/>
                            </a:solidFill>
                            <a:latin typeface="Cambria Math" panose="02040503050406030204" pitchFamily="18" charset="0"/>
                          </a:rPr>
                        </m:ctrlPr>
                      </m:sSupPr>
                      <m:e>
                        <m:r>
                          <a:rPr sz="5650" i="1">
                            <a:solidFill>
                              <a:srgbClr val="000000"/>
                            </a:solidFill>
                            <a:latin typeface="Cambria Math" panose="02040503050406030204" pitchFamily="18" charset="0"/>
                          </a:rPr>
                          <m:t>𝑒</m:t>
                        </m:r>
                      </m:e>
                      <m:sup>
                        <m:r>
                          <a:rPr sz="5650" i="1">
                            <a:solidFill>
                              <a:srgbClr val="000000"/>
                            </a:solidFill>
                            <a:latin typeface="Cambria Math" panose="02040503050406030204" pitchFamily="18" charset="0"/>
                          </a:rPr>
                          <m:t>−</m:t>
                        </m:r>
                        <m:r>
                          <a:rPr sz="5650" i="1">
                            <a:solidFill>
                              <a:srgbClr val="000000"/>
                            </a:solidFill>
                            <a:latin typeface="Cambria Math" panose="02040503050406030204" pitchFamily="18" charset="0"/>
                          </a:rPr>
                          <m:t>𝛽</m:t>
                        </m:r>
                        <m:r>
                          <m:rPr>
                            <m:sty m:val="p"/>
                          </m:rPr>
                          <a:rPr sz="5650" i="1">
                            <a:solidFill>
                              <a:srgbClr val="000000"/>
                            </a:solidFill>
                            <a:latin typeface="Cambria Math" panose="02040503050406030204" pitchFamily="18" charset="0"/>
                          </a:rPr>
                          <m:t>Δ</m:t>
                        </m:r>
                        <m:r>
                          <a:rPr sz="5650" i="1">
                            <a:solidFill>
                              <a:srgbClr val="000000"/>
                            </a:solidFill>
                            <a:latin typeface="Cambria Math" panose="02040503050406030204" pitchFamily="18" charset="0"/>
                          </a:rPr>
                          <m:t>𝑈</m:t>
                        </m:r>
                        <m:r>
                          <a:rPr sz="5650" i="1">
                            <a:solidFill>
                              <a:srgbClr val="000000"/>
                            </a:solidFill>
                            <a:latin typeface="Cambria Math" panose="02040503050406030204" pitchFamily="18" charset="0"/>
                          </a:rPr>
                          <m:t>(</m:t>
                        </m:r>
                        <m:sSup>
                          <m:sSupPr>
                            <m:ctrlPr>
                              <a:rPr sz="5650" i="1">
                                <a:solidFill>
                                  <a:srgbClr val="000000"/>
                                </a:solidFill>
                                <a:latin typeface="Cambria Math" panose="02040503050406030204" pitchFamily="18" charset="0"/>
                              </a:rPr>
                            </m:ctrlPr>
                          </m:sSupPr>
                          <m:e>
                            <m:r>
                              <a:rPr sz="5650" i="1">
                                <a:solidFill>
                                  <a:srgbClr val="000000"/>
                                </a:solidFill>
                                <a:latin typeface="Cambria Math" panose="02040503050406030204" pitchFamily="18" charset="0"/>
                              </a:rPr>
                              <m:t>𝑟</m:t>
                            </m:r>
                          </m:e>
                          <m:sup>
                            <m:r>
                              <a:rPr sz="5650" i="1">
                                <a:solidFill>
                                  <a:srgbClr val="000000"/>
                                </a:solidFill>
                                <a:latin typeface="Cambria Math" panose="02040503050406030204" pitchFamily="18" charset="0"/>
                              </a:rPr>
                              <m:t>𝑁</m:t>
                            </m:r>
                          </m:sup>
                        </m:sSup>
                        <m:r>
                          <a:rPr sz="5650" i="1">
                            <a:solidFill>
                              <a:srgbClr val="000000"/>
                            </a:solidFill>
                            <a:latin typeface="Cambria Math" panose="02040503050406030204" pitchFamily="18" charset="0"/>
                          </a:rPr>
                          <m:t>)</m:t>
                        </m:r>
                      </m:sup>
                    </m:sSup>
                    <m:r>
                      <a:rPr sz="5650" i="1">
                        <a:solidFill>
                          <a:srgbClr val="000000"/>
                        </a:solidFill>
                        <a:latin typeface="Cambria Math" panose="02040503050406030204" pitchFamily="18" charset="0"/>
                      </a:rPr>
                      <m:t>𝑑</m:t>
                    </m:r>
                    <m:sSup>
                      <m:sSupPr>
                        <m:ctrlPr>
                          <a:rPr sz="5650" i="1">
                            <a:solidFill>
                              <a:srgbClr val="000000"/>
                            </a:solidFill>
                            <a:latin typeface="Cambria Math" panose="02040503050406030204" pitchFamily="18" charset="0"/>
                          </a:rPr>
                        </m:ctrlPr>
                      </m:sSupPr>
                      <m:e>
                        <m:r>
                          <a:rPr sz="5650" i="1">
                            <a:solidFill>
                              <a:srgbClr val="000000"/>
                            </a:solidFill>
                            <a:latin typeface="Cambria Math" panose="02040503050406030204" pitchFamily="18" charset="0"/>
                          </a:rPr>
                          <m:t>𝑟</m:t>
                        </m:r>
                      </m:e>
                      <m:sup>
                        <m:r>
                          <a:rPr sz="5650" i="1">
                            <a:solidFill>
                              <a:srgbClr val="000000"/>
                            </a:solidFill>
                            <a:latin typeface="Cambria Math" panose="02040503050406030204" pitchFamily="18" charset="0"/>
                          </a:rPr>
                          <m:t>𝑁</m:t>
                        </m:r>
                      </m:sup>
                    </m:sSup>
                  </m:oMath>
                </a14:m>
                <a:r>
                  <a:rPr dirty="0"/>
                  <a:t>.</a:t>
                </a:r>
              </a:p>
              <a:p>
                <a:pPr marL="574145" indent="-574145" defTabSz="764024">
                  <a:spcBef>
                    <a:spcPts val="900"/>
                  </a:spcBef>
                  <a:defRPr sz="4650"/>
                </a:pPr>
                <a:r>
                  <a:rPr dirty="0"/>
                  <a:t>The Zwanzig relation [3] is </a:t>
                </a:r>
              </a:p>
              <a:p>
                <a:pPr marL="987530" lvl="1" indent="-574145" defTabSz="764024">
                  <a:spcBef>
                    <a:spcPts val="900"/>
                  </a:spcBef>
                  <a:defRPr sz="4650"/>
                </a:pPr>
                <a14:m>
                  <m:oMath xmlns:m="http://schemas.openxmlformats.org/officeDocument/2006/math">
                    <m:r>
                      <a:rPr sz="5650" i="1">
                        <a:solidFill>
                          <a:srgbClr val="000000"/>
                        </a:solidFill>
                        <a:latin typeface="Cambria Math" panose="02040503050406030204" pitchFamily="18" charset="0"/>
                      </a:rPr>
                      <m:t>𝛽</m:t>
                    </m:r>
                    <m:r>
                      <a:rPr sz="5650" i="1">
                        <a:solidFill>
                          <a:srgbClr val="000000"/>
                        </a:solidFill>
                        <a:latin typeface="Cambria Math" panose="02040503050406030204" pitchFamily="18" charset="0"/>
                      </a:rPr>
                      <m:t>(</m:t>
                    </m:r>
                    <m:sSub>
                      <m:sSubPr>
                        <m:ctrlPr>
                          <a:rPr sz="5650" i="1">
                            <a:solidFill>
                              <a:srgbClr val="000000"/>
                            </a:solidFill>
                            <a:latin typeface="Cambria Math" panose="02040503050406030204" pitchFamily="18" charset="0"/>
                          </a:rPr>
                        </m:ctrlPr>
                      </m:sSubPr>
                      <m:e>
                        <m:r>
                          <a:rPr sz="5650" i="1">
                            <a:solidFill>
                              <a:srgbClr val="000000"/>
                            </a:solidFill>
                            <a:latin typeface="Cambria Math" panose="02040503050406030204" pitchFamily="18" charset="0"/>
                          </a:rPr>
                          <m:t>𝐴</m:t>
                        </m:r>
                      </m:e>
                      <m:sub>
                        <m:r>
                          <a:rPr sz="5650" i="1">
                            <a:solidFill>
                              <a:srgbClr val="000000"/>
                            </a:solidFill>
                            <a:latin typeface="Cambria Math" panose="02040503050406030204" pitchFamily="18" charset="0"/>
                          </a:rPr>
                          <m:t>1</m:t>
                        </m:r>
                      </m:sub>
                    </m:sSub>
                    <m:r>
                      <a:rPr sz="5650" i="1">
                        <a:solidFill>
                          <a:srgbClr val="000000"/>
                        </a:solidFill>
                        <a:latin typeface="Cambria Math" panose="02040503050406030204" pitchFamily="18" charset="0"/>
                      </a:rPr>
                      <m:t>−</m:t>
                    </m:r>
                    <m:sSub>
                      <m:sSubPr>
                        <m:ctrlPr>
                          <a:rPr sz="5650" i="1">
                            <a:solidFill>
                              <a:srgbClr val="000000"/>
                            </a:solidFill>
                            <a:latin typeface="Cambria Math" panose="02040503050406030204" pitchFamily="18" charset="0"/>
                          </a:rPr>
                        </m:ctrlPr>
                      </m:sSubPr>
                      <m:e>
                        <m:r>
                          <a:rPr sz="5650" i="1">
                            <a:solidFill>
                              <a:srgbClr val="000000"/>
                            </a:solidFill>
                            <a:latin typeface="Cambria Math" panose="02040503050406030204" pitchFamily="18" charset="0"/>
                          </a:rPr>
                          <m:t>𝐴</m:t>
                        </m:r>
                      </m:e>
                      <m:sub>
                        <m:r>
                          <a:rPr sz="5650" i="1">
                            <a:solidFill>
                              <a:srgbClr val="000000"/>
                            </a:solidFill>
                            <a:latin typeface="Cambria Math" panose="02040503050406030204" pitchFamily="18" charset="0"/>
                          </a:rPr>
                          <m:t>0</m:t>
                        </m:r>
                      </m:sub>
                    </m:sSub>
                    <m:r>
                      <a:rPr sz="5650" i="1">
                        <a:solidFill>
                          <a:srgbClr val="000000"/>
                        </a:solidFill>
                        <a:latin typeface="Cambria Math" panose="02040503050406030204" pitchFamily="18" charset="0"/>
                      </a:rPr>
                      <m:t>)=−</m:t>
                    </m:r>
                    <m:r>
                      <m:rPr>
                        <m:sty m:val="p"/>
                      </m:rPr>
                      <a:rPr sz="5650" i="1">
                        <a:solidFill>
                          <a:srgbClr val="000000"/>
                        </a:solidFill>
                        <a:latin typeface="Cambria Math" panose="02040503050406030204" pitchFamily="18" charset="0"/>
                      </a:rPr>
                      <m:t>ln</m:t>
                    </m:r>
                    <m:sSub>
                      <m:sSubPr>
                        <m:ctrlPr>
                          <a:rPr sz="5650" i="1">
                            <a:solidFill>
                              <a:srgbClr val="000000"/>
                            </a:solidFill>
                            <a:latin typeface="Cambria Math" panose="02040503050406030204" pitchFamily="18" charset="0"/>
                          </a:rPr>
                        </m:ctrlPr>
                      </m:sSubPr>
                      <m:e>
                        <m:r>
                          <a:rPr sz="5650" i="1">
                            <a:solidFill>
                              <a:srgbClr val="000000"/>
                            </a:solidFill>
                            <a:latin typeface="Cambria Math" panose="02040503050406030204" pitchFamily="18" charset="0"/>
                          </a:rPr>
                          <m:t>⟨</m:t>
                        </m:r>
                        <m:sSup>
                          <m:sSupPr>
                            <m:ctrlPr>
                              <a:rPr sz="5650" i="1">
                                <a:solidFill>
                                  <a:srgbClr val="000000"/>
                                </a:solidFill>
                                <a:latin typeface="Cambria Math" panose="02040503050406030204" pitchFamily="18" charset="0"/>
                              </a:rPr>
                            </m:ctrlPr>
                          </m:sSupPr>
                          <m:e>
                            <m:r>
                              <a:rPr sz="5650" i="1">
                                <a:solidFill>
                                  <a:srgbClr val="000000"/>
                                </a:solidFill>
                                <a:latin typeface="Cambria Math" panose="02040503050406030204" pitchFamily="18" charset="0"/>
                              </a:rPr>
                              <m:t>𝑒</m:t>
                            </m:r>
                          </m:e>
                          <m:sup>
                            <m:r>
                              <a:rPr sz="5650" i="1">
                                <a:solidFill>
                                  <a:srgbClr val="000000"/>
                                </a:solidFill>
                                <a:latin typeface="Cambria Math" panose="02040503050406030204" pitchFamily="18" charset="0"/>
                              </a:rPr>
                              <m:t>−</m:t>
                            </m:r>
                            <m:r>
                              <a:rPr sz="5650" i="1">
                                <a:solidFill>
                                  <a:srgbClr val="000000"/>
                                </a:solidFill>
                                <a:latin typeface="Cambria Math" panose="02040503050406030204" pitchFamily="18" charset="0"/>
                              </a:rPr>
                              <m:t>𝛽</m:t>
                            </m:r>
                            <m:r>
                              <m:rPr>
                                <m:sty m:val="p"/>
                              </m:rPr>
                              <a:rPr sz="5650" i="1">
                                <a:solidFill>
                                  <a:srgbClr val="000000"/>
                                </a:solidFill>
                                <a:latin typeface="Cambria Math" panose="02040503050406030204" pitchFamily="18" charset="0"/>
                              </a:rPr>
                              <m:t>Δ</m:t>
                            </m:r>
                            <m:r>
                              <a:rPr sz="5650" i="1">
                                <a:solidFill>
                                  <a:srgbClr val="000000"/>
                                </a:solidFill>
                                <a:latin typeface="Cambria Math" panose="02040503050406030204" pitchFamily="18" charset="0"/>
                              </a:rPr>
                              <m:t>𝑈</m:t>
                            </m:r>
                          </m:sup>
                        </m:sSup>
                        <m:r>
                          <a:rPr sz="5650" i="1">
                            <a:solidFill>
                              <a:srgbClr val="000000"/>
                            </a:solidFill>
                            <a:latin typeface="Cambria Math" panose="02040503050406030204" pitchFamily="18" charset="0"/>
                          </a:rPr>
                          <m:t>⟩</m:t>
                        </m:r>
                      </m:e>
                      <m:sub>
                        <m:r>
                          <a:rPr sz="5650" i="1">
                            <a:solidFill>
                              <a:srgbClr val="000000"/>
                            </a:solidFill>
                            <a:latin typeface="Cambria Math" panose="02040503050406030204" pitchFamily="18" charset="0"/>
                          </a:rPr>
                          <m:t>0</m:t>
                        </m:r>
                      </m:sub>
                    </m:sSub>
                  </m:oMath>
                </a14:m>
                <a:r>
                  <a:rPr dirty="0"/>
                  <a:t> in a simpler notation.</a:t>
                </a:r>
              </a:p>
              <a:p>
                <a:pPr marL="987530" lvl="1" indent="-574145" defTabSz="764024">
                  <a:spcBef>
                    <a:spcPts val="900"/>
                  </a:spcBef>
                  <a:defRPr sz="4650"/>
                </a:pPr>
                <a14:m>
                  <m:oMath xmlns:m="http://schemas.openxmlformats.org/officeDocument/2006/math">
                    <m:r>
                      <a:rPr sz="5650" i="1">
                        <a:solidFill>
                          <a:srgbClr val="000000"/>
                        </a:solidFill>
                        <a:latin typeface="Cambria Math" panose="02040503050406030204" pitchFamily="18" charset="0"/>
                      </a:rPr>
                      <m:t>𝛽</m:t>
                    </m:r>
                    <m:r>
                      <a:rPr sz="5650" i="1">
                        <a:solidFill>
                          <a:srgbClr val="000000"/>
                        </a:solidFill>
                        <a:latin typeface="Cambria Math" panose="02040503050406030204" pitchFamily="18" charset="0"/>
                      </a:rPr>
                      <m:t>(</m:t>
                    </m:r>
                    <m:sSub>
                      <m:sSubPr>
                        <m:ctrlPr>
                          <a:rPr sz="5650" i="1">
                            <a:solidFill>
                              <a:srgbClr val="000000"/>
                            </a:solidFill>
                            <a:latin typeface="Cambria Math" panose="02040503050406030204" pitchFamily="18" charset="0"/>
                          </a:rPr>
                        </m:ctrlPr>
                      </m:sSubPr>
                      <m:e>
                        <m:r>
                          <a:rPr sz="5650" i="1">
                            <a:solidFill>
                              <a:srgbClr val="000000"/>
                            </a:solidFill>
                            <a:latin typeface="Cambria Math" panose="02040503050406030204" pitchFamily="18" charset="0"/>
                          </a:rPr>
                          <m:t>𝐴</m:t>
                        </m:r>
                      </m:e>
                      <m:sub>
                        <m:r>
                          <a:rPr sz="5650" i="1">
                            <a:solidFill>
                              <a:srgbClr val="000000"/>
                            </a:solidFill>
                            <a:latin typeface="Cambria Math" panose="02040503050406030204" pitchFamily="18" charset="0"/>
                          </a:rPr>
                          <m:t>1</m:t>
                        </m:r>
                      </m:sub>
                    </m:sSub>
                    <m:r>
                      <a:rPr sz="5650" i="1">
                        <a:solidFill>
                          <a:srgbClr val="000000"/>
                        </a:solidFill>
                        <a:latin typeface="Cambria Math" panose="02040503050406030204" pitchFamily="18" charset="0"/>
                      </a:rPr>
                      <m:t>−</m:t>
                    </m:r>
                    <m:sSub>
                      <m:sSubPr>
                        <m:ctrlPr>
                          <a:rPr sz="5650" i="1">
                            <a:solidFill>
                              <a:srgbClr val="000000"/>
                            </a:solidFill>
                            <a:latin typeface="Cambria Math" panose="02040503050406030204" pitchFamily="18" charset="0"/>
                          </a:rPr>
                        </m:ctrlPr>
                      </m:sSubPr>
                      <m:e>
                        <m:r>
                          <a:rPr sz="5650" i="1">
                            <a:solidFill>
                              <a:srgbClr val="000000"/>
                            </a:solidFill>
                            <a:latin typeface="Cambria Math" panose="02040503050406030204" pitchFamily="18" charset="0"/>
                          </a:rPr>
                          <m:t>𝐴</m:t>
                        </m:r>
                      </m:e>
                      <m:sub>
                        <m:r>
                          <a:rPr sz="5650" i="1">
                            <a:solidFill>
                              <a:srgbClr val="000000"/>
                            </a:solidFill>
                            <a:latin typeface="Cambria Math" panose="02040503050406030204" pitchFamily="18" charset="0"/>
                          </a:rPr>
                          <m:t>0</m:t>
                        </m:r>
                      </m:sub>
                    </m:sSub>
                    <m:r>
                      <a:rPr sz="5650" i="1">
                        <a:solidFill>
                          <a:srgbClr val="000000"/>
                        </a:solidFill>
                        <a:latin typeface="Cambria Math" panose="02040503050406030204" pitchFamily="18" charset="0"/>
                      </a:rPr>
                      <m:t>)=−</m:t>
                    </m:r>
                    <m:r>
                      <m:rPr>
                        <m:sty m:val="p"/>
                      </m:rPr>
                      <a:rPr sz="5650" i="1">
                        <a:solidFill>
                          <a:srgbClr val="000000"/>
                        </a:solidFill>
                        <a:latin typeface="Cambria Math" panose="02040503050406030204" pitchFamily="18" charset="0"/>
                      </a:rPr>
                      <m:t>ln</m:t>
                    </m:r>
                    <m:sSub>
                      <m:sSubPr>
                        <m:ctrlPr>
                          <a:rPr sz="5650" i="1">
                            <a:solidFill>
                              <a:srgbClr val="000000"/>
                            </a:solidFill>
                            <a:latin typeface="Cambria Math" panose="02040503050406030204" pitchFamily="18" charset="0"/>
                          </a:rPr>
                        </m:ctrlPr>
                      </m:sSubPr>
                      <m:e>
                        <m:r>
                          <a:rPr sz="5650" i="1">
                            <a:solidFill>
                              <a:srgbClr val="000000"/>
                            </a:solidFill>
                            <a:latin typeface="Cambria Math" panose="02040503050406030204" pitchFamily="18" charset="0"/>
                          </a:rPr>
                          <m:t>⟨</m:t>
                        </m:r>
                        <m:sSup>
                          <m:sSupPr>
                            <m:ctrlPr>
                              <a:rPr sz="5650" i="1">
                                <a:solidFill>
                                  <a:srgbClr val="000000"/>
                                </a:solidFill>
                                <a:latin typeface="Cambria Math" panose="02040503050406030204" pitchFamily="18" charset="0"/>
                              </a:rPr>
                            </m:ctrlPr>
                          </m:sSupPr>
                          <m:e>
                            <m:r>
                              <a:rPr sz="5650" i="1">
                                <a:solidFill>
                                  <a:srgbClr val="000000"/>
                                </a:solidFill>
                                <a:latin typeface="Cambria Math" panose="02040503050406030204" pitchFamily="18" charset="0"/>
                              </a:rPr>
                              <m:t>𝑒</m:t>
                            </m:r>
                          </m:e>
                          <m:sup>
                            <m:r>
                              <a:rPr sz="5650" i="1">
                                <a:solidFill>
                                  <a:srgbClr val="000000"/>
                                </a:solidFill>
                                <a:latin typeface="Cambria Math" panose="02040503050406030204" pitchFamily="18" charset="0"/>
                              </a:rPr>
                              <m:t>𝛽</m:t>
                            </m:r>
                            <m:r>
                              <m:rPr>
                                <m:sty m:val="p"/>
                              </m:rPr>
                              <a:rPr sz="5650" i="1">
                                <a:solidFill>
                                  <a:srgbClr val="000000"/>
                                </a:solidFill>
                                <a:latin typeface="Cambria Math" panose="02040503050406030204" pitchFamily="18" charset="0"/>
                              </a:rPr>
                              <m:t>Δ</m:t>
                            </m:r>
                            <m:r>
                              <a:rPr sz="5650" i="1">
                                <a:solidFill>
                                  <a:srgbClr val="000000"/>
                                </a:solidFill>
                                <a:latin typeface="Cambria Math" panose="02040503050406030204" pitchFamily="18" charset="0"/>
                              </a:rPr>
                              <m:t>𝑈</m:t>
                            </m:r>
                          </m:sup>
                        </m:sSup>
                        <m:r>
                          <a:rPr sz="5650" i="1">
                            <a:solidFill>
                              <a:srgbClr val="000000"/>
                            </a:solidFill>
                            <a:latin typeface="Cambria Math" panose="02040503050406030204" pitchFamily="18" charset="0"/>
                          </a:rPr>
                          <m:t>⟩</m:t>
                        </m:r>
                      </m:e>
                      <m:sub>
                        <m:r>
                          <a:rPr sz="5650" i="1">
                            <a:solidFill>
                              <a:srgbClr val="000000"/>
                            </a:solidFill>
                            <a:latin typeface="Cambria Math" panose="02040503050406030204" pitchFamily="18" charset="0"/>
                          </a:rPr>
                          <m:t>1</m:t>
                        </m:r>
                      </m:sub>
                    </m:sSub>
                  </m:oMath>
                </a14:m>
                <a:r>
                  <a:rPr dirty="0"/>
                  <a:t> can be derived with similar steps</a:t>
                </a:r>
              </a:p>
              <a:p>
                <a:pPr marL="574145" indent="-574145" defTabSz="764024">
                  <a:spcBef>
                    <a:spcPts val="900"/>
                  </a:spcBef>
                  <a:defRPr sz="4650"/>
                </a:pPr>
                <a:r>
                  <a:rPr dirty="0"/>
                  <a:t>This shows us that</a:t>
                </a:r>
              </a:p>
              <a:p>
                <a:pPr marL="987530" lvl="1" indent="-574145" defTabSz="764024">
                  <a:spcBef>
                    <a:spcPts val="900"/>
                  </a:spcBef>
                  <a:defRPr sz="4650"/>
                </a:pPr>
                <a:r>
                  <a:rPr dirty="0"/>
                  <a:t>The free energy difference can be computed based on an average over configurations taken from </a:t>
                </a:r>
                <a:r>
                  <a:rPr i="1" dirty="0"/>
                  <a:t>one</a:t>
                </a:r>
                <a:r>
                  <a:rPr dirty="0"/>
                  <a:t> of the states of interest</a:t>
                </a:r>
              </a:p>
              <a:p>
                <a:pPr marL="987530" lvl="1" indent="-574145" defTabSz="764024">
                  <a:spcBef>
                    <a:spcPts val="900"/>
                  </a:spcBef>
                  <a:defRPr sz="4650"/>
                </a:pPr>
                <a:r>
                  <a:rPr dirty="0"/>
                  <a:t>We can generate these configurations with MC or MD</a:t>
                </a:r>
              </a:p>
              <a:p>
                <a:pPr marL="987530" lvl="1" indent="-574145" defTabSz="764024">
                  <a:spcBef>
                    <a:spcPts val="900"/>
                  </a:spcBef>
                  <a:defRPr sz="4650"/>
                </a:pPr>
                <a:r>
                  <a:rPr dirty="0"/>
                  <a:t>The free energy comes from evaluating the energies of these configurations in both potentials </a:t>
                </a:r>
                <a14:m>
                  <m:oMath xmlns:m="http://schemas.openxmlformats.org/officeDocument/2006/math">
                    <m:sSub>
                      <m:sSubPr>
                        <m:ctrlPr>
                          <a:rPr sz="5650" i="1">
                            <a:solidFill>
                              <a:srgbClr val="000000"/>
                            </a:solidFill>
                            <a:latin typeface="Cambria Math" panose="02040503050406030204" pitchFamily="18" charset="0"/>
                          </a:rPr>
                        </m:ctrlPr>
                      </m:sSubPr>
                      <m:e>
                        <m:r>
                          <a:rPr sz="5650" i="1">
                            <a:solidFill>
                              <a:srgbClr val="000000"/>
                            </a:solidFill>
                            <a:latin typeface="Cambria Math" panose="02040503050406030204" pitchFamily="18" charset="0"/>
                          </a:rPr>
                          <m:t>𝑈</m:t>
                        </m:r>
                      </m:e>
                      <m:sub>
                        <m:r>
                          <a:rPr sz="5650" i="1">
                            <a:solidFill>
                              <a:srgbClr val="000000"/>
                            </a:solidFill>
                            <a:latin typeface="Cambria Math" panose="02040503050406030204" pitchFamily="18" charset="0"/>
                          </a:rPr>
                          <m:t>0</m:t>
                        </m:r>
                      </m:sub>
                    </m:sSub>
                  </m:oMath>
                </a14:m>
                <a:r>
                  <a:rPr dirty="0"/>
                  <a:t> and </a:t>
                </a:r>
                <a14:m>
                  <m:oMath xmlns:m="http://schemas.openxmlformats.org/officeDocument/2006/math">
                    <m:sSub>
                      <m:sSubPr>
                        <m:ctrlPr>
                          <a:rPr sz="5650" i="1">
                            <a:solidFill>
                              <a:srgbClr val="000000"/>
                            </a:solidFill>
                            <a:latin typeface="Cambria Math" panose="02040503050406030204" pitchFamily="18" charset="0"/>
                          </a:rPr>
                        </m:ctrlPr>
                      </m:sSubPr>
                      <m:e>
                        <m:r>
                          <a:rPr sz="5650" i="1">
                            <a:solidFill>
                              <a:srgbClr val="000000"/>
                            </a:solidFill>
                            <a:latin typeface="Cambria Math" panose="02040503050406030204" pitchFamily="18" charset="0"/>
                          </a:rPr>
                          <m:t>𝑈</m:t>
                        </m:r>
                      </m:e>
                      <m:sub>
                        <m:r>
                          <a:rPr sz="5650" i="1">
                            <a:solidFill>
                              <a:srgbClr val="000000"/>
                            </a:solidFill>
                            <a:latin typeface="Cambria Math" panose="02040503050406030204" pitchFamily="18" charset="0"/>
                          </a:rPr>
                          <m:t>1</m:t>
                        </m:r>
                      </m:sub>
                    </m:sSub>
                  </m:oMath>
                </a14:m>
                <a:r>
                  <a:rPr dirty="0"/>
                  <a:t>, and taking an appropriate average of the energy difference</a:t>
                </a:r>
                <a:endParaRPr sz="5000" dirty="0"/>
              </a:p>
            </p:txBody>
          </p:sp>
        </mc:Choice>
        <mc:Fallback xmlns="">
          <p:sp>
            <p:nvSpPr>
              <p:cNvPr id="249" name="Using the definition of  ,  .…"/>
              <p:cNvSpPr txBox="1">
                <a:spLocks noGrp="1" noRot="1" noChangeAspect="1" noMove="1" noResize="1" noEditPoints="1" noAdjustHandles="1" noChangeArrowheads="1" noChangeShapeType="1" noTextEdit="1"/>
              </p:cNvSpPr>
              <p:nvPr>
                <p:ph type="body" idx="1"/>
              </p:nvPr>
            </p:nvSpPr>
            <p:spPr>
              <a:prstGeom prst="rect">
                <a:avLst/>
              </a:prstGeom>
              <a:blipFill>
                <a:blip r:embed="rId2"/>
                <a:stretch>
                  <a:fillRect l="-659" r="-1647"/>
                </a:stretch>
              </a:blipFill>
            </p:spPr>
            <p:txBody>
              <a:bodyPr/>
              <a:lstStyle/>
              <a:p>
                <a:r>
                  <a:rPr lang="en-US">
                    <a:noFill/>
                  </a:rPr>
                  <a:t> </a:t>
                </a:r>
              </a:p>
            </p:txBody>
          </p:sp>
        </mc:Fallback>
      </mc:AlternateContent>
      <p:sp>
        <p:nvSpPr>
          <p:cNvPr id="250"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12</a:t>
            </a:fld>
            <a:endParaRPr/>
          </a:p>
        </p:txBody>
      </p:sp>
    </p:spTree>
  </p:cSld>
  <p:clrMapOvr>
    <a:masterClrMapping/>
  </p:clrMapOvr>
  <p:transition spd="me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2" name="The Zwanzig Relation: Limitations"/>
          <p:cNvSpPr txBox="1">
            <a:spLocks noGrp="1"/>
          </p:cNvSpPr>
          <p:nvPr>
            <p:ph type="title"/>
          </p:nvPr>
        </p:nvSpPr>
        <p:spPr>
          <a:prstGeom prst="rect">
            <a:avLst/>
          </a:prstGeom>
        </p:spPr>
        <p:txBody>
          <a:bodyPr/>
          <a:lstStyle>
            <a:lvl1pPr defTabSz="813315">
              <a:defRPr sz="11088"/>
            </a:lvl1pPr>
          </a:lstStyle>
          <a:p>
            <a:r>
              <a:t>The Zwanzig Relation: Limitations</a:t>
            </a:r>
          </a:p>
        </p:txBody>
      </p:sp>
      <mc:AlternateContent xmlns:mc="http://schemas.openxmlformats.org/markup-compatibility/2006" xmlns:a14="http://schemas.microsoft.com/office/drawing/2010/main">
        <mc:Choice Requires="a14">
          <p:sp>
            <p:nvSpPr>
              <p:cNvPr id="253" name="In terms of an integral over the distribution of   (instead of over  ) the Zwanzig relation is, .…"/>
              <p:cNvSpPr txBox="1">
                <a:spLocks noGrp="1"/>
              </p:cNvSpPr>
              <p:nvPr>
                <p:ph type="body" idx="1"/>
              </p:nvPr>
            </p:nvSpPr>
            <p:spPr>
              <a:xfrm>
                <a:off x="635000" y="3175000"/>
                <a:ext cx="13966508" cy="9842500"/>
              </a:xfrm>
              <a:prstGeom prst="rect">
                <a:avLst/>
              </a:prstGeom>
            </p:spPr>
            <p:txBody>
              <a:bodyPr/>
              <a:lstStyle/>
              <a:p>
                <a:r>
                  <a:rPr dirty="0"/>
                  <a:t>In terms of an integral over the distribution of </a:t>
                </a:r>
                <a14:m>
                  <m:oMath xmlns:m="http://schemas.openxmlformats.org/officeDocument/2006/math">
                    <m:r>
                      <m:rPr>
                        <m:sty m:val="p"/>
                      </m:rPr>
                      <a:rPr sz="6100" i="1">
                        <a:solidFill>
                          <a:srgbClr val="000000"/>
                        </a:solidFill>
                        <a:latin typeface="Cambria Math" panose="02040503050406030204" pitchFamily="18" charset="0"/>
                      </a:rPr>
                      <m:t>Δ</m:t>
                    </m:r>
                    <m:r>
                      <a:rPr sz="6100" i="1">
                        <a:solidFill>
                          <a:srgbClr val="000000"/>
                        </a:solidFill>
                        <a:latin typeface="Cambria Math" panose="02040503050406030204" pitchFamily="18" charset="0"/>
                      </a:rPr>
                      <m:t>𝑈</m:t>
                    </m:r>
                  </m:oMath>
                </a14:m>
                <a:r>
                  <a:rPr dirty="0"/>
                  <a:t> (instead of over </a:t>
                </a:r>
                <a14:m>
                  <m:oMath xmlns:m="http://schemas.openxmlformats.org/officeDocument/2006/math">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𝜌</m:t>
                        </m:r>
                      </m:e>
                      <m:sub>
                        <m:r>
                          <a:rPr sz="6100" i="1">
                            <a:solidFill>
                              <a:srgbClr val="000000"/>
                            </a:solidFill>
                            <a:latin typeface="Cambria Math" panose="02040503050406030204" pitchFamily="18" charset="0"/>
                          </a:rPr>
                          <m:t>𝑜</m:t>
                        </m:r>
                      </m:sub>
                    </m:sSub>
                    <m:r>
                      <a:rPr sz="6100" i="1">
                        <a:solidFill>
                          <a:srgbClr val="000000"/>
                        </a:solidFill>
                        <a:latin typeface="Cambria Math" panose="02040503050406030204" pitchFamily="18" charset="0"/>
                      </a:rPr>
                      <m:t>(</m:t>
                    </m:r>
                    <m:sSup>
                      <m:sSupPr>
                        <m:ctrlPr>
                          <a:rPr sz="6100" i="1">
                            <a:solidFill>
                              <a:srgbClr val="000000"/>
                            </a:solidFill>
                            <a:latin typeface="Cambria Math" panose="02040503050406030204" pitchFamily="18" charset="0"/>
                          </a:rPr>
                        </m:ctrlPr>
                      </m:sSupPr>
                      <m:e>
                        <m:r>
                          <a:rPr sz="6100" i="1">
                            <a:solidFill>
                              <a:srgbClr val="000000"/>
                            </a:solidFill>
                            <a:latin typeface="Cambria Math" panose="02040503050406030204" pitchFamily="18" charset="0"/>
                          </a:rPr>
                          <m:t>𝑟</m:t>
                        </m:r>
                      </m:e>
                      <m:sup>
                        <m:r>
                          <a:rPr sz="6100" i="1">
                            <a:solidFill>
                              <a:srgbClr val="000000"/>
                            </a:solidFill>
                            <a:latin typeface="Cambria Math" panose="02040503050406030204" pitchFamily="18" charset="0"/>
                          </a:rPr>
                          <m:t>𝑁</m:t>
                        </m:r>
                      </m:sup>
                    </m:sSup>
                    <m:r>
                      <a:rPr sz="6100" i="1">
                        <a:solidFill>
                          <a:srgbClr val="000000"/>
                        </a:solidFill>
                        <a:latin typeface="Cambria Math" panose="02040503050406030204" pitchFamily="18" charset="0"/>
                      </a:rPr>
                      <m:t>)</m:t>
                    </m:r>
                  </m:oMath>
                </a14:m>
                <a:r>
                  <a:rPr dirty="0"/>
                  <a:t>) the Zwanzig relation is,</a:t>
                </a:r>
                <a:r>
                  <a:rPr lang="en-US" dirty="0"/>
                  <a:t> </a:t>
                </a:r>
                <a14:m>
                  <m:oMath xmlns:m="http://schemas.openxmlformats.org/officeDocument/2006/math">
                    <m:r>
                      <a:rPr lang="en-US" sz="6100" b="0" i="0" smtClean="0">
                        <a:solidFill>
                          <a:srgbClr val="000000"/>
                        </a:solidFill>
                        <a:latin typeface="Cambria Math" panose="02040503050406030204" pitchFamily="18" charset="0"/>
                      </a:rPr>
                      <m:t> </m:t>
                    </m:r>
                    <m:r>
                      <a:rPr sz="6100" i="1">
                        <a:solidFill>
                          <a:srgbClr val="000000"/>
                        </a:solidFill>
                        <a:latin typeface="Cambria Math" panose="02040503050406030204" pitchFamily="18" charset="0"/>
                      </a:rPr>
                      <m:t>𝛽</m:t>
                    </m:r>
                    <m:r>
                      <a:rPr sz="6100" i="1">
                        <a:solidFill>
                          <a:srgbClr val="000000"/>
                        </a:solidFill>
                        <a:latin typeface="Cambria Math" panose="02040503050406030204" pitchFamily="18" charset="0"/>
                      </a:rPr>
                      <m:t>(</m:t>
                    </m:r>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𝐴</m:t>
                        </m:r>
                      </m:e>
                      <m:sub>
                        <m:r>
                          <a:rPr sz="6100" i="1">
                            <a:solidFill>
                              <a:srgbClr val="000000"/>
                            </a:solidFill>
                            <a:latin typeface="Cambria Math" panose="02040503050406030204" pitchFamily="18" charset="0"/>
                          </a:rPr>
                          <m:t>1</m:t>
                        </m:r>
                      </m:sub>
                    </m:sSub>
                    <m:r>
                      <a:rPr sz="6100" i="1">
                        <a:solidFill>
                          <a:srgbClr val="000000"/>
                        </a:solidFill>
                        <a:latin typeface="Cambria Math" panose="02040503050406030204" pitchFamily="18" charset="0"/>
                      </a:rPr>
                      <m:t>−</m:t>
                    </m:r>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𝐴</m:t>
                        </m:r>
                      </m:e>
                      <m:sub>
                        <m:r>
                          <a:rPr sz="6100" i="1">
                            <a:solidFill>
                              <a:srgbClr val="000000"/>
                            </a:solidFill>
                            <a:latin typeface="Cambria Math" panose="02040503050406030204" pitchFamily="18" charset="0"/>
                          </a:rPr>
                          <m:t>0</m:t>
                        </m:r>
                      </m:sub>
                    </m:sSub>
                    <m:r>
                      <a:rPr sz="6100" i="1">
                        <a:solidFill>
                          <a:srgbClr val="000000"/>
                        </a:solidFill>
                        <a:latin typeface="Cambria Math" panose="02040503050406030204" pitchFamily="18" charset="0"/>
                      </a:rPr>
                      <m:t>)=−</m:t>
                    </m:r>
                    <m:r>
                      <m:rPr>
                        <m:sty m:val="p"/>
                      </m:rPr>
                      <a:rPr sz="6100" i="1">
                        <a:solidFill>
                          <a:srgbClr val="000000"/>
                        </a:solidFill>
                        <a:latin typeface="Cambria Math" panose="02040503050406030204" pitchFamily="18" charset="0"/>
                      </a:rPr>
                      <m:t>ln</m:t>
                    </m:r>
                    <m:r>
                      <a:rPr sz="6100" i="1">
                        <a:solidFill>
                          <a:srgbClr val="000000"/>
                        </a:solidFill>
                        <a:latin typeface="Cambria Math" panose="02040503050406030204" pitchFamily="18" charset="0"/>
                      </a:rPr>
                      <m:t>∫</m:t>
                    </m:r>
                    <m:sSup>
                      <m:sSupPr>
                        <m:ctrlPr>
                          <a:rPr sz="6100" i="1">
                            <a:solidFill>
                              <a:srgbClr val="000000"/>
                            </a:solidFill>
                            <a:latin typeface="Cambria Math" panose="02040503050406030204" pitchFamily="18" charset="0"/>
                          </a:rPr>
                        </m:ctrlPr>
                      </m:sSupPr>
                      <m:e>
                        <m:r>
                          <a:rPr sz="6100" i="1">
                            <a:solidFill>
                              <a:srgbClr val="000000"/>
                            </a:solidFill>
                            <a:latin typeface="Cambria Math" panose="02040503050406030204" pitchFamily="18" charset="0"/>
                          </a:rPr>
                          <m:t>𝑒</m:t>
                        </m:r>
                      </m:e>
                      <m:sup>
                        <m:r>
                          <a:rPr sz="6100" i="1">
                            <a:solidFill>
                              <a:srgbClr val="000000"/>
                            </a:solidFill>
                            <a:latin typeface="Cambria Math" panose="02040503050406030204" pitchFamily="18" charset="0"/>
                          </a:rPr>
                          <m:t>−</m:t>
                        </m:r>
                        <m:r>
                          <a:rPr sz="6100" i="1">
                            <a:solidFill>
                              <a:srgbClr val="000000"/>
                            </a:solidFill>
                            <a:latin typeface="Cambria Math" panose="02040503050406030204" pitchFamily="18" charset="0"/>
                          </a:rPr>
                          <m:t>𝛽</m:t>
                        </m:r>
                        <m:r>
                          <m:rPr>
                            <m:sty m:val="p"/>
                          </m:rPr>
                          <a:rPr sz="6100" i="1">
                            <a:solidFill>
                              <a:srgbClr val="000000"/>
                            </a:solidFill>
                            <a:latin typeface="Cambria Math" panose="02040503050406030204" pitchFamily="18" charset="0"/>
                          </a:rPr>
                          <m:t>Δ</m:t>
                        </m:r>
                        <m:r>
                          <a:rPr sz="6100" i="1">
                            <a:solidFill>
                              <a:srgbClr val="000000"/>
                            </a:solidFill>
                            <a:latin typeface="Cambria Math" panose="02040503050406030204" pitchFamily="18" charset="0"/>
                          </a:rPr>
                          <m:t>𝑈</m:t>
                        </m:r>
                      </m:sup>
                    </m:sSup>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𝜌</m:t>
                        </m:r>
                      </m:e>
                      <m:sub>
                        <m:r>
                          <a:rPr sz="6100" i="1">
                            <a:solidFill>
                              <a:srgbClr val="000000"/>
                            </a:solidFill>
                            <a:latin typeface="Cambria Math" panose="02040503050406030204" pitchFamily="18" charset="0"/>
                          </a:rPr>
                          <m:t>0</m:t>
                        </m:r>
                      </m:sub>
                    </m:sSub>
                    <m:r>
                      <a:rPr sz="6100" i="1">
                        <a:solidFill>
                          <a:srgbClr val="000000"/>
                        </a:solidFill>
                        <a:latin typeface="Cambria Math" panose="02040503050406030204" pitchFamily="18" charset="0"/>
                      </a:rPr>
                      <m:t>(</m:t>
                    </m:r>
                    <m:r>
                      <m:rPr>
                        <m:sty m:val="p"/>
                      </m:rPr>
                      <a:rPr sz="6100" i="1">
                        <a:solidFill>
                          <a:srgbClr val="000000"/>
                        </a:solidFill>
                        <a:latin typeface="Cambria Math" panose="02040503050406030204" pitchFamily="18" charset="0"/>
                      </a:rPr>
                      <m:t>Δ</m:t>
                    </m:r>
                    <m:r>
                      <a:rPr sz="6100" i="1">
                        <a:solidFill>
                          <a:srgbClr val="000000"/>
                        </a:solidFill>
                        <a:latin typeface="Cambria Math" panose="02040503050406030204" pitchFamily="18" charset="0"/>
                      </a:rPr>
                      <m:t>𝑈</m:t>
                    </m:r>
                    <m:r>
                      <a:rPr sz="6100" i="1">
                        <a:solidFill>
                          <a:srgbClr val="000000"/>
                        </a:solidFill>
                        <a:latin typeface="Cambria Math" panose="02040503050406030204" pitchFamily="18" charset="0"/>
                      </a:rPr>
                      <m:t>)</m:t>
                    </m:r>
                    <m:r>
                      <a:rPr sz="6100" i="1">
                        <a:solidFill>
                          <a:srgbClr val="000000"/>
                        </a:solidFill>
                        <a:latin typeface="Cambria Math" panose="02040503050406030204" pitchFamily="18" charset="0"/>
                      </a:rPr>
                      <m:t>𝑑</m:t>
                    </m:r>
                    <m:r>
                      <m:rPr>
                        <m:sty m:val="p"/>
                      </m:rPr>
                      <a:rPr sz="6100" i="1">
                        <a:solidFill>
                          <a:srgbClr val="000000"/>
                        </a:solidFill>
                        <a:latin typeface="Cambria Math" panose="02040503050406030204" pitchFamily="18" charset="0"/>
                      </a:rPr>
                      <m:t>Δ</m:t>
                    </m:r>
                    <m:r>
                      <a:rPr sz="6100" i="1">
                        <a:solidFill>
                          <a:srgbClr val="000000"/>
                        </a:solidFill>
                        <a:latin typeface="Cambria Math" panose="02040503050406030204" pitchFamily="18" charset="0"/>
                      </a:rPr>
                      <m:t>𝑈</m:t>
                    </m:r>
                  </m:oMath>
                </a14:m>
                <a:r>
                  <a:rPr dirty="0"/>
                  <a:t>.</a:t>
                </a:r>
              </a:p>
              <a:p>
                <a:r>
                  <a:rPr dirty="0"/>
                  <a:t>Sampling is from the red curve</a:t>
                </a:r>
              </a:p>
              <a:p>
                <a:r>
                  <a:rPr dirty="0"/>
                  <a:t>Accurate estimation requires the purple curve</a:t>
                </a:r>
              </a:p>
              <a:p>
                <a:r>
                  <a:rPr dirty="0"/>
                  <a:t>The calculation will not be accurate if </a:t>
                </a:r>
                <a14:m>
                  <m:oMath xmlns:m="http://schemas.openxmlformats.org/officeDocument/2006/math">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𝑈</m:t>
                        </m:r>
                      </m:e>
                      <m:sub>
                        <m:r>
                          <a:rPr sz="6100" i="1">
                            <a:solidFill>
                              <a:srgbClr val="000000"/>
                            </a:solidFill>
                            <a:latin typeface="Cambria Math" panose="02040503050406030204" pitchFamily="18" charset="0"/>
                          </a:rPr>
                          <m:t>0</m:t>
                        </m:r>
                      </m:sub>
                    </m:sSub>
                  </m:oMath>
                </a14:m>
                <a:r>
                  <a:rPr dirty="0"/>
                  <a:t> and </a:t>
                </a:r>
                <a14:m>
                  <m:oMath xmlns:m="http://schemas.openxmlformats.org/officeDocument/2006/math">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𝑈</m:t>
                        </m:r>
                      </m:e>
                      <m:sub>
                        <m:r>
                          <a:rPr sz="6100" i="1">
                            <a:solidFill>
                              <a:srgbClr val="000000"/>
                            </a:solidFill>
                            <a:latin typeface="Cambria Math" panose="02040503050406030204" pitchFamily="18" charset="0"/>
                          </a:rPr>
                          <m:t>1</m:t>
                        </m:r>
                      </m:sub>
                    </m:sSub>
                  </m:oMath>
                </a14:m>
                <a:r>
                  <a:rPr dirty="0"/>
                  <a:t> are very different!</a:t>
                </a:r>
              </a:p>
              <a:p>
                <a:r>
                  <a:rPr dirty="0"/>
                  <a:t>Potential energies will be different if the states access different parts of configuration space</a:t>
                </a:r>
              </a:p>
            </p:txBody>
          </p:sp>
        </mc:Choice>
        <mc:Fallback xmlns="">
          <p:sp>
            <p:nvSpPr>
              <p:cNvPr id="253" name="In terms of an integral over the distribution of   (instead of over  ) the Zwanzig relation is, .…"/>
              <p:cNvSpPr txBox="1">
                <a:spLocks noGrp="1" noRot="1" noChangeAspect="1" noMove="1" noResize="1" noEditPoints="1" noAdjustHandles="1" noChangeArrowheads="1" noChangeShapeType="1" noTextEdit="1"/>
              </p:cNvSpPr>
              <p:nvPr>
                <p:ph type="body" idx="1"/>
              </p:nvPr>
            </p:nvSpPr>
            <p:spPr>
              <a:xfrm>
                <a:off x="635000" y="3175000"/>
                <a:ext cx="13966508" cy="9842500"/>
              </a:xfrm>
              <a:prstGeom prst="rect">
                <a:avLst/>
              </a:prstGeom>
              <a:blipFill>
                <a:blip r:embed="rId2"/>
                <a:stretch>
                  <a:fillRect l="-1181" r="-1817"/>
                </a:stretch>
              </a:blipFill>
            </p:spPr>
            <p:txBody>
              <a:bodyPr/>
              <a:lstStyle/>
              <a:p>
                <a:r>
                  <a:rPr lang="en-US">
                    <a:noFill/>
                  </a:rPr>
                  <a:t> </a:t>
                </a:r>
              </a:p>
            </p:txBody>
          </p:sp>
        </mc:Fallback>
      </mc:AlternateContent>
      <p:sp>
        <p:nvSpPr>
          <p:cNvPr id="254"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13</a:t>
            </a:fld>
            <a:endParaRPr/>
          </a:p>
        </p:txBody>
      </p:sp>
      <p:grpSp>
        <p:nvGrpSpPr>
          <p:cNvPr id="257" name="Group"/>
          <p:cNvGrpSpPr/>
          <p:nvPr/>
        </p:nvGrpSpPr>
        <p:grpSpPr>
          <a:xfrm>
            <a:off x="14799519" y="5294798"/>
            <a:ext cx="9524132" cy="5602904"/>
            <a:chOff x="0" y="0"/>
            <a:chExt cx="9524131" cy="5602902"/>
          </a:xfrm>
        </p:grpSpPr>
        <p:pic>
          <p:nvPicPr>
            <p:cNvPr id="255" name="droppedImage.pdf" descr="droppedImage.pdf"/>
            <p:cNvPicPr>
              <a:picLocks noChangeAspect="1"/>
            </p:cNvPicPr>
            <p:nvPr/>
          </p:nvPicPr>
          <p:blipFill>
            <a:blip r:embed="rId3"/>
            <a:stretch>
              <a:fillRect/>
            </a:stretch>
          </p:blipFill>
          <p:spPr>
            <a:xfrm>
              <a:off x="0" y="0"/>
              <a:ext cx="9524132" cy="5184952"/>
            </a:xfrm>
            <a:prstGeom prst="rect">
              <a:avLst/>
            </a:prstGeom>
            <a:ln w="12700" cap="flat">
              <a:noFill/>
              <a:miter lim="400000"/>
            </a:ln>
            <a:effectLst/>
          </p:spPr>
        </p:pic>
        <p:sp>
          <p:nvSpPr>
            <p:cNvPr id="256" name="(from [1])"/>
            <p:cNvSpPr txBox="1"/>
            <p:nvPr/>
          </p:nvSpPr>
          <p:spPr>
            <a:xfrm>
              <a:off x="3860167" y="4977427"/>
              <a:ext cx="1803798" cy="625476"/>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ctr">
              <a:spAutoFit/>
            </a:bodyPr>
            <a:lstStyle/>
            <a:p>
              <a:r>
                <a:t>(from [1])</a:t>
              </a:r>
            </a:p>
          </p:txBody>
        </p:sp>
      </p:grpSp>
    </p:spTree>
  </p:cSld>
  <p:clrMapOvr>
    <a:masterClrMapping/>
  </p:clrMapOvr>
  <p:transition spd="me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5EE120-446C-E66E-25D1-EDAC323AA7EE}"/>
              </a:ext>
            </a:extLst>
          </p:cNvPr>
          <p:cNvSpPr>
            <a:spLocks noGrp="1"/>
          </p:cNvSpPr>
          <p:nvPr>
            <p:ph type="title"/>
          </p:nvPr>
        </p:nvSpPr>
        <p:spPr/>
        <p:txBody>
          <a:bodyPr/>
          <a:lstStyle/>
          <a:p>
            <a:r>
              <a:rPr lang="en-US" dirty="0"/>
              <a:t>Configuration Space Overlap</a:t>
            </a:r>
          </a:p>
        </p:txBody>
      </p:sp>
      <p:sp>
        <p:nvSpPr>
          <p:cNvPr id="3" name="Text Placeholder 2">
            <a:extLst>
              <a:ext uri="{FF2B5EF4-FFF2-40B4-BE49-F238E27FC236}">
                <a16:creationId xmlns:a16="http://schemas.microsoft.com/office/drawing/2014/main" id="{E34E7181-42D3-B4F9-7F75-4A8784853D1B}"/>
              </a:ext>
            </a:extLst>
          </p:cNvPr>
          <p:cNvSpPr>
            <a:spLocks noGrp="1"/>
          </p:cNvSpPr>
          <p:nvPr>
            <p:ph type="body" idx="1"/>
          </p:nvPr>
        </p:nvSpPr>
        <p:spPr>
          <a:xfrm>
            <a:off x="635000" y="6449568"/>
            <a:ext cx="23114000" cy="6567932"/>
          </a:xfrm>
        </p:spPr>
        <p:txBody>
          <a:bodyPr>
            <a:normAutofit/>
          </a:bodyPr>
          <a:lstStyle/>
          <a:p>
            <a:r>
              <a:rPr lang="en-US" dirty="0"/>
              <a:t>Overlap ensures that configurations important for one state are sampled in the other, enabling accurate free energy estimates.</a:t>
            </a:r>
          </a:p>
          <a:p>
            <a:r>
              <a:rPr lang="en-US" dirty="0"/>
              <a:t>Good overlap leads to well-behaved exponential averages and convergence, while poor overlap causes bias and high variance.</a:t>
            </a:r>
          </a:p>
          <a:p>
            <a:r>
              <a:rPr lang="en-US" dirty="0"/>
              <a:t>Intermediate thermodynamic states and restraints improve configuration overlap, enhancing free energy calculation reliability.</a:t>
            </a:r>
          </a:p>
          <a:p>
            <a:r>
              <a:rPr lang="en-US" dirty="0"/>
              <a:t>Choosing transformation pathways and sampling strategies based on overlap is key to successful free energy predictions.</a:t>
            </a:r>
          </a:p>
          <a:p>
            <a:endParaRPr lang="en-US" dirty="0"/>
          </a:p>
          <a:p>
            <a:endParaRPr lang="en-US" dirty="0"/>
          </a:p>
        </p:txBody>
      </p:sp>
      <p:grpSp>
        <p:nvGrpSpPr>
          <p:cNvPr id="16" name="Group 15">
            <a:extLst>
              <a:ext uri="{FF2B5EF4-FFF2-40B4-BE49-F238E27FC236}">
                <a16:creationId xmlns:a16="http://schemas.microsoft.com/office/drawing/2014/main" id="{29A3C79C-01F4-3816-97DA-BE57802247EC}"/>
              </a:ext>
            </a:extLst>
          </p:cNvPr>
          <p:cNvGrpSpPr/>
          <p:nvPr/>
        </p:nvGrpSpPr>
        <p:grpSpPr>
          <a:xfrm>
            <a:off x="3538728" y="2969434"/>
            <a:ext cx="17306544" cy="2609088"/>
            <a:chOff x="3486912" y="2920666"/>
            <a:chExt cx="17306544" cy="2609088"/>
          </a:xfrm>
        </p:grpSpPr>
        <p:grpSp>
          <p:nvGrpSpPr>
            <p:cNvPr id="8" name="Group 7">
              <a:extLst>
                <a:ext uri="{FF2B5EF4-FFF2-40B4-BE49-F238E27FC236}">
                  <a16:creationId xmlns:a16="http://schemas.microsoft.com/office/drawing/2014/main" id="{E5347769-0757-F937-680A-51287186A0FD}"/>
                </a:ext>
              </a:extLst>
            </p:cNvPr>
            <p:cNvGrpSpPr/>
            <p:nvPr/>
          </p:nvGrpSpPr>
          <p:grpSpPr>
            <a:xfrm>
              <a:off x="6666992" y="2920666"/>
              <a:ext cx="3578352" cy="2609088"/>
              <a:chOff x="2804160" y="2852928"/>
              <a:chExt cx="3578352" cy="2609088"/>
            </a:xfrm>
          </p:grpSpPr>
          <p:sp>
            <p:nvSpPr>
              <p:cNvPr id="4" name="Oval 3">
                <a:extLst>
                  <a:ext uri="{FF2B5EF4-FFF2-40B4-BE49-F238E27FC236}">
                    <a16:creationId xmlns:a16="http://schemas.microsoft.com/office/drawing/2014/main" id="{081B7A0A-0EFE-1B32-45AA-D5F41197243C}"/>
                  </a:ext>
                </a:extLst>
              </p:cNvPr>
              <p:cNvSpPr/>
              <p:nvPr/>
            </p:nvSpPr>
            <p:spPr>
              <a:xfrm>
                <a:off x="2804160" y="2852928"/>
                <a:ext cx="2609088" cy="2609088"/>
              </a:xfrm>
              <a:prstGeom prst="ellipse">
                <a:avLst/>
              </a:prstGeom>
              <a:noFill/>
              <a:ln w="12700" cap="flat">
                <a:solidFill>
                  <a:schemeClr val="accent1"/>
                </a:solidFill>
                <a:miter lim="400000"/>
              </a:ln>
              <a:effectLst>
                <a:outerShdw blurRad="508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r" defTabSz="821531" rtl="0" fontAlgn="auto" latinLnBrk="0" hangingPunct="0">
                  <a:lnSpc>
                    <a:spcPct val="100000"/>
                  </a:lnSpc>
                  <a:spcBef>
                    <a:spcPts val="0"/>
                  </a:spcBef>
                  <a:spcAft>
                    <a:spcPts val="0"/>
                  </a:spcAft>
                  <a:buClrTx/>
                  <a:buSzTx/>
                  <a:buFontTx/>
                  <a:buNone/>
                  <a:tabLst/>
                </a:pPr>
                <a:endParaRPr kumimoji="0" lang="en-US" sz="2400" b="0" i="0" u="none" strike="noStrike" cap="none" spc="0" normalizeH="0" baseline="0">
                  <a:ln>
                    <a:noFill/>
                  </a:ln>
                  <a:solidFill>
                    <a:srgbClr val="000000"/>
                  </a:solidFill>
                  <a:effectLst/>
                  <a:uFillTx/>
                  <a:latin typeface="+mn-lt"/>
                  <a:ea typeface="+mn-ea"/>
                  <a:cs typeface="+mn-cs"/>
                  <a:sym typeface="Helvetica Light"/>
                </a:endParaRPr>
              </a:p>
            </p:txBody>
          </p:sp>
          <p:sp>
            <p:nvSpPr>
              <p:cNvPr id="5" name="Oval 4">
                <a:extLst>
                  <a:ext uri="{FF2B5EF4-FFF2-40B4-BE49-F238E27FC236}">
                    <a16:creationId xmlns:a16="http://schemas.microsoft.com/office/drawing/2014/main" id="{042B168C-111A-5DA5-A953-9BEC5FD01D86}"/>
                  </a:ext>
                </a:extLst>
              </p:cNvPr>
              <p:cNvSpPr/>
              <p:nvPr/>
            </p:nvSpPr>
            <p:spPr>
              <a:xfrm>
                <a:off x="3773424" y="2852928"/>
                <a:ext cx="2609088" cy="2609088"/>
              </a:xfrm>
              <a:prstGeom prst="ellipse">
                <a:avLst/>
              </a:prstGeom>
              <a:noFill/>
              <a:ln w="12700" cap="flat">
                <a:solidFill>
                  <a:schemeClr val="accent2"/>
                </a:solidFill>
                <a:miter lim="400000"/>
              </a:ln>
              <a:effectLst>
                <a:outerShdw blurRad="508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r" defTabSz="821531" rtl="0" fontAlgn="auto" latinLnBrk="0" hangingPunct="0">
                  <a:lnSpc>
                    <a:spcPct val="100000"/>
                  </a:lnSpc>
                  <a:spcBef>
                    <a:spcPts val="0"/>
                  </a:spcBef>
                  <a:spcAft>
                    <a:spcPts val="0"/>
                  </a:spcAft>
                  <a:buClrTx/>
                  <a:buSzTx/>
                  <a:buFontTx/>
                  <a:buNone/>
                  <a:tabLst/>
                </a:pPr>
                <a:endParaRPr kumimoji="0" lang="en-US" sz="2400" b="0" i="0" u="none" strike="noStrike" cap="none" spc="0" normalizeH="0" baseline="0">
                  <a:ln>
                    <a:noFill/>
                  </a:ln>
                  <a:solidFill>
                    <a:srgbClr val="000000"/>
                  </a:solidFill>
                  <a:effectLst/>
                  <a:uFillTx/>
                  <a:latin typeface="+mn-lt"/>
                  <a:ea typeface="+mn-ea"/>
                  <a:cs typeface="+mn-cs"/>
                  <a:sym typeface="Helvetica Light"/>
                </a:endParaRPr>
              </a:p>
            </p:txBody>
          </p:sp>
          <p:sp>
            <p:nvSpPr>
              <p:cNvPr id="6" name="TextBox 5">
                <a:extLst>
                  <a:ext uri="{FF2B5EF4-FFF2-40B4-BE49-F238E27FC236}">
                    <a16:creationId xmlns:a16="http://schemas.microsoft.com/office/drawing/2014/main" id="{746ECF0F-566F-C6FD-032D-9D8B459FB1C3}"/>
                  </a:ext>
                </a:extLst>
              </p:cNvPr>
              <p:cNvSpPr txBox="1"/>
              <p:nvPr/>
            </p:nvSpPr>
            <p:spPr>
              <a:xfrm>
                <a:off x="3029712" y="3839116"/>
                <a:ext cx="780288" cy="6367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r>
                  <a:rPr kumimoji="0" lang="en-US" sz="3200" b="0" i="0" u="none" strike="noStrike" cap="none" spc="0" normalizeH="0" baseline="0" dirty="0">
                    <a:ln>
                      <a:noFill/>
                    </a:ln>
                    <a:solidFill>
                      <a:srgbClr val="000000"/>
                    </a:solidFill>
                    <a:effectLst/>
                    <a:uFillTx/>
                    <a:latin typeface="+mj-lt"/>
                    <a:ea typeface="+mj-ea"/>
                    <a:cs typeface="+mj-cs"/>
                    <a:sym typeface="Helvetica"/>
                  </a:rPr>
                  <a:t>A</a:t>
                </a:r>
              </a:p>
            </p:txBody>
          </p:sp>
          <p:sp>
            <p:nvSpPr>
              <p:cNvPr id="7" name="TextBox 6">
                <a:extLst>
                  <a:ext uri="{FF2B5EF4-FFF2-40B4-BE49-F238E27FC236}">
                    <a16:creationId xmlns:a16="http://schemas.microsoft.com/office/drawing/2014/main" id="{BF59B97E-B938-6CEA-9B2E-6DF481E674C9}"/>
                  </a:ext>
                </a:extLst>
              </p:cNvPr>
              <p:cNvSpPr txBox="1"/>
              <p:nvPr/>
            </p:nvSpPr>
            <p:spPr>
              <a:xfrm>
                <a:off x="5376672" y="3839116"/>
                <a:ext cx="780288" cy="6367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r>
                  <a:rPr kumimoji="0" lang="en-US" sz="3200" b="0" i="0" u="none" strike="noStrike" cap="none" spc="0" normalizeH="0" baseline="0" dirty="0">
                    <a:ln>
                      <a:noFill/>
                    </a:ln>
                    <a:solidFill>
                      <a:srgbClr val="000000"/>
                    </a:solidFill>
                    <a:effectLst/>
                    <a:uFillTx/>
                    <a:latin typeface="+mj-lt"/>
                    <a:ea typeface="+mj-ea"/>
                    <a:cs typeface="+mj-cs"/>
                    <a:sym typeface="Helvetica"/>
                  </a:rPr>
                  <a:t>B</a:t>
                </a:r>
              </a:p>
            </p:txBody>
          </p:sp>
        </p:grpSp>
        <p:grpSp>
          <p:nvGrpSpPr>
            <p:cNvPr id="9" name="Group 8">
              <a:extLst>
                <a:ext uri="{FF2B5EF4-FFF2-40B4-BE49-F238E27FC236}">
                  <a16:creationId xmlns:a16="http://schemas.microsoft.com/office/drawing/2014/main" id="{2C35353F-8868-0183-1945-EC9592F25921}"/>
                </a:ext>
              </a:extLst>
            </p:cNvPr>
            <p:cNvGrpSpPr/>
            <p:nvPr/>
          </p:nvGrpSpPr>
          <p:grpSpPr>
            <a:xfrm>
              <a:off x="15349728" y="2920666"/>
              <a:ext cx="5443728" cy="2609088"/>
              <a:chOff x="938784" y="2852928"/>
              <a:chExt cx="5443728" cy="2609088"/>
            </a:xfrm>
          </p:grpSpPr>
          <p:sp>
            <p:nvSpPr>
              <p:cNvPr id="10" name="Oval 9">
                <a:extLst>
                  <a:ext uri="{FF2B5EF4-FFF2-40B4-BE49-F238E27FC236}">
                    <a16:creationId xmlns:a16="http://schemas.microsoft.com/office/drawing/2014/main" id="{3DE47AD6-2498-0B4D-37FC-24BFA0CCEC68}"/>
                  </a:ext>
                </a:extLst>
              </p:cNvPr>
              <p:cNvSpPr/>
              <p:nvPr/>
            </p:nvSpPr>
            <p:spPr>
              <a:xfrm>
                <a:off x="938784" y="2852928"/>
                <a:ext cx="2609088" cy="2609088"/>
              </a:xfrm>
              <a:prstGeom prst="ellipse">
                <a:avLst/>
              </a:prstGeom>
              <a:noFill/>
              <a:ln w="12700" cap="flat">
                <a:solidFill>
                  <a:schemeClr val="accent1"/>
                </a:solidFill>
                <a:miter lim="400000"/>
              </a:ln>
              <a:effectLst>
                <a:outerShdw blurRad="508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r" defTabSz="821531" rtl="0" fontAlgn="auto" latinLnBrk="0" hangingPunct="0">
                  <a:lnSpc>
                    <a:spcPct val="100000"/>
                  </a:lnSpc>
                  <a:spcBef>
                    <a:spcPts val="0"/>
                  </a:spcBef>
                  <a:spcAft>
                    <a:spcPts val="0"/>
                  </a:spcAft>
                  <a:buClrTx/>
                  <a:buSzTx/>
                  <a:buFontTx/>
                  <a:buNone/>
                  <a:tabLst/>
                </a:pPr>
                <a:endParaRPr kumimoji="0" lang="en-US" sz="2400" b="0" i="0" u="none" strike="noStrike" cap="none" spc="0" normalizeH="0" baseline="0">
                  <a:ln>
                    <a:noFill/>
                  </a:ln>
                  <a:solidFill>
                    <a:srgbClr val="000000"/>
                  </a:solidFill>
                  <a:effectLst/>
                  <a:uFillTx/>
                  <a:latin typeface="+mn-lt"/>
                  <a:ea typeface="+mn-ea"/>
                  <a:cs typeface="+mn-cs"/>
                  <a:sym typeface="Helvetica Light"/>
                </a:endParaRPr>
              </a:p>
            </p:txBody>
          </p:sp>
          <p:sp>
            <p:nvSpPr>
              <p:cNvPr id="11" name="Oval 10">
                <a:extLst>
                  <a:ext uri="{FF2B5EF4-FFF2-40B4-BE49-F238E27FC236}">
                    <a16:creationId xmlns:a16="http://schemas.microsoft.com/office/drawing/2014/main" id="{E5918BA0-23C5-E78D-1500-D4083176C554}"/>
                  </a:ext>
                </a:extLst>
              </p:cNvPr>
              <p:cNvSpPr/>
              <p:nvPr/>
            </p:nvSpPr>
            <p:spPr>
              <a:xfrm>
                <a:off x="3773424" y="2852928"/>
                <a:ext cx="2609088" cy="2609088"/>
              </a:xfrm>
              <a:prstGeom prst="ellipse">
                <a:avLst/>
              </a:prstGeom>
              <a:noFill/>
              <a:ln w="12700" cap="flat">
                <a:solidFill>
                  <a:schemeClr val="accent2"/>
                </a:solidFill>
                <a:miter lim="400000"/>
              </a:ln>
              <a:effectLst>
                <a:outerShdw blurRad="50800" dist="25400" dir="5400000" rotWithShape="0">
                  <a:srgbClr val="000000">
                    <a:alpha val="50000"/>
                  </a:srgbClr>
                </a:outerShdw>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r" defTabSz="821531" rtl="0" fontAlgn="auto" latinLnBrk="0" hangingPunct="0">
                  <a:lnSpc>
                    <a:spcPct val="100000"/>
                  </a:lnSpc>
                  <a:spcBef>
                    <a:spcPts val="0"/>
                  </a:spcBef>
                  <a:spcAft>
                    <a:spcPts val="0"/>
                  </a:spcAft>
                  <a:buClrTx/>
                  <a:buSzTx/>
                  <a:buFontTx/>
                  <a:buNone/>
                  <a:tabLst/>
                </a:pPr>
                <a:endParaRPr kumimoji="0" lang="en-US" sz="2400" b="0" i="0" u="none" strike="noStrike" cap="none" spc="0" normalizeH="0" baseline="0">
                  <a:ln>
                    <a:noFill/>
                  </a:ln>
                  <a:solidFill>
                    <a:srgbClr val="000000"/>
                  </a:solidFill>
                  <a:effectLst/>
                  <a:uFillTx/>
                  <a:latin typeface="+mn-lt"/>
                  <a:ea typeface="+mn-ea"/>
                  <a:cs typeface="+mn-cs"/>
                  <a:sym typeface="Helvetica Light"/>
                </a:endParaRPr>
              </a:p>
            </p:txBody>
          </p:sp>
          <p:sp>
            <p:nvSpPr>
              <p:cNvPr id="12" name="TextBox 11">
                <a:extLst>
                  <a:ext uri="{FF2B5EF4-FFF2-40B4-BE49-F238E27FC236}">
                    <a16:creationId xmlns:a16="http://schemas.microsoft.com/office/drawing/2014/main" id="{D4FC8A79-CCF0-8911-A936-72A4511F55F5}"/>
                  </a:ext>
                </a:extLst>
              </p:cNvPr>
              <p:cNvSpPr txBox="1"/>
              <p:nvPr/>
            </p:nvSpPr>
            <p:spPr>
              <a:xfrm>
                <a:off x="1801368" y="4000152"/>
                <a:ext cx="780288" cy="6367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r>
                  <a:rPr kumimoji="0" lang="en-US" sz="3200" b="0" i="0" u="none" strike="noStrike" cap="none" spc="0" normalizeH="0" baseline="0" dirty="0">
                    <a:ln>
                      <a:noFill/>
                    </a:ln>
                    <a:solidFill>
                      <a:srgbClr val="000000"/>
                    </a:solidFill>
                    <a:effectLst/>
                    <a:uFillTx/>
                    <a:latin typeface="+mj-lt"/>
                    <a:ea typeface="+mj-ea"/>
                    <a:cs typeface="+mj-cs"/>
                    <a:sym typeface="Helvetica"/>
                  </a:rPr>
                  <a:t>A</a:t>
                </a:r>
              </a:p>
            </p:txBody>
          </p:sp>
          <p:sp>
            <p:nvSpPr>
              <p:cNvPr id="13" name="TextBox 12">
                <a:extLst>
                  <a:ext uri="{FF2B5EF4-FFF2-40B4-BE49-F238E27FC236}">
                    <a16:creationId xmlns:a16="http://schemas.microsoft.com/office/drawing/2014/main" id="{427533E6-1211-5680-3841-9BF13C0C9357}"/>
                  </a:ext>
                </a:extLst>
              </p:cNvPr>
              <p:cNvSpPr txBox="1"/>
              <p:nvPr/>
            </p:nvSpPr>
            <p:spPr>
              <a:xfrm>
                <a:off x="4687824" y="4000152"/>
                <a:ext cx="780288" cy="6367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r>
                  <a:rPr kumimoji="0" lang="en-US" sz="3200" b="0" i="0" u="none" strike="noStrike" cap="none" spc="0" normalizeH="0" baseline="0" dirty="0">
                    <a:ln>
                      <a:noFill/>
                    </a:ln>
                    <a:solidFill>
                      <a:srgbClr val="000000"/>
                    </a:solidFill>
                    <a:effectLst/>
                    <a:uFillTx/>
                    <a:latin typeface="+mj-lt"/>
                    <a:ea typeface="+mj-ea"/>
                    <a:cs typeface="+mj-cs"/>
                    <a:sym typeface="Helvetica"/>
                  </a:rPr>
                  <a:t>B</a:t>
                </a:r>
              </a:p>
            </p:txBody>
          </p:sp>
        </p:grpSp>
        <p:sp>
          <p:nvSpPr>
            <p:cNvPr id="14" name="TextBox 13">
              <a:extLst>
                <a:ext uri="{FF2B5EF4-FFF2-40B4-BE49-F238E27FC236}">
                  <a16:creationId xmlns:a16="http://schemas.microsoft.com/office/drawing/2014/main" id="{16078CEB-FE76-2E46-4E6B-BDEF38365430}"/>
                </a:ext>
              </a:extLst>
            </p:cNvPr>
            <p:cNvSpPr txBox="1"/>
            <p:nvPr/>
          </p:nvSpPr>
          <p:spPr>
            <a:xfrm>
              <a:off x="3486912" y="3961036"/>
              <a:ext cx="3023616" cy="6367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r>
                <a:rPr kumimoji="0" lang="en-US" sz="3200" b="0" i="0" u="none" strike="noStrike" cap="none" spc="0" normalizeH="0" baseline="0" dirty="0">
                  <a:ln>
                    <a:noFill/>
                  </a:ln>
                  <a:solidFill>
                    <a:srgbClr val="000000"/>
                  </a:solidFill>
                  <a:effectLst/>
                  <a:uFillTx/>
                  <a:latin typeface="+mj-lt"/>
                  <a:ea typeface="+mj-ea"/>
                  <a:cs typeface="+mj-cs"/>
                  <a:sym typeface="Helvetica"/>
                </a:rPr>
                <a:t>Good overlap</a:t>
              </a:r>
            </a:p>
          </p:txBody>
        </p:sp>
        <p:sp>
          <p:nvSpPr>
            <p:cNvPr id="15" name="TextBox 14">
              <a:extLst>
                <a:ext uri="{FF2B5EF4-FFF2-40B4-BE49-F238E27FC236}">
                  <a16:creationId xmlns:a16="http://schemas.microsoft.com/office/drawing/2014/main" id="{D6A5CCE1-537A-7E67-2A12-66D86AF4CA35}"/>
                </a:ext>
              </a:extLst>
            </p:cNvPr>
            <p:cNvSpPr txBox="1"/>
            <p:nvPr/>
          </p:nvSpPr>
          <p:spPr>
            <a:xfrm>
              <a:off x="12356592" y="3961036"/>
              <a:ext cx="3023616" cy="636712"/>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squar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r>
                <a:rPr kumimoji="0" lang="en-US" sz="3200" b="0" i="0" u="none" strike="noStrike" cap="none" spc="0" normalizeH="0" baseline="0" dirty="0">
                  <a:ln>
                    <a:noFill/>
                  </a:ln>
                  <a:solidFill>
                    <a:srgbClr val="000000"/>
                  </a:solidFill>
                  <a:effectLst/>
                  <a:uFillTx/>
                  <a:latin typeface="+mj-lt"/>
                  <a:ea typeface="+mj-ea"/>
                  <a:cs typeface="+mj-cs"/>
                  <a:sym typeface="Helvetica"/>
                </a:rPr>
                <a:t>Poor overlap</a:t>
              </a:r>
            </a:p>
          </p:txBody>
        </p:sp>
      </p:grpSp>
    </p:spTree>
    <p:extLst>
      <p:ext uri="{BB962C8B-B14F-4D97-AF65-F5344CB8AC3E}">
        <p14:creationId xmlns:p14="http://schemas.microsoft.com/office/powerpoint/2010/main" val="873483398"/>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9" name="Other ways to calculate ΔG"/>
          <p:cNvSpPr txBox="1">
            <a:spLocks noGrp="1"/>
          </p:cNvSpPr>
          <p:nvPr>
            <p:ph type="title"/>
          </p:nvPr>
        </p:nvSpPr>
        <p:spPr>
          <a:prstGeom prst="rect">
            <a:avLst/>
          </a:prstGeom>
        </p:spPr>
        <p:txBody>
          <a:bodyPr/>
          <a:lstStyle/>
          <a:p>
            <a:r>
              <a:t>Other ways to calculate ΔG</a:t>
            </a:r>
          </a:p>
        </p:txBody>
      </p:sp>
      <p:sp>
        <p:nvSpPr>
          <p:cNvPr id="260" name="Multistate Bennett Acceptance Ratio (MBAR) [5]…"/>
          <p:cNvSpPr txBox="1">
            <a:spLocks noGrp="1"/>
          </p:cNvSpPr>
          <p:nvPr>
            <p:ph type="body" idx="1"/>
          </p:nvPr>
        </p:nvSpPr>
        <p:spPr>
          <a:prstGeom prst="rect">
            <a:avLst/>
          </a:prstGeom>
        </p:spPr>
        <p:txBody>
          <a:bodyPr>
            <a:normAutofit lnSpcReduction="10000"/>
          </a:bodyPr>
          <a:lstStyle/>
          <a:p>
            <a:r>
              <a:rPr lang="en-US" dirty="0"/>
              <a:t>Zwanzig gives intuition, but other methods are more accurate</a:t>
            </a:r>
          </a:p>
          <a:p>
            <a:r>
              <a:rPr dirty="0"/>
              <a:t>Multistate Bennett Acceptance Ratio (MBAR) [5]</a:t>
            </a:r>
          </a:p>
          <a:p>
            <a:pPr lvl="1"/>
            <a:r>
              <a:rPr dirty="0"/>
              <a:t>estimates free energies and thermodynamic expectations from a series of states</a:t>
            </a:r>
          </a:p>
          <a:p>
            <a:pPr lvl="1"/>
            <a:r>
              <a:rPr dirty="0"/>
              <a:t>extension of Bennett Acceptance Ratio (BAR) [4], which uses data from two states</a:t>
            </a:r>
          </a:p>
          <a:p>
            <a:pPr lvl="1"/>
            <a:r>
              <a:rPr dirty="0"/>
              <a:t>Proven to be statistically optimal</a:t>
            </a:r>
          </a:p>
          <a:p>
            <a:r>
              <a:rPr dirty="0"/>
              <a:t>Thermodynamic integration is based on the fundamental theorem of calculus, integrating one the derivative of the free energy with respect to a parameter</a:t>
            </a:r>
          </a:p>
          <a:p>
            <a:r>
              <a:rPr u="sng" dirty="0"/>
              <a:t>All</a:t>
            </a:r>
            <a:r>
              <a:rPr dirty="0"/>
              <a:t> of the methods require thermodynamic states with configuration space overlap, meaning that</a:t>
            </a:r>
          </a:p>
          <a:p>
            <a:pPr lvl="1"/>
            <a:r>
              <a:rPr dirty="0"/>
              <a:t>similar configurations have similar energies</a:t>
            </a:r>
          </a:p>
          <a:p>
            <a:pPr lvl="1"/>
            <a:r>
              <a:rPr dirty="0"/>
              <a:t>the most relevant configuration space is similar</a:t>
            </a:r>
          </a:p>
        </p:txBody>
      </p:sp>
      <p:sp>
        <p:nvSpPr>
          <p:cNvPr id="261"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15</a:t>
            </a:fld>
            <a:endParaRPr/>
          </a:p>
        </p:txBody>
      </p:sp>
    </p:spTree>
  </p:cSld>
  <p:clrMapOvr>
    <a:masterClrMapping/>
  </p:clrMapOvr>
  <p:transition spd="me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 name="Binding Free Energy Calculations"/>
          <p:cNvSpPr txBox="1">
            <a:spLocks noGrp="1"/>
          </p:cNvSpPr>
          <p:nvPr>
            <p:ph type="title"/>
          </p:nvPr>
        </p:nvSpPr>
        <p:spPr>
          <a:prstGeom prst="rect">
            <a:avLst/>
          </a:prstGeom>
        </p:spPr>
        <p:txBody>
          <a:bodyPr/>
          <a:lstStyle/>
          <a:p>
            <a:r>
              <a:t>Binding Free Energy Calculations</a:t>
            </a:r>
          </a:p>
        </p:txBody>
      </p:sp>
      <p:sp>
        <p:nvSpPr>
          <p:cNvPr id="264" name="This module will be on the theory of binding free energy calculations…"/>
          <p:cNvSpPr txBox="1">
            <a:spLocks noGrp="1"/>
          </p:cNvSpPr>
          <p:nvPr>
            <p:ph type="body" idx="1"/>
          </p:nvPr>
        </p:nvSpPr>
        <p:spPr>
          <a:prstGeom prst="rect">
            <a:avLst/>
          </a:prstGeom>
        </p:spPr>
        <p:txBody>
          <a:bodyPr/>
          <a:lstStyle/>
          <a:p>
            <a:r>
              <a:t>This module will be on the theory of binding free energy calculations</a:t>
            </a:r>
          </a:p>
          <a:p>
            <a:r>
              <a:t>At the end of this module, you should be able to answer the following questions:</a:t>
            </a:r>
          </a:p>
          <a:p>
            <a:pPr lvl="1"/>
            <a:r>
              <a:t>How do binding free energy calculations differ from molecular docking?</a:t>
            </a:r>
          </a:p>
          <a:p>
            <a:pPr lvl="1"/>
            <a:r>
              <a:t>What is a thermodynamic cycle? What types of thermodynamic cycles are used in binding free energy calculations?</a:t>
            </a:r>
          </a:p>
          <a:p>
            <a:pPr lvl="1"/>
            <a:r>
              <a:t>What is an alchemical transformation?</a:t>
            </a:r>
          </a:p>
        </p:txBody>
      </p:sp>
      <p:sp>
        <p:nvSpPr>
          <p:cNvPr id="265"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16</a:t>
            </a:fld>
            <a:endParaRPr/>
          </a:p>
        </p:txBody>
      </p:sp>
    </p:spTree>
  </p:cSld>
  <p:clrMapOvr>
    <a:masterClrMapping/>
  </p:clrMapOvr>
  <p:transition spd="me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7" name="ΔG○ quantifies binding strength"/>
          <p:cNvSpPr txBox="1">
            <a:spLocks noGrp="1"/>
          </p:cNvSpPr>
          <p:nvPr>
            <p:ph type="title"/>
          </p:nvPr>
        </p:nvSpPr>
        <p:spPr>
          <a:prstGeom prst="rect">
            <a:avLst/>
          </a:prstGeom>
        </p:spPr>
        <p:txBody>
          <a:bodyPr/>
          <a:lstStyle/>
          <a:p>
            <a:r>
              <a:rPr lang="el-GR" dirty="0">
                <a:latin typeface="+mj-lt"/>
              </a:rPr>
              <a:t>Δ</a:t>
            </a:r>
            <a:r>
              <a:rPr dirty="0"/>
              <a:t>G</a:t>
            </a:r>
            <a:r>
              <a:rPr baseline="31999" dirty="0"/>
              <a:t>○</a:t>
            </a:r>
            <a:r>
              <a:rPr dirty="0"/>
              <a:t> quantifies binding strength</a:t>
            </a:r>
          </a:p>
        </p:txBody>
      </p:sp>
      <p:grpSp>
        <p:nvGrpSpPr>
          <p:cNvPr id="277" name="Group"/>
          <p:cNvGrpSpPr/>
          <p:nvPr/>
        </p:nvGrpSpPr>
        <p:grpSpPr>
          <a:xfrm>
            <a:off x="14701149" y="6206202"/>
            <a:ext cx="6179344" cy="2768205"/>
            <a:chOff x="0" y="0"/>
            <a:chExt cx="6179343" cy="2768203"/>
          </a:xfrm>
        </p:grpSpPr>
        <p:sp>
          <p:nvSpPr>
            <p:cNvPr id="268" name="Rectangle"/>
            <p:cNvSpPr/>
            <p:nvPr/>
          </p:nvSpPr>
          <p:spPr>
            <a:xfrm>
              <a:off x="0" y="0"/>
              <a:ext cx="6179344" cy="2768204"/>
            </a:xfrm>
            <a:prstGeom prst="rect">
              <a:avLst/>
            </a:prstGeom>
            <a:solidFill>
              <a:srgbClr val="CBCBCB"/>
            </a:solidFill>
            <a:ln w="25400" cap="flat">
              <a:solidFill>
                <a:srgbClr val="000000"/>
              </a:solidFill>
              <a:prstDash val="solid"/>
              <a:miter lim="400000"/>
            </a:ln>
            <a:effectLst/>
          </p:spPr>
          <p:txBody>
            <a:bodyPr wrap="square" lIns="71437" tIns="71437" rIns="71437" bIns="71437" numCol="1" anchor="ctr">
              <a:noAutofit/>
            </a:bodyPr>
            <a:lstStyle/>
            <a:p>
              <a:pPr>
                <a:defRPr sz="5000">
                  <a:latin typeface="Helvetica Neue Light"/>
                  <a:ea typeface="Helvetica Neue Light"/>
                  <a:cs typeface="Helvetica Neue Light"/>
                  <a:sym typeface="Helvetica Neue Light"/>
                </a:defRPr>
              </a:pPr>
              <a:endParaRPr/>
            </a:p>
          </p:txBody>
        </p:sp>
        <p:pic>
          <p:nvPicPr>
            <p:cNvPr id="269" name="droppedImage.pdf" descr="droppedImage.pdf"/>
            <p:cNvPicPr>
              <a:picLocks noChangeAspect="1"/>
            </p:cNvPicPr>
            <p:nvPr/>
          </p:nvPicPr>
          <p:blipFill>
            <a:blip r:embed="rId3"/>
            <a:stretch>
              <a:fillRect/>
            </a:stretch>
          </p:blipFill>
          <p:spPr>
            <a:xfrm>
              <a:off x="178593" y="107156"/>
              <a:ext cx="821532" cy="571501"/>
            </a:xfrm>
            <a:prstGeom prst="rect">
              <a:avLst/>
            </a:prstGeom>
            <a:ln w="12700" cap="flat">
              <a:noFill/>
              <a:miter lim="400000"/>
            </a:ln>
            <a:effectLst/>
          </p:spPr>
        </p:pic>
        <p:pic>
          <p:nvPicPr>
            <p:cNvPr id="270" name="droppedImage.pdf" descr="droppedImage.pdf"/>
            <p:cNvPicPr>
              <a:picLocks noChangeAspect="1"/>
            </p:cNvPicPr>
            <p:nvPr/>
          </p:nvPicPr>
          <p:blipFill>
            <a:blip r:embed="rId4"/>
            <a:stretch>
              <a:fillRect/>
            </a:stretch>
          </p:blipFill>
          <p:spPr>
            <a:xfrm>
              <a:off x="160734" y="714375"/>
              <a:ext cx="750095" cy="571500"/>
            </a:xfrm>
            <a:prstGeom prst="rect">
              <a:avLst/>
            </a:prstGeom>
            <a:ln w="12700" cap="flat">
              <a:noFill/>
              <a:miter lim="400000"/>
            </a:ln>
            <a:effectLst/>
          </p:spPr>
        </p:pic>
        <p:pic>
          <p:nvPicPr>
            <p:cNvPr id="271" name="droppedImage.pdf" descr="droppedImage.pdf"/>
            <p:cNvPicPr>
              <a:picLocks noChangeAspect="1"/>
            </p:cNvPicPr>
            <p:nvPr/>
          </p:nvPicPr>
          <p:blipFill>
            <a:blip r:embed="rId5"/>
            <a:stretch>
              <a:fillRect/>
            </a:stretch>
          </p:blipFill>
          <p:spPr>
            <a:xfrm>
              <a:off x="214312" y="2035968"/>
              <a:ext cx="714376" cy="517923"/>
            </a:xfrm>
            <a:prstGeom prst="rect">
              <a:avLst/>
            </a:prstGeom>
            <a:ln w="12700" cap="flat">
              <a:noFill/>
              <a:miter lim="400000"/>
            </a:ln>
            <a:effectLst/>
          </p:spPr>
        </p:pic>
        <p:sp>
          <p:nvSpPr>
            <p:cNvPr id="272" name="free receptor concentration"/>
            <p:cNvSpPr txBox="1"/>
            <p:nvPr/>
          </p:nvSpPr>
          <p:spPr>
            <a:xfrm>
              <a:off x="1415824" y="193874"/>
              <a:ext cx="3466009" cy="50264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lgn="l">
                <a:defRPr sz="2400">
                  <a:latin typeface="Helvetica Neue Bold Condensed"/>
                  <a:ea typeface="Helvetica Neue Bold Condensed"/>
                  <a:cs typeface="Helvetica Neue Bold Condensed"/>
                  <a:sym typeface="Helvetica Neue Bold Condensed"/>
                </a:defRPr>
              </a:lvl1pPr>
            </a:lstStyle>
            <a:p>
              <a:r>
                <a:t>free receptor concentration</a:t>
              </a:r>
            </a:p>
          </p:txBody>
        </p:sp>
        <p:sp>
          <p:nvSpPr>
            <p:cNvPr id="273" name="free ligand concentration"/>
            <p:cNvSpPr txBox="1"/>
            <p:nvPr/>
          </p:nvSpPr>
          <p:spPr>
            <a:xfrm>
              <a:off x="1410890" y="872531"/>
              <a:ext cx="3200833" cy="50264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lgn="l">
                <a:defRPr sz="2400">
                  <a:latin typeface="Helvetica Neue Bold Condensed"/>
                  <a:ea typeface="Helvetica Neue Bold Condensed"/>
                  <a:cs typeface="Helvetica Neue Bold Condensed"/>
                  <a:sym typeface="Helvetica Neue Bold Condensed"/>
                </a:defRPr>
              </a:lvl1pPr>
            </a:lstStyle>
            <a:p>
              <a:r>
                <a:t>free ligand concentration</a:t>
              </a:r>
            </a:p>
          </p:txBody>
        </p:sp>
        <p:sp>
          <p:nvSpPr>
            <p:cNvPr id="274" name="complex concentration"/>
            <p:cNvSpPr txBox="1"/>
            <p:nvPr/>
          </p:nvSpPr>
          <p:spPr>
            <a:xfrm>
              <a:off x="1410890" y="1497609"/>
              <a:ext cx="2929561" cy="50264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lgn="l">
                <a:defRPr sz="2400">
                  <a:latin typeface="Helvetica Neue Bold Condensed"/>
                  <a:ea typeface="Helvetica Neue Bold Condensed"/>
                  <a:cs typeface="Helvetica Neue Bold Condensed"/>
                  <a:sym typeface="Helvetica Neue Bold Condensed"/>
                </a:defRPr>
              </a:lvl1pPr>
            </a:lstStyle>
            <a:p>
              <a:r>
                <a:t>complex concentration</a:t>
              </a:r>
            </a:p>
          </p:txBody>
        </p:sp>
        <p:sp>
          <p:nvSpPr>
            <p:cNvPr id="275" name="standard state concentration (1 M)"/>
            <p:cNvSpPr txBox="1"/>
            <p:nvPr/>
          </p:nvSpPr>
          <p:spPr>
            <a:xfrm>
              <a:off x="1375171" y="2104828"/>
              <a:ext cx="4625579" cy="50264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b">
              <a:spAutoFit/>
            </a:bodyPr>
            <a:lstStyle>
              <a:lvl1pPr algn="l">
                <a:defRPr sz="2400">
                  <a:latin typeface="Helvetica Neue Bold Condensed"/>
                  <a:ea typeface="Helvetica Neue Bold Condensed"/>
                  <a:cs typeface="Helvetica Neue Bold Condensed"/>
                  <a:sym typeface="Helvetica Neue Bold Condensed"/>
                </a:defRPr>
              </a:lvl1pPr>
            </a:lstStyle>
            <a:p>
              <a:r>
                <a:t>standard state concentration (1 M)</a:t>
              </a:r>
            </a:p>
          </p:txBody>
        </p:sp>
        <p:pic>
          <p:nvPicPr>
            <p:cNvPr id="276" name="droppedImage.pdf" descr="droppedImage.pdf"/>
            <p:cNvPicPr>
              <a:picLocks noChangeAspect="1"/>
            </p:cNvPicPr>
            <p:nvPr/>
          </p:nvPicPr>
          <p:blipFill>
            <a:blip r:embed="rId6"/>
            <a:stretch>
              <a:fillRect/>
            </a:stretch>
          </p:blipFill>
          <p:spPr>
            <a:xfrm>
              <a:off x="125015" y="1357312"/>
              <a:ext cx="1160860" cy="571501"/>
            </a:xfrm>
            <a:prstGeom prst="rect">
              <a:avLst/>
            </a:prstGeom>
            <a:ln w="12700" cap="flat">
              <a:noFill/>
              <a:miter lim="400000"/>
            </a:ln>
            <a:effectLst/>
          </p:spPr>
        </p:pic>
      </p:grpSp>
      <p:grpSp>
        <p:nvGrpSpPr>
          <p:cNvPr id="282" name="Group"/>
          <p:cNvGrpSpPr/>
          <p:nvPr/>
        </p:nvGrpSpPr>
        <p:grpSpPr>
          <a:xfrm>
            <a:off x="6909705" y="6036593"/>
            <a:ext cx="6992595" cy="4073887"/>
            <a:chOff x="2929444" y="0"/>
            <a:chExt cx="6992594" cy="4073886"/>
          </a:xfrm>
        </p:grpSpPr>
        <p:pic>
          <p:nvPicPr>
            <p:cNvPr id="278" name="droppedImage.pdf" descr="droppedImage.pdf"/>
            <p:cNvPicPr>
              <a:picLocks noChangeAspect="1"/>
            </p:cNvPicPr>
            <p:nvPr/>
          </p:nvPicPr>
          <p:blipFill>
            <a:blip r:embed="rId7"/>
            <a:stretch>
              <a:fillRect/>
            </a:stretch>
          </p:blipFill>
          <p:spPr>
            <a:xfrm>
              <a:off x="4655390" y="0"/>
              <a:ext cx="3500438" cy="1446610"/>
            </a:xfrm>
            <a:prstGeom prst="rect">
              <a:avLst/>
            </a:prstGeom>
            <a:ln w="12700" cap="flat">
              <a:noFill/>
              <a:miter lim="400000"/>
            </a:ln>
            <a:effectLst/>
          </p:spPr>
        </p:pic>
        <p:sp>
          <p:nvSpPr>
            <p:cNvPr id="279" name="dissociation constant"/>
            <p:cNvSpPr/>
            <p:nvPr/>
          </p:nvSpPr>
          <p:spPr>
            <a:xfrm>
              <a:off x="3181019" y="921507"/>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lgn="r">
                <a:defRPr sz="2800">
                  <a:latin typeface="Helvetica Neue Bold Condensed"/>
                  <a:ea typeface="Helvetica Neue Bold Condensed"/>
                  <a:cs typeface="Helvetica Neue Bold Condensed"/>
                  <a:sym typeface="Helvetica Neue Bold Condensed"/>
                </a:defRPr>
              </a:lvl1pPr>
            </a:lstStyle>
            <a:p>
              <a:r>
                <a:t>dissociation constant</a:t>
              </a:r>
            </a:p>
          </p:txBody>
        </p:sp>
        <p:sp>
          <p:nvSpPr>
            <p:cNvPr id="280" name="binding free energy"/>
            <p:cNvSpPr/>
            <p:nvPr/>
          </p:nvSpPr>
          <p:spPr>
            <a:xfrm>
              <a:off x="2929444" y="2803886"/>
              <a:ext cx="1270001" cy="1270001"/>
            </a:xfrm>
            <a:prstGeom prst="line">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lgn="r">
                <a:defRPr sz="2800">
                  <a:latin typeface="Helvetica Neue Bold Condensed"/>
                  <a:ea typeface="Helvetica Neue Bold Condensed"/>
                  <a:cs typeface="Helvetica Neue Bold Condensed"/>
                  <a:sym typeface="Helvetica Neue Bold Condensed"/>
                </a:defRPr>
              </a:lvl1pPr>
            </a:lstStyle>
            <a:p>
              <a:r>
                <a:t>binding free energy</a:t>
              </a:r>
            </a:p>
          </p:txBody>
        </p:sp>
        <p:pic>
          <p:nvPicPr>
            <p:cNvPr id="281" name="Image" descr="Image"/>
            <p:cNvPicPr>
              <a:picLocks noChangeAspect="1"/>
            </p:cNvPicPr>
            <p:nvPr/>
          </p:nvPicPr>
          <p:blipFill>
            <a:blip r:embed="rId8"/>
            <a:stretch>
              <a:fillRect/>
            </a:stretch>
          </p:blipFill>
          <p:spPr>
            <a:xfrm>
              <a:off x="4099882" y="1728644"/>
              <a:ext cx="5822157" cy="1553767"/>
            </a:xfrm>
            <a:prstGeom prst="rect">
              <a:avLst/>
            </a:prstGeom>
            <a:ln w="12700" cap="flat">
              <a:noFill/>
              <a:miter lim="400000"/>
            </a:ln>
            <a:effectLst/>
          </p:spPr>
        </p:pic>
      </p:grpSp>
      <p:grpSp>
        <p:nvGrpSpPr>
          <p:cNvPr id="295" name="Group"/>
          <p:cNvGrpSpPr/>
          <p:nvPr/>
        </p:nvGrpSpPr>
        <p:grpSpPr>
          <a:xfrm>
            <a:off x="7962691" y="3045194"/>
            <a:ext cx="8451413" cy="2253528"/>
            <a:chOff x="74" y="248908"/>
            <a:chExt cx="8451412" cy="2253526"/>
          </a:xfrm>
        </p:grpSpPr>
        <p:grpSp>
          <p:nvGrpSpPr>
            <p:cNvPr id="286" name="Group"/>
            <p:cNvGrpSpPr/>
            <p:nvPr/>
          </p:nvGrpSpPr>
          <p:grpSpPr>
            <a:xfrm>
              <a:off x="5633345" y="394450"/>
              <a:ext cx="2818142" cy="2107986"/>
              <a:chOff x="74" y="225"/>
              <a:chExt cx="2818141" cy="2107985"/>
            </a:xfrm>
          </p:grpSpPr>
          <p:pic>
            <p:nvPicPr>
              <p:cNvPr id="283" name="droppedImage.tiff" descr="droppedImage.tiff"/>
              <p:cNvPicPr>
                <a:picLocks noChangeAspect="1"/>
              </p:cNvPicPr>
              <p:nvPr/>
            </p:nvPicPr>
            <p:blipFill>
              <a:blip r:embed="rId9"/>
              <a:srcRect l="18412" t="27009" r="55171" b="43005"/>
              <a:stretch>
                <a:fillRect/>
              </a:stretch>
            </p:blipFill>
            <p:spPr>
              <a:xfrm>
                <a:off x="74" y="225"/>
                <a:ext cx="2476075" cy="2107986"/>
              </a:xfrm>
              <a:custGeom>
                <a:avLst/>
                <a:gdLst/>
                <a:ahLst/>
                <a:cxnLst>
                  <a:cxn ang="0">
                    <a:pos x="wd2" y="hd2"/>
                  </a:cxn>
                  <a:cxn ang="5400000">
                    <a:pos x="wd2" y="hd2"/>
                  </a:cxn>
                  <a:cxn ang="10800000">
                    <a:pos x="wd2" y="hd2"/>
                  </a:cxn>
                  <a:cxn ang="16200000">
                    <a:pos x="wd2" y="hd2"/>
                  </a:cxn>
                </a:cxnLst>
                <a:rect l="0" t="0" r="r" b="b"/>
                <a:pathLst>
                  <a:path w="21449" h="21562" extrusionOk="0">
                    <a:moveTo>
                      <a:pt x="12816" y="0"/>
                    </a:moveTo>
                    <a:cubicBezTo>
                      <a:pt x="12078" y="2"/>
                      <a:pt x="11292" y="54"/>
                      <a:pt x="10802" y="154"/>
                    </a:cubicBezTo>
                    <a:cubicBezTo>
                      <a:pt x="9044" y="515"/>
                      <a:pt x="8133" y="870"/>
                      <a:pt x="6339" y="1892"/>
                    </a:cubicBezTo>
                    <a:cubicBezTo>
                      <a:pt x="5365" y="2447"/>
                      <a:pt x="4658" y="2922"/>
                      <a:pt x="4280" y="3268"/>
                    </a:cubicBezTo>
                    <a:cubicBezTo>
                      <a:pt x="3751" y="3753"/>
                      <a:pt x="2414" y="5322"/>
                      <a:pt x="2234" y="5671"/>
                    </a:cubicBezTo>
                    <a:cubicBezTo>
                      <a:pt x="2142" y="5852"/>
                      <a:pt x="1891" y="6274"/>
                      <a:pt x="1678" y="6609"/>
                    </a:cubicBezTo>
                    <a:cubicBezTo>
                      <a:pt x="1284" y="7227"/>
                      <a:pt x="354" y="9332"/>
                      <a:pt x="354" y="9605"/>
                    </a:cubicBezTo>
                    <a:cubicBezTo>
                      <a:pt x="354" y="9687"/>
                      <a:pt x="324" y="9792"/>
                      <a:pt x="285" y="9841"/>
                    </a:cubicBezTo>
                    <a:cubicBezTo>
                      <a:pt x="27" y="10167"/>
                      <a:pt x="-98" y="13106"/>
                      <a:pt x="93" y="14379"/>
                    </a:cubicBezTo>
                    <a:cubicBezTo>
                      <a:pt x="279" y="15622"/>
                      <a:pt x="813" y="16839"/>
                      <a:pt x="1636" y="17895"/>
                    </a:cubicBezTo>
                    <a:cubicBezTo>
                      <a:pt x="2721" y="19286"/>
                      <a:pt x="3408" y="19861"/>
                      <a:pt x="4555" y="20331"/>
                    </a:cubicBezTo>
                    <a:cubicBezTo>
                      <a:pt x="4882" y="20464"/>
                      <a:pt x="5221" y="20610"/>
                      <a:pt x="5308" y="20655"/>
                    </a:cubicBezTo>
                    <a:cubicBezTo>
                      <a:pt x="5395" y="20701"/>
                      <a:pt x="6056" y="20866"/>
                      <a:pt x="6776" y="21025"/>
                    </a:cubicBezTo>
                    <a:cubicBezTo>
                      <a:pt x="7495" y="21183"/>
                      <a:pt x="8160" y="21335"/>
                      <a:pt x="8251" y="21358"/>
                    </a:cubicBezTo>
                    <a:cubicBezTo>
                      <a:pt x="8342" y="21381"/>
                      <a:pt x="8787" y="21426"/>
                      <a:pt x="9241" y="21459"/>
                    </a:cubicBezTo>
                    <a:cubicBezTo>
                      <a:pt x="9695" y="21492"/>
                      <a:pt x="10078" y="21532"/>
                      <a:pt x="10093" y="21548"/>
                    </a:cubicBezTo>
                    <a:cubicBezTo>
                      <a:pt x="10140" y="21598"/>
                      <a:pt x="13770" y="21504"/>
                      <a:pt x="14191" y="21443"/>
                    </a:cubicBezTo>
                    <a:cubicBezTo>
                      <a:pt x="14662" y="21374"/>
                      <a:pt x="15617" y="21143"/>
                      <a:pt x="15897" y="21029"/>
                    </a:cubicBezTo>
                    <a:cubicBezTo>
                      <a:pt x="17142" y="20520"/>
                      <a:pt x="17712" y="20236"/>
                      <a:pt x="18829" y="19575"/>
                    </a:cubicBezTo>
                    <a:cubicBezTo>
                      <a:pt x="19549" y="19150"/>
                      <a:pt x="20413" y="18665"/>
                      <a:pt x="20751" y="18500"/>
                    </a:cubicBezTo>
                    <a:cubicBezTo>
                      <a:pt x="21377" y="18193"/>
                      <a:pt x="21502" y="18031"/>
                      <a:pt x="21431" y="17598"/>
                    </a:cubicBezTo>
                    <a:cubicBezTo>
                      <a:pt x="21394" y="17370"/>
                      <a:pt x="20898" y="17102"/>
                      <a:pt x="20098" y="16884"/>
                    </a:cubicBezTo>
                    <a:cubicBezTo>
                      <a:pt x="19902" y="16830"/>
                      <a:pt x="19598" y="16655"/>
                      <a:pt x="19424" y="16490"/>
                    </a:cubicBezTo>
                    <a:cubicBezTo>
                      <a:pt x="19249" y="16325"/>
                      <a:pt x="18875" y="16057"/>
                      <a:pt x="18592" y="15897"/>
                    </a:cubicBezTo>
                    <a:cubicBezTo>
                      <a:pt x="17157" y="15089"/>
                      <a:pt x="15824" y="14379"/>
                      <a:pt x="15745" y="14379"/>
                    </a:cubicBezTo>
                    <a:cubicBezTo>
                      <a:pt x="15696" y="14379"/>
                      <a:pt x="15594" y="14339"/>
                      <a:pt x="15518" y="14290"/>
                    </a:cubicBezTo>
                    <a:cubicBezTo>
                      <a:pt x="15443" y="14241"/>
                      <a:pt x="15184" y="14134"/>
                      <a:pt x="14944" y="14050"/>
                    </a:cubicBezTo>
                    <a:cubicBezTo>
                      <a:pt x="14704" y="13967"/>
                      <a:pt x="14437" y="13860"/>
                      <a:pt x="14349" y="13815"/>
                    </a:cubicBezTo>
                    <a:cubicBezTo>
                      <a:pt x="14205" y="13741"/>
                      <a:pt x="13790" y="13593"/>
                      <a:pt x="12331" y="13088"/>
                    </a:cubicBezTo>
                    <a:cubicBezTo>
                      <a:pt x="12050" y="12991"/>
                      <a:pt x="11807" y="12867"/>
                      <a:pt x="11792" y="12812"/>
                    </a:cubicBezTo>
                    <a:cubicBezTo>
                      <a:pt x="11776" y="12758"/>
                      <a:pt x="11967" y="12510"/>
                      <a:pt x="12215" y="12260"/>
                    </a:cubicBezTo>
                    <a:cubicBezTo>
                      <a:pt x="12462" y="12010"/>
                      <a:pt x="13347" y="11086"/>
                      <a:pt x="14181" y="10210"/>
                    </a:cubicBezTo>
                    <a:cubicBezTo>
                      <a:pt x="15015" y="9334"/>
                      <a:pt x="16197" y="8116"/>
                      <a:pt x="16808" y="7502"/>
                    </a:cubicBezTo>
                    <a:cubicBezTo>
                      <a:pt x="18758" y="5542"/>
                      <a:pt x="19455" y="4640"/>
                      <a:pt x="19025" y="4640"/>
                    </a:cubicBezTo>
                    <a:cubicBezTo>
                      <a:pt x="18959" y="4640"/>
                      <a:pt x="18185" y="5328"/>
                      <a:pt x="17303" y="6167"/>
                    </a:cubicBezTo>
                    <a:cubicBezTo>
                      <a:pt x="16420" y="7005"/>
                      <a:pt x="15323" y="8011"/>
                      <a:pt x="14865" y="8404"/>
                    </a:cubicBezTo>
                    <a:cubicBezTo>
                      <a:pt x="14407" y="8796"/>
                      <a:pt x="13782" y="9367"/>
                      <a:pt x="13476" y="9670"/>
                    </a:cubicBezTo>
                    <a:cubicBezTo>
                      <a:pt x="13171" y="9973"/>
                      <a:pt x="12529" y="10593"/>
                      <a:pt x="12050" y="11050"/>
                    </a:cubicBezTo>
                    <a:cubicBezTo>
                      <a:pt x="11570" y="11508"/>
                      <a:pt x="10998" y="12065"/>
                      <a:pt x="10781" y="12289"/>
                    </a:cubicBezTo>
                    <a:cubicBezTo>
                      <a:pt x="10564" y="12512"/>
                      <a:pt x="10352" y="12694"/>
                      <a:pt x="10310" y="12694"/>
                    </a:cubicBezTo>
                    <a:cubicBezTo>
                      <a:pt x="10268" y="12694"/>
                      <a:pt x="10133" y="12808"/>
                      <a:pt x="10011" y="12946"/>
                    </a:cubicBezTo>
                    <a:cubicBezTo>
                      <a:pt x="9759" y="13231"/>
                      <a:pt x="9725" y="13579"/>
                      <a:pt x="9922" y="13835"/>
                    </a:cubicBezTo>
                    <a:cubicBezTo>
                      <a:pt x="10078" y="14040"/>
                      <a:pt x="10255" y="14052"/>
                      <a:pt x="10468" y="13876"/>
                    </a:cubicBezTo>
                    <a:cubicBezTo>
                      <a:pt x="10555" y="13804"/>
                      <a:pt x="10730" y="13758"/>
                      <a:pt x="10860" y="13774"/>
                    </a:cubicBezTo>
                    <a:cubicBezTo>
                      <a:pt x="11449" y="13849"/>
                      <a:pt x="11773" y="13928"/>
                      <a:pt x="11816" y="14010"/>
                    </a:cubicBezTo>
                    <a:cubicBezTo>
                      <a:pt x="11841" y="14058"/>
                      <a:pt x="11925" y="14099"/>
                      <a:pt x="12005" y="14099"/>
                    </a:cubicBezTo>
                    <a:cubicBezTo>
                      <a:pt x="12151" y="14099"/>
                      <a:pt x="12380" y="14175"/>
                      <a:pt x="13755" y="14684"/>
                    </a:cubicBezTo>
                    <a:cubicBezTo>
                      <a:pt x="15190" y="15215"/>
                      <a:pt x="15649" y="15417"/>
                      <a:pt x="16367" y="15833"/>
                    </a:cubicBezTo>
                    <a:cubicBezTo>
                      <a:pt x="16764" y="16062"/>
                      <a:pt x="17106" y="16251"/>
                      <a:pt x="17127" y="16251"/>
                    </a:cubicBezTo>
                    <a:cubicBezTo>
                      <a:pt x="17297" y="16251"/>
                      <a:pt x="18607" y="17078"/>
                      <a:pt x="18908" y="17375"/>
                    </a:cubicBezTo>
                    <a:cubicBezTo>
                      <a:pt x="19116" y="17581"/>
                      <a:pt x="19342" y="17749"/>
                      <a:pt x="19410" y="17749"/>
                    </a:cubicBezTo>
                    <a:cubicBezTo>
                      <a:pt x="19742" y="17749"/>
                      <a:pt x="19563" y="17971"/>
                      <a:pt x="18932" y="18341"/>
                    </a:cubicBezTo>
                    <a:cubicBezTo>
                      <a:pt x="18549" y="18566"/>
                      <a:pt x="18108" y="18833"/>
                      <a:pt x="17956" y="18934"/>
                    </a:cubicBezTo>
                    <a:cubicBezTo>
                      <a:pt x="17087" y="19511"/>
                      <a:pt x="14997" y="20319"/>
                      <a:pt x="14105" y="20420"/>
                    </a:cubicBezTo>
                    <a:cubicBezTo>
                      <a:pt x="13399" y="20500"/>
                      <a:pt x="10244" y="20508"/>
                      <a:pt x="9313" y="20432"/>
                    </a:cubicBezTo>
                    <a:cubicBezTo>
                      <a:pt x="8424" y="20360"/>
                      <a:pt x="5993" y="19872"/>
                      <a:pt x="5748" y="19718"/>
                    </a:cubicBezTo>
                    <a:cubicBezTo>
                      <a:pt x="5680" y="19675"/>
                      <a:pt x="5608" y="19641"/>
                      <a:pt x="5586" y="19640"/>
                    </a:cubicBezTo>
                    <a:cubicBezTo>
                      <a:pt x="5481" y="19636"/>
                      <a:pt x="5062" y="19496"/>
                      <a:pt x="4992" y="19441"/>
                    </a:cubicBezTo>
                    <a:cubicBezTo>
                      <a:pt x="4948" y="19408"/>
                      <a:pt x="4772" y="19324"/>
                      <a:pt x="4600" y="19255"/>
                    </a:cubicBezTo>
                    <a:cubicBezTo>
                      <a:pt x="3686" y="18887"/>
                      <a:pt x="1940" y="16990"/>
                      <a:pt x="1447" y="15828"/>
                    </a:cubicBezTo>
                    <a:cubicBezTo>
                      <a:pt x="953" y="14665"/>
                      <a:pt x="886" y="14281"/>
                      <a:pt x="883" y="12646"/>
                    </a:cubicBezTo>
                    <a:cubicBezTo>
                      <a:pt x="881" y="10865"/>
                      <a:pt x="972" y="10371"/>
                      <a:pt x="1543" y="8984"/>
                    </a:cubicBezTo>
                    <a:cubicBezTo>
                      <a:pt x="2473" y="6728"/>
                      <a:pt x="4132" y="4503"/>
                      <a:pt x="5628" y="3508"/>
                    </a:cubicBezTo>
                    <a:cubicBezTo>
                      <a:pt x="6614" y="2852"/>
                      <a:pt x="7857" y="2155"/>
                      <a:pt x="8392" y="1961"/>
                    </a:cubicBezTo>
                    <a:cubicBezTo>
                      <a:pt x="8615" y="1880"/>
                      <a:pt x="8978" y="1735"/>
                      <a:pt x="9196" y="1636"/>
                    </a:cubicBezTo>
                    <a:cubicBezTo>
                      <a:pt x="10048" y="1251"/>
                      <a:pt x="11174" y="1062"/>
                      <a:pt x="12644" y="1060"/>
                    </a:cubicBezTo>
                    <a:cubicBezTo>
                      <a:pt x="13820" y="1058"/>
                      <a:pt x="14124" y="1090"/>
                      <a:pt x="14642" y="1259"/>
                    </a:cubicBezTo>
                    <a:cubicBezTo>
                      <a:pt x="15408" y="1509"/>
                      <a:pt x="15835" y="1759"/>
                      <a:pt x="16302" y="2245"/>
                    </a:cubicBezTo>
                    <a:cubicBezTo>
                      <a:pt x="16771" y="2733"/>
                      <a:pt x="17339" y="3142"/>
                      <a:pt x="17547" y="3142"/>
                    </a:cubicBezTo>
                    <a:cubicBezTo>
                      <a:pt x="17761" y="3142"/>
                      <a:pt x="17956" y="2901"/>
                      <a:pt x="17956" y="2639"/>
                    </a:cubicBezTo>
                    <a:cubicBezTo>
                      <a:pt x="17956" y="2410"/>
                      <a:pt x="17676" y="2065"/>
                      <a:pt x="17241" y="1758"/>
                    </a:cubicBezTo>
                    <a:cubicBezTo>
                      <a:pt x="17087" y="1650"/>
                      <a:pt x="16874" y="1455"/>
                      <a:pt x="16766" y="1320"/>
                    </a:cubicBezTo>
                    <a:cubicBezTo>
                      <a:pt x="16475" y="953"/>
                      <a:pt x="15588" y="479"/>
                      <a:pt x="14549" y="142"/>
                    </a:cubicBezTo>
                    <a:cubicBezTo>
                      <a:pt x="14246" y="44"/>
                      <a:pt x="13554" y="-2"/>
                      <a:pt x="12816" y="0"/>
                    </a:cubicBezTo>
                    <a:close/>
                  </a:path>
                </a:pathLst>
              </a:custGeom>
              <a:ln w="12700" cap="flat">
                <a:noFill/>
                <a:miter lim="400000"/>
              </a:ln>
              <a:effectLst/>
            </p:spPr>
          </p:pic>
          <p:pic>
            <p:nvPicPr>
              <p:cNvPr id="284" name="droppedImage.tiff" descr="droppedImage.tiff"/>
              <p:cNvPicPr>
                <a:picLocks noChangeAspect="1"/>
              </p:cNvPicPr>
              <p:nvPr/>
            </p:nvPicPr>
            <p:blipFill>
              <a:blip r:embed="rId9"/>
              <a:srcRect l="59081" t="32157" r="23284" b="48847"/>
              <a:stretch>
                <a:fillRect/>
              </a:stretch>
            </p:blipFill>
            <p:spPr>
              <a:xfrm>
                <a:off x="1165303" y="361914"/>
                <a:ext cx="1652913" cy="1335391"/>
              </a:xfrm>
              <a:custGeom>
                <a:avLst/>
                <a:gdLst/>
                <a:ahLst/>
                <a:cxnLst>
                  <a:cxn ang="0">
                    <a:pos x="wd2" y="hd2"/>
                  </a:cxn>
                  <a:cxn ang="5400000">
                    <a:pos x="wd2" y="hd2"/>
                  </a:cxn>
                  <a:cxn ang="10800000">
                    <a:pos x="wd2" y="hd2"/>
                  </a:cxn>
                  <a:cxn ang="16200000">
                    <a:pos x="wd2" y="hd2"/>
                  </a:cxn>
                </a:cxnLst>
                <a:rect l="0" t="0" r="r" b="b"/>
                <a:pathLst>
                  <a:path w="21587" h="21530" extrusionOk="0">
                    <a:moveTo>
                      <a:pt x="16623" y="1"/>
                    </a:moveTo>
                    <a:cubicBezTo>
                      <a:pt x="16426" y="-15"/>
                      <a:pt x="16430" y="290"/>
                      <a:pt x="16732" y="922"/>
                    </a:cubicBezTo>
                    <a:cubicBezTo>
                      <a:pt x="16861" y="1192"/>
                      <a:pt x="17046" y="1683"/>
                      <a:pt x="17141" y="2016"/>
                    </a:cubicBezTo>
                    <a:cubicBezTo>
                      <a:pt x="17236" y="2349"/>
                      <a:pt x="17498" y="2945"/>
                      <a:pt x="17727" y="3341"/>
                    </a:cubicBezTo>
                    <a:cubicBezTo>
                      <a:pt x="18284" y="4306"/>
                      <a:pt x="19074" y="6126"/>
                      <a:pt x="19287" y="6943"/>
                    </a:cubicBezTo>
                    <a:cubicBezTo>
                      <a:pt x="20174" y="10339"/>
                      <a:pt x="20294" y="11259"/>
                      <a:pt x="20261" y="14340"/>
                    </a:cubicBezTo>
                    <a:lnTo>
                      <a:pt x="20230" y="16899"/>
                    </a:lnTo>
                    <a:lnTo>
                      <a:pt x="19676" y="18275"/>
                    </a:lnTo>
                    <a:cubicBezTo>
                      <a:pt x="19215" y="19411"/>
                      <a:pt x="19135" y="19733"/>
                      <a:pt x="19199" y="20156"/>
                    </a:cubicBezTo>
                    <a:cubicBezTo>
                      <a:pt x="19282" y="20705"/>
                      <a:pt x="19458" y="20788"/>
                      <a:pt x="20013" y="20527"/>
                    </a:cubicBezTo>
                    <a:cubicBezTo>
                      <a:pt x="20381" y="20354"/>
                      <a:pt x="21339" y="18025"/>
                      <a:pt x="21505" y="16899"/>
                    </a:cubicBezTo>
                    <a:cubicBezTo>
                      <a:pt x="21565" y="16494"/>
                      <a:pt x="21600" y="14969"/>
                      <a:pt x="21583" y="13508"/>
                    </a:cubicBezTo>
                    <a:cubicBezTo>
                      <a:pt x="21558" y="11362"/>
                      <a:pt x="21501" y="10612"/>
                      <a:pt x="21293" y="9598"/>
                    </a:cubicBezTo>
                    <a:cubicBezTo>
                      <a:pt x="20410" y="5307"/>
                      <a:pt x="19615" y="3381"/>
                      <a:pt x="17732" y="999"/>
                    </a:cubicBezTo>
                    <a:cubicBezTo>
                      <a:pt x="17219" y="350"/>
                      <a:pt x="16820" y="16"/>
                      <a:pt x="16623" y="1"/>
                    </a:cubicBezTo>
                    <a:close/>
                    <a:moveTo>
                      <a:pt x="15228" y="634"/>
                    </a:moveTo>
                    <a:cubicBezTo>
                      <a:pt x="15075" y="519"/>
                      <a:pt x="14681" y="803"/>
                      <a:pt x="13984" y="1517"/>
                    </a:cubicBezTo>
                    <a:cubicBezTo>
                      <a:pt x="13490" y="2024"/>
                      <a:pt x="12842" y="2659"/>
                      <a:pt x="12549" y="2925"/>
                    </a:cubicBezTo>
                    <a:cubicBezTo>
                      <a:pt x="12255" y="3191"/>
                      <a:pt x="11460" y="3917"/>
                      <a:pt x="10781" y="4544"/>
                    </a:cubicBezTo>
                    <a:cubicBezTo>
                      <a:pt x="10103" y="5171"/>
                      <a:pt x="9291" y="5917"/>
                      <a:pt x="8977" y="6201"/>
                    </a:cubicBezTo>
                    <a:cubicBezTo>
                      <a:pt x="8262" y="6849"/>
                      <a:pt x="7188" y="7961"/>
                      <a:pt x="6334" y="8939"/>
                    </a:cubicBezTo>
                    <a:cubicBezTo>
                      <a:pt x="5972" y="9354"/>
                      <a:pt x="4548" y="10613"/>
                      <a:pt x="3167" y="11742"/>
                    </a:cubicBezTo>
                    <a:cubicBezTo>
                      <a:pt x="635" y="13812"/>
                      <a:pt x="0" y="14438"/>
                      <a:pt x="0" y="14852"/>
                    </a:cubicBezTo>
                    <a:cubicBezTo>
                      <a:pt x="0" y="15575"/>
                      <a:pt x="553" y="15918"/>
                      <a:pt x="1705" y="15914"/>
                    </a:cubicBezTo>
                    <a:cubicBezTo>
                      <a:pt x="2085" y="15912"/>
                      <a:pt x="2465" y="15976"/>
                      <a:pt x="2545" y="16048"/>
                    </a:cubicBezTo>
                    <a:cubicBezTo>
                      <a:pt x="2704" y="16191"/>
                      <a:pt x="3137" y="16368"/>
                      <a:pt x="4245" y="16752"/>
                    </a:cubicBezTo>
                    <a:cubicBezTo>
                      <a:pt x="4640" y="16889"/>
                      <a:pt x="5257" y="17135"/>
                      <a:pt x="5619" y="17296"/>
                    </a:cubicBezTo>
                    <a:cubicBezTo>
                      <a:pt x="6928" y="17880"/>
                      <a:pt x="8323" y="18421"/>
                      <a:pt x="8967" y="18601"/>
                    </a:cubicBezTo>
                    <a:cubicBezTo>
                      <a:pt x="9329" y="18703"/>
                      <a:pt x="9839" y="18908"/>
                      <a:pt x="10102" y="19056"/>
                    </a:cubicBezTo>
                    <a:cubicBezTo>
                      <a:pt x="10568" y="19318"/>
                      <a:pt x="12072" y="19858"/>
                      <a:pt x="12912" y="20067"/>
                    </a:cubicBezTo>
                    <a:cubicBezTo>
                      <a:pt x="13142" y="20124"/>
                      <a:pt x="13735" y="20311"/>
                      <a:pt x="14228" y="20482"/>
                    </a:cubicBezTo>
                    <a:cubicBezTo>
                      <a:pt x="14721" y="20654"/>
                      <a:pt x="15475" y="20901"/>
                      <a:pt x="15902" y="21033"/>
                    </a:cubicBezTo>
                    <a:cubicBezTo>
                      <a:pt x="16330" y="21165"/>
                      <a:pt x="16840" y="21330"/>
                      <a:pt x="17037" y="21397"/>
                    </a:cubicBezTo>
                    <a:cubicBezTo>
                      <a:pt x="17585" y="21585"/>
                      <a:pt x="18468" y="21570"/>
                      <a:pt x="18629" y="21372"/>
                    </a:cubicBezTo>
                    <a:cubicBezTo>
                      <a:pt x="18817" y="21140"/>
                      <a:pt x="18809" y="20440"/>
                      <a:pt x="18618" y="20271"/>
                    </a:cubicBezTo>
                    <a:cubicBezTo>
                      <a:pt x="18536" y="20198"/>
                      <a:pt x="17851" y="19958"/>
                      <a:pt x="17094" y="19734"/>
                    </a:cubicBezTo>
                    <a:cubicBezTo>
                      <a:pt x="15579" y="19284"/>
                      <a:pt x="14059" y="18775"/>
                      <a:pt x="13689" y="18595"/>
                    </a:cubicBezTo>
                    <a:cubicBezTo>
                      <a:pt x="13558" y="18531"/>
                      <a:pt x="13101" y="18400"/>
                      <a:pt x="12673" y="18301"/>
                    </a:cubicBezTo>
                    <a:cubicBezTo>
                      <a:pt x="12246" y="18201"/>
                      <a:pt x="11409" y="17899"/>
                      <a:pt x="10818" y="17635"/>
                    </a:cubicBezTo>
                    <a:cubicBezTo>
                      <a:pt x="10226" y="17371"/>
                      <a:pt x="9463" y="17074"/>
                      <a:pt x="9117" y="16976"/>
                    </a:cubicBezTo>
                    <a:cubicBezTo>
                      <a:pt x="8772" y="16878"/>
                      <a:pt x="8043" y="16600"/>
                      <a:pt x="7500" y="16355"/>
                    </a:cubicBezTo>
                    <a:cubicBezTo>
                      <a:pt x="6588" y="15945"/>
                      <a:pt x="5987" y="15704"/>
                      <a:pt x="3784" y="14865"/>
                    </a:cubicBezTo>
                    <a:cubicBezTo>
                      <a:pt x="2414" y="14343"/>
                      <a:pt x="2416" y="14353"/>
                      <a:pt x="3836" y="13188"/>
                    </a:cubicBezTo>
                    <a:cubicBezTo>
                      <a:pt x="6294" y="11171"/>
                      <a:pt x="6563" y="10918"/>
                      <a:pt x="7785" y="9592"/>
                    </a:cubicBezTo>
                    <a:cubicBezTo>
                      <a:pt x="8467" y="8853"/>
                      <a:pt x="9404" y="7891"/>
                      <a:pt x="9864" y="7449"/>
                    </a:cubicBezTo>
                    <a:cubicBezTo>
                      <a:pt x="12477" y="4934"/>
                      <a:pt x="15301" y="1517"/>
                      <a:pt x="15301" y="877"/>
                    </a:cubicBezTo>
                    <a:cubicBezTo>
                      <a:pt x="15301" y="751"/>
                      <a:pt x="15280" y="672"/>
                      <a:pt x="15228" y="634"/>
                    </a:cubicBezTo>
                    <a:close/>
                  </a:path>
                </a:pathLst>
              </a:custGeom>
              <a:ln w="12700" cap="flat">
                <a:noFill/>
                <a:miter lim="400000"/>
              </a:ln>
              <a:effectLst/>
            </p:spPr>
          </p:pic>
          <p:pic>
            <p:nvPicPr>
              <p:cNvPr id="285" name="Image" descr="Image"/>
              <p:cNvPicPr>
                <a:picLocks noChangeAspect="1"/>
              </p:cNvPicPr>
              <p:nvPr/>
            </p:nvPicPr>
            <p:blipFill>
              <a:blip r:embed="rId10"/>
              <a:stretch>
                <a:fillRect/>
              </a:stretch>
            </p:blipFill>
            <p:spPr>
              <a:xfrm>
                <a:off x="260078" y="997034"/>
                <a:ext cx="910829" cy="482205"/>
              </a:xfrm>
              <a:prstGeom prst="rect">
                <a:avLst/>
              </a:prstGeom>
              <a:ln w="12700" cap="flat">
                <a:noFill/>
                <a:miter lim="400000"/>
              </a:ln>
              <a:effectLst/>
            </p:spPr>
          </p:pic>
        </p:grpSp>
        <p:pic>
          <p:nvPicPr>
            <p:cNvPr id="287" name="Image" descr="Image"/>
            <p:cNvPicPr>
              <a:picLocks noChangeAspect="1"/>
            </p:cNvPicPr>
            <p:nvPr/>
          </p:nvPicPr>
          <p:blipFill>
            <a:blip r:embed="rId11"/>
            <a:stretch>
              <a:fillRect/>
            </a:stretch>
          </p:blipFill>
          <p:spPr>
            <a:xfrm>
              <a:off x="4733224" y="1462004"/>
              <a:ext cx="589360" cy="357189"/>
            </a:xfrm>
            <a:prstGeom prst="rect">
              <a:avLst/>
            </a:prstGeom>
            <a:ln w="12700" cap="flat">
              <a:noFill/>
              <a:miter lim="400000"/>
            </a:ln>
            <a:effectLst/>
          </p:spPr>
        </p:pic>
        <p:pic>
          <p:nvPicPr>
            <p:cNvPr id="288" name="Image" descr="Image"/>
            <p:cNvPicPr>
              <a:picLocks noChangeAspect="1"/>
            </p:cNvPicPr>
            <p:nvPr/>
          </p:nvPicPr>
          <p:blipFill>
            <a:blip r:embed="rId12"/>
            <a:stretch>
              <a:fillRect/>
            </a:stretch>
          </p:blipFill>
          <p:spPr>
            <a:xfrm>
              <a:off x="2309936" y="1417356"/>
              <a:ext cx="428626" cy="446485"/>
            </a:xfrm>
            <a:prstGeom prst="rect">
              <a:avLst/>
            </a:prstGeom>
            <a:ln w="12700" cap="flat">
              <a:noFill/>
              <a:miter lim="400000"/>
            </a:ln>
            <a:effectLst/>
          </p:spPr>
        </p:pic>
        <p:grpSp>
          <p:nvGrpSpPr>
            <p:cNvPr id="291" name="Group"/>
            <p:cNvGrpSpPr/>
            <p:nvPr/>
          </p:nvGrpSpPr>
          <p:grpSpPr>
            <a:xfrm>
              <a:off x="74" y="394333"/>
              <a:ext cx="2476075" cy="2107987"/>
              <a:chOff x="74" y="-7"/>
              <a:chExt cx="2476074" cy="2107985"/>
            </a:xfrm>
          </p:grpSpPr>
          <p:pic>
            <p:nvPicPr>
              <p:cNvPr id="289" name="droppedImage.pdf" descr="droppedImage.pdf"/>
              <p:cNvPicPr>
                <a:picLocks noChangeAspect="1"/>
              </p:cNvPicPr>
              <p:nvPr/>
            </p:nvPicPr>
            <p:blipFill>
              <a:blip r:embed="rId13"/>
              <a:stretch>
                <a:fillRect/>
              </a:stretch>
            </p:blipFill>
            <p:spPr>
              <a:xfrm>
                <a:off x="428368" y="1027621"/>
                <a:ext cx="482204" cy="482204"/>
              </a:xfrm>
              <a:prstGeom prst="rect">
                <a:avLst/>
              </a:prstGeom>
              <a:ln w="12700" cap="flat">
                <a:noFill/>
                <a:miter lim="400000"/>
              </a:ln>
              <a:effectLst/>
            </p:spPr>
          </p:pic>
          <p:pic>
            <p:nvPicPr>
              <p:cNvPr id="290" name="droppedImage.tiff" descr="droppedImage.tiff"/>
              <p:cNvPicPr>
                <a:picLocks noChangeAspect="1"/>
              </p:cNvPicPr>
              <p:nvPr/>
            </p:nvPicPr>
            <p:blipFill>
              <a:blip r:embed="rId9"/>
              <a:srcRect l="18412" t="27009" r="55171" b="43005"/>
              <a:stretch>
                <a:fillRect/>
              </a:stretch>
            </p:blipFill>
            <p:spPr>
              <a:xfrm>
                <a:off x="74" y="-8"/>
                <a:ext cx="2476075" cy="2107986"/>
              </a:xfrm>
              <a:custGeom>
                <a:avLst/>
                <a:gdLst/>
                <a:ahLst/>
                <a:cxnLst>
                  <a:cxn ang="0">
                    <a:pos x="wd2" y="hd2"/>
                  </a:cxn>
                  <a:cxn ang="5400000">
                    <a:pos x="wd2" y="hd2"/>
                  </a:cxn>
                  <a:cxn ang="10800000">
                    <a:pos x="wd2" y="hd2"/>
                  </a:cxn>
                  <a:cxn ang="16200000">
                    <a:pos x="wd2" y="hd2"/>
                  </a:cxn>
                </a:cxnLst>
                <a:rect l="0" t="0" r="r" b="b"/>
                <a:pathLst>
                  <a:path w="21449" h="21562" extrusionOk="0">
                    <a:moveTo>
                      <a:pt x="12816" y="0"/>
                    </a:moveTo>
                    <a:cubicBezTo>
                      <a:pt x="12078" y="2"/>
                      <a:pt x="11292" y="54"/>
                      <a:pt x="10802" y="154"/>
                    </a:cubicBezTo>
                    <a:cubicBezTo>
                      <a:pt x="9044" y="515"/>
                      <a:pt x="8133" y="870"/>
                      <a:pt x="6339" y="1892"/>
                    </a:cubicBezTo>
                    <a:cubicBezTo>
                      <a:pt x="5365" y="2447"/>
                      <a:pt x="4658" y="2922"/>
                      <a:pt x="4280" y="3268"/>
                    </a:cubicBezTo>
                    <a:cubicBezTo>
                      <a:pt x="3751" y="3753"/>
                      <a:pt x="2414" y="5322"/>
                      <a:pt x="2234" y="5671"/>
                    </a:cubicBezTo>
                    <a:cubicBezTo>
                      <a:pt x="2142" y="5852"/>
                      <a:pt x="1891" y="6274"/>
                      <a:pt x="1678" y="6609"/>
                    </a:cubicBezTo>
                    <a:cubicBezTo>
                      <a:pt x="1284" y="7227"/>
                      <a:pt x="354" y="9332"/>
                      <a:pt x="354" y="9605"/>
                    </a:cubicBezTo>
                    <a:cubicBezTo>
                      <a:pt x="354" y="9687"/>
                      <a:pt x="324" y="9792"/>
                      <a:pt x="285" y="9841"/>
                    </a:cubicBezTo>
                    <a:cubicBezTo>
                      <a:pt x="27" y="10167"/>
                      <a:pt x="-98" y="13106"/>
                      <a:pt x="93" y="14379"/>
                    </a:cubicBezTo>
                    <a:cubicBezTo>
                      <a:pt x="279" y="15622"/>
                      <a:pt x="813" y="16839"/>
                      <a:pt x="1636" y="17895"/>
                    </a:cubicBezTo>
                    <a:cubicBezTo>
                      <a:pt x="2721" y="19286"/>
                      <a:pt x="3408" y="19861"/>
                      <a:pt x="4555" y="20331"/>
                    </a:cubicBezTo>
                    <a:cubicBezTo>
                      <a:pt x="4882" y="20464"/>
                      <a:pt x="5221" y="20610"/>
                      <a:pt x="5308" y="20655"/>
                    </a:cubicBezTo>
                    <a:cubicBezTo>
                      <a:pt x="5395" y="20701"/>
                      <a:pt x="6056" y="20866"/>
                      <a:pt x="6776" y="21025"/>
                    </a:cubicBezTo>
                    <a:cubicBezTo>
                      <a:pt x="7495" y="21183"/>
                      <a:pt x="8160" y="21335"/>
                      <a:pt x="8251" y="21358"/>
                    </a:cubicBezTo>
                    <a:cubicBezTo>
                      <a:pt x="8342" y="21381"/>
                      <a:pt x="8787" y="21426"/>
                      <a:pt x="9241" y="21459"/>
                    </a:cubicBezTo>
                    <a:cubicBezTo>
                      <a:pt x="9695" y="21492"/>
                      <a:pt x="10078" y="21532"/>
                      <a:pt x="10093" y="21548"/>
                    </a:cubicBezTo>
                    <a:cubicBezTo>
                      <a:pt x="10140" y="21598"/>
                      <a:pt x="13770" y="21504"/>
                      <a:pt x="14191" y="21443"/>
                    </a:cubicBezTo>
                    <a:cubicBezTo>
                      <a:pt x="14662" y="21374"/>
                      <a:pt x="15617" y="21143"/>
                      <a:pt x="15897" y="21029"/>
                    </a:cubicBezTo>
                    <a:cubicBezTo>
                      <a:pt x="17142" y="20520"/>
                      <a:pt x="17712" y="20236"/>
                      <a:pt x="18829" y="19575"/>
                    </a:cubicBezTo>
                    <a:cubicBezTo>
                      <a:pt x="19549" y="19150"/>
                      <a:pt x="20413" y="18665"/>
                      <a:pt x="20751" y="18500"/>
                    </a:cubicBezTo>
                    <a:cubicBezTo>
                      <a:pt x="21377" y="18193"/>
                      <a:pt x="21502" y="18031"/>
                      <a:pt x="21431" y="17598"/>
                    </a:cubicBezTo>
                    <a:cubicBezTo>
                      <a:pt x="21394" y="17370"/>
                      <a:pt x="20898" y="17102"/>
                      <a:pt x="20098" y="16884"/>
                    </a:cubicBezTo>
                    <a:cubicBezTo>
                      <a:pt x="19902" y="16830"/>
                      <a:pt x="19598" y="16655"/>
                      <a:pt x="19424" y="16490"/>
                    </a:cubicBezTo>
                    <a:cubicBezTo>
                      <a:pt x="19249" y="16325"/>
                      <a:pt x="18875" y="16057"/>
                      <a:pt x="18592" y="15897"/>
                    </a:cubicBezTo>
                    <a:cubicBezTo>
                      <a:pt x="17157" y="15089"/>
                      <a:pt x="15824" y="14379"/>
                      <a:pt x="15745" y="14379"/>
                    </a:cubicBezTo>
                    <a:cubicBezTo>
                      <a:pt x="15696" y="14379"/>
                      <a:pt x="15594" y="14339"/>
                      <a:pt x="15518" y="14290"/>
                    </a:cubicBezTo>
                    <a:cubicBezTo>
                      <a:pt x="15443" y="14241"/>
                      <a:pt x="15184" y="14134"/>
                      <a:pt x="14944" y="14050"/>
                    </a:cubicBezTo>
                    <a:cubicBezTo>
                      <a:pt x="14704" y="13967"/>
                      <a:pt x="14437" y="13860"/>
                      <a:pt x="14349" y="13815"/>
                    </a:cubicBezTo>
                    <a:cubicBezTo>
                      <a:pt x="14205" y="13741"/>
                      <a:pt x="13790" y="13593"/>
                      <a:pt x="12331" y="13088"/>
                    </a:cubicBezTo>
                    <a:cubicBezTo>
                      <a:pt x="12050" y="12991"/>
                      <a:pt x="11807" y="12867"/>
                      <a:pt x="11792" y="12812"/>
                    </a:cubicBezTo>
                    <a:cubicBezTo>
                      <a:pt x="11776" y="12758"/>
                      <a:pt x="11967" y="12510"/>
                      <a:pt x="12215" y="12260"/>
                    </a:cubicBezTo>
                    <a:cubicBezTo>
                      <a:pt x="12462" y="12010"/>
                      <a:pt x="13347" y="11086"/>
                      <a:pt x="14181" y="10210"/>
                    </a:cubicBezTo>
                    <a:cubicBezTo>
                      <a:pt x="15015" y="9334"/>
                      <a:pt x="16197" y="8116"/>
                      <a:pt x="16808" y="7502"/>
                    </a:cubicBezTo>
                    <a:cubicBezTo>
                      <a:pt x="18758" y="5542"/>
                      <a:pt x="19455" y="4640"/>
                      <a:pt x="19025" y="4640"/>
                    </a:cubicBezTo>
                    <a:cubicBezTo>
                      <a:pt x="18959" y="4640"/>
                      <a:pt x="18185" y="5328"/>
                      <a:pt x="17303" y="6167"/>
                    </a:cubicBezTo>
                    <a:cubicBezTo>
                      <a:pt x="16420" y="7005"/>
                      <a:pt x="15323" y="8011"/>
                      <a:pt x="14865" y="8404"/>
                    </a:cubicBezTo>
                    <a:cubicBezTo>
                      <a:pt x="14407" y="8796"/>
                      <a:pt x="13782" y="9367"/>
                      <a:pt x="13476" y="9670"/>
                    </a:cubicBezTo>
                    <a:cubicBezTo>
                      <a:pt x="13171" y="9973"/>
                      <a:pt x="12529" y="10593"/>
                      <a:pt x="12050" y="11050"/>
                    </a:cubicBezTo>
                    <a:cubicBezTo>
                      <a:pt x="11570" y="11508"/>
                      <a:pt x="10998" y="12065"/>
                      <a:pt x="10781" y="12289"/>
                    </a:cubicBezTo>
                    <a:cubicBezTo>
                      <a:pt x="10564" y="12512"/>
                      <a:pt x="10352" y="12694"/>
                      <a:pt x="10310" y="12694"/>
                    </a:cubicBezTo>
                    <a:cubicBezTo>
                      <a:pt x="10268" y="12694"/>
                      <a:pt x="10133" y="12808"/>
                      <a:pt x="10011" y="12946"/>
                    </a:cubicBezTo>
                    <a:cubicBezTo>
                      <a:pt x="9759" y="13231"/>
                      <a:pt x="9725" y="13579"/>
                      <a:pt x="9922" y="13835"/>
                    </a:cubicBezTo>
                    <a:cubicBezTo>
                      <a:pt x="10078" y="14040"/>
                      <a:pt x="10255" y="14052"/>
                      <a:pt x="10468" y="13876"/>
                    </a:cubicBezTo>
                    <a:cubicBezTo>
                      <a:pt x="10555" y="13804"/>
                      <a:pt x="10730" y="13758"/>
                      <a:pt x="10860" y="13774"/>
                    </a:cubicBezTo>
                    <a:cubicBezTo>
                      <a:pt x="11449" y="13849"/>
                      <a:pt x="11773" y="13928"/>
                      <a:pt x="11816" y="14010"/>
                    </a:cubicBezTo>
                    <a:cubicBezTo>
                      <a:pt x="11841" y="14058"/>
                      <a:pt x="11925" y="14099"/>
                      <a:pt x="12005" y="14099"/>
                    </a:cubicBezTo>
                    <a:cubicBezTo>
                      <a:pt x="12151" y="14099"/>
                      <a:pt x="12380" y="14175"/>
                      <a:pt x="13755" y="14684"/>
                    </a:cubicBezTo>
                    <a:cubicBezTo>
                      <a:pt x="15190" y="15215"/>
                      <a:pt x="15649" y="15417"/>
                      <a:pt x="16367" y="15833"/>
                    </a:cubicBezTo>
                    <a:cubicBezTo>
                      <a:pt x="16764" y="16062"/>
                      <a:pt x="17106" y="16251"/>
                      <a:pt x="17127" y="16251"/>
                    </a:cubicBezTo>
                    <a:cubicBezTo>
                      <a:pt x="17297" y="16251"/>
                      <a:pt x="18607" y="17078"/>
                      <a:pt x="18908" y="17375"/>
                    </a:cubicBezTo>
                    <a:cubicBezTo>
                      <a:pt x="19116" y="17581"/>
                      <a:pt x="19342" y="17749"/>
                      <a:pt x="19410" y="17749"/>
                    </a:cubicBezTo>
                    <a:cubicBezTo>
                      <a:pt x="19742" y="17749"/>
                      <a:pt x="19563" y="17971"/>
                      <a:pt x="18932" y="18341"/>
                    </a:cubicBezTo>
                    <a:cubicBezTo>
                      <a:pt x="18549" y="18566"/>
                      <a:pt x="18108" y="18833"/>
                      <a:pt x="17956" y="18934"/>
                    </a:cubicBezTo>
                    <a:cubicBezTo>
                      <a:pt x="17087" y="19511"/>
                      <a:pt x="14997" y="20319"/>
                      <a:pt x="14105" y="20420"/>
                    </a:cubicBezTo>
                    <a:cubicBezTo>
                      <a:pt x="13399" y="20500"/>
                      <a:pt x="10244" y="20508"/>
                      <a:pt x="9313" y="20432"/>
                    </a:cubicBezTo>
                    <a:cubicBezTo>
                      <a:pt x="8424" y="20360"/>
                      <a:pt x="5993" y="19872"/>
                      <a:pt x="5748" y="19718"/>
                    </a:cubicBezTo>
                    <a:cubicBezTo>
                      <a:pt x="5680" y="19675"/>
                      <a:pt x="5608" y="19641"/>
                      <a:pt x="5586" y="19640"/>
                    </a:cubicBezTo>
                    <a:cubicBezTo>
                      <a:pt x="5481" y="19636"/>
                      <a:pt x="5062" y="19496"/>
                      <a:pt x="4992" y="19441"/>
                    </a:cubicBezTo>
                    <a:cubicBezTo>
                      <a:pt x="4948" y="19408"/>
                      <a:pt x="4772" y="19324"/>
                      <a:pt x="4600" y="19255"/>
                    </a:cubicBezTo>
                    <a:cubicBezTo>
                      <a:pt x="3686" y="18887"/>
                      <a:pt x="1940" y="16990"/>
                      <a:pt x="1447" y="15828"/>
                    </a:cubicBezTo>
                    <a:cubicBezTo>
                      <a:pt x="953" y="14665"/>
                      <a:pt x="886" y="14281"/>
                      <a:pt x="883" y="12646"/>
                    </a:cubicBezTo>
                    <a:cubicBezTo>
                      <a:pt x="881" y="10865"/>
                      <a:pt x="972" y="10371"/>
                      <a:pt x="1543" y="8984"/>
                    </a:cubicBezTo>
                    <a:cubicBezTo>
                      <a:pt x="2473" y="6728"/>
                      <a:pt x="4132" y="4503"/>
                      <a:pt x="5628" y="3508"/>
                    </a:cubicBezTo>
                    <a:cubicBezTo>
                      <a:pt x="6614" y="2852"/>
                      <a:pt x="7857" y="2155"/>
                      <a:pt x="8392" y="1961"/>
                    </a:cubicBezTo>
                    <a:cubicBezTo>
                      <a:pt x="8615" y="1880"/>
                      <a:pt x="8978" y="1735"/>
                      <a:pt x="9196" y="1636"/>
                    </a:cubicBezTo>
                    <a:cubicBezTo>
                      <a:pt x="10048" y="1251"/>
                      <a:pt x="11174" y="1062"/>
                      <a:pt x="12644" y="1060"/>
                    </a:cubicBezTo>
                    <a:cubicBezTo>
                      <a:pt x="13820" y="1058"/>
                      <a:pt x="14124" y="1090"/>
                      <a:pt x="14642" y="1259"/>
                    </a:cubicBezTo>
                    <a:cubicBezTo>
                      <a:pt x="15408" y="1509"/>
                      <a:pt x="15835" y="1759"/>
                      <a:pt x="16302" y="2245"/>
                    </a:cubicBezTo>
                    <a:cubicBezTo>
                      <a:pt x="16771" y="2733"/>
                      <a:pt x="17339" y="3142"/>
                      <a:pt x="17547" y="3142"/>
                    </a:cubicBezTo>
                    <a:cubicBezTo>
                      <a:pt x="17761" y="3142"/>
                      <a:pt x="17956" y="2901"/>
                      <a:pt x="17956" y="2639"/>
                    </a:cubicBezTo>
                    <a:cubicBezTo>
                      <a:pt x="17956" y="2410"/>
                      <a:pt x="17676" y="2065"/>
                      <a:pt x="17241" y="1758"/>
                    </a:cubicBezTo>
                    <a:cubicBezTo>
                      <a:pt x="17087" y="1650"/>
                      <a:pt x="16874" y="1455"/>
                      <a:pt x="16766" y="1320"/>
                    </a:cubicBezTo>
                    <a:cubicBezTo>
                      <a:pt x="16475" y="953"/>
                      <a:pt x="15588" y="479"/>
                      <a:pt x="14549" y="142"/>
                    </a:cubicBezTo>
                    <a:cubicBezTo>
                      <a:pt x="14246" y="44"/>
                      <a:pt x="13554" y="-2"/>
                      <a:pt x="12816" y="0"/>
                    </a:cubicBezTo>
                    <a:close/>
                  </a:path>
                </a:pathLst>
              </a:custGeom>
              <a:ln w="12700" cap="flat">
                <a:noFill/>
                <a:miter lim="400000"/>
              </a:ln>
              <a:effectLst/>
            </p:spPr>
          </p:pic>
        </p:grpSp>
        <p:grpSp>
          <p:nvGrpSpPr>
            <p:cNvPr id="294" name="Group"/>
            <p:cNvGrpSpPr/>
            <p:nvPr/>
          </p:nvGrpSpPr>
          <p:grpSpPr>
            <a:xfrm>
              <a:off x="2733717" y="248908"/>
              <a:ext cx="1958675" cy="2088095"/>
              <a:chOff x="403323" y="248908"/>
              <a:chExt cx="1958674" cy="2088094"/>
            </a:xfrm>
          </p:grpSpPr>
          <p:pic>
            <p:nvPicPr>
              <p:cNvPr id="292" name="droppedImage.pdf" descr="droppedImage.pdf"/>
              <p:cNvPicPr>
                <a:picLocks noChangeAspect="1"/>
              </p:cNvPicPr>
              <p:nvPr/>
            </p:nvPicPr>
            <p:blipFill>
              <a:blip r:embed="rId14"/>
              <a:stretch>
                <a:fillRect/>
              </a:stretch>
            </p:blipFill>
            <p:spPr>
              <a:xfrm>
                <a:off x="1265589" y="1384114"/>
                <a:ext cx="392907" cy="446485"/>
              </a:xfrm>
              <a:prstGeom prst="rect">
                <a:avLst/>
              </a:prstGeom>
              <a:ln w="12700" cap="flat">
                <a:noFill/>
                <a:miter lim="400000"/>
              </a:ln>
              <a:effectLst/>
            </p:spPr>
          </p:pic>
          <p:pic>
            <p:nvPicPr>
              <p:cNvPr id="293" name="droppedImage.tiff" descr="droppedImage.tiff"/>
              <p:cNvPicPr>
                <a:picLocks noChangeAspect="1"/>
              </p:cNvPicPr>
              <p:nvPr/>
            </p:nvPicPr>
            <p:blipFill>
              <a:blip r:embed="rId9"/>
              <a:srcRect l="59081" t="32157" r="23284" b="48847"/>
              <a:stretch>
                <a:fillRect/>
              </a:stretch>
            </p:blipFill>
            <p:spPr>
              <a:xfrm rot="3705059">
                <a:off x="556204" y="625260"/>
                <a:ext cx="1652913" cy="1335391"/>
              </a:xfrm>
              <a:custGeom>
                <a:avLst/>
                <a:gdLst/>
                <a:ahLst/>
                <a:cxnLst>
                  <a:cxn ang="0">
                    <a:pos x="wd2" y="hd2"/>
                  </a:cxn>
                  <a:cxn ang="5400000">
                    <a:pos x="wd2" y="hd2"/>
                  </a:cxn>
                  <a:cxn ang="10800000">
                    <a:pos x="wd2" y="hd2"/>
                  </a:cxn>
                  <a:cxn ang="16200000">
                    <a:pos x="wd2" y="hd2"/>
                  </a:cxn>
                </a:cxnLst>
                <a:rect l="0" t="0" r="r" b="b"/>
                <a:pathLst>
                  <a:path w="21587" h="21530" extrusionOk="0">
                    <a:moveTo>
                      <a:pt x="16623" y="1"/>
                    </a:moveTo>
                    <a:cubicBezTo>
                      <a:pt x="16426" y="-15"/>
                      <a:pt x="16430" y="290"/>
                      <a:pt x="16732" y="922"/>
                    </a:cubicBezTo>
                    <a:cubicBezTo>
                      <a:pt x="16861" y="1192"/>
                      <a:pt x="17046" y="1683"/>
                      <a:pt x="17141" y="2016"/>
                    </a:cubicBezTo>
                    <a:cubicBezTo>
                      <a:pt x="17236" y="2349"/>
                      <a:pt x="17498" y="2945"/>
                      <a:pt x="17727" y="3341"/>
                    </a:cubicBezTo>
                    <a:cubicBezTo>
                      <a:pt x="18284" y="4306"/>
                      <a:pt x="19074" y="6126"/>
                      <a:pt x="19287" y="6943"/>
                    </a:cubicBezTo>
                    <a:cubicBezTo>
                      <a:pt x="20174" y="10339"/>
                      <a:pt x="20294" y="11259"/>
                      <a:pt x="20261" y="14340"/>
                    </a:cubicBezTo>
                    <a:lnTo>
                      <a:pt x="20230" y="16899"/>
                    </a:lnTo>
                    <a:lnTo>
                      <a:pt x="19676" y="18275"/>
                    </a:lnTo>
                    <a:cubicBezTo>
                      <a:pt x="19215" y="19411"/>
                      <a:pt x="19135" y="19733"/>
                      <a:pt x="19199" y="20156"/>
                    </a:cubicBezTo>
                    <a:cubicBezTo>
                      <a:pt x="19282" y="20705"/>
                      <a:pt x="19458" y="20788"/>
                      <a:pt x="20013" y="20527"/>
                    </a:cubicBezTo>
                    <a:cubicBezTo>
                      <a:pt x="20381" y="20354"/>
                      <a:pt x="21339" y="18025"/>
                      <a:pt x="21505" y="16899"/>
                    </a:cubicBezTo>
                    <a:cubicBezTo>
                      <a:pt x="21565" y="16494"/>
                      <a:pt x="21600" y="14969"/>
                      <a:pt x="21583" y="13508"/>
                    </a:cubicBezTo>
                    <a:cubicBezTo>
                      <a:pt x="21558" y="11362"/>
                      <a:pt x="21501" y="10612"/>
                      <a:pt x="21293" y="9598"/>
                    </a:cubicBezTo>
                    <a:cubicBezTo>
                      <a:pt x="20410" y="5307"/>
                      <a:pt x="19615" y="3381"/>
                      <a:pt x="17732" y="999"/>
                    </a:cubicBezTo>
                    <a:cubicBezTo>
                      <a:pt x="17219" y="350"/>
                      <a:pt x="16820" y="16"/>
                      <a:pt x="16623" y="1"/>
                    </a:cubicBezTo>
                    <a:close/>
                    <a:moveTo>
                      <a:pt x="15228" y="634"/>
                    </a:moveTo>
                    <a:cubicBezTo>
                      <a:pt x="15075" y="519"/>
                      <a:pt x="14681" y="803"/>
                      <a:pt x="13984" y="1517"/>
                    </a:cubicBezTo>
                    <a:cubicBezTo>
                      <a:pt x="13490" y="2024"/>
                      <a:pt x="12842" y="2659"/>
                      <a:pt x="12549" y="2925"/>
                    </a:cubicBezTo>
                    <a:cubicBezTo>
                      <a:pt x="12255" y="3191"/>
                      <a:pt x="11460" y="3917"/>
                      <a:pt x="10781" y="4544"/>
                    </a:cubicBezTo>
                    <a:cubicBezTo>
                      <a:pt x="10103" y="5171"/>
                      <a:pt x="9291" y="5917"/>
                      <a:pt x="8977" y="6201"/>
                    </a:cubicBezTo>
                    <a:cubicBezTo>
                      <a:pt x="8262" y="6849"/>
                      <a:pt x="7188" y="7961"/>
                      <a:pt x="6334" y="8939"/>
                    </a:cubicBezTo>
                    <a:cubicBezTo>
                      <a:pt x="5972" y="9354"/>
                      <a:pt x="4548" y="10613"/>
                      <a:pt x="3167" y="11742"/>
                    </a:cubicBezTo>
                    <a:cubicBezTo>
                      <a:pt x="635" y="13812"/>
                      <a:pt x="0" y="14438"/>
                      <a:pt x="0" y="14852"/>
                    </a:cubicBezTo>
                    <a:cubicBezTo>
                      <a:pt x="0" y="15575"/>
                      <a:pt x="553" y="15918"/>
                      <a:pt x="1705" y="15914"/>
                    </a:cubicBezTo>
                    <a:cubicBezTo>
                      <a:pt x="2085" y="15912"/>
                      <a:pt x="2465" y="15976"/>
                      <a:pt x="2545" y="16048"/>
                    </a:cubicBezTo>
                    <a:cubicBezTo>
                      <a:pt x="2704" y="16191"/>
                      <a:pt x="3137" y="16368"/>
                      <a:pt x="4245" y="16752"/>
                    </a:cubicBezTo>
                    <a:cubicBezTo>
                      <a:pt x="4640" y="16889"/>
                      <a:pt x="5257" y="17135"/>
                      <a:pt x="5619" y="17296"/>
                    </a:cubicBezTo>
                    <a:cubicBezTo>
                      <a:pt x="6928" y="17880"/>
                      <a:pt x="8323" y="18421"/>
                      <a:pt x="8967" y="18601"/>
                    </a:cubicBezTo>
                    <a:cubicBezTo>
                      <a:pt x="9329" y="18703"/>
                      <a:pt x="9839" y="18908"/>
                      <a:pt x="10102" y="19056"/>
                    </a:cubicBezTo>
                    <a:cubicBezTo>
                      <a:pt x="10568" y="19318"/>
                      <a:pt x="12072" y="19858"/>
                      <a:pt x="12912" y="20067"/>
                    </a:cubicBezTo>
                    <a:cubicBezTo>
                      <a:pt x="13142" y="20124"/>
                      <a:pt x="13735" y="20311"/>
                      <a:pt x="14228" y="20482"/>
                    </a:cubicBezTo>
                    <a:cubicBezTo>
                      <a:pt x="14721" y="20654"/>
                      <a:pt x="15475" y="20901"/>
                      <a:pt x="15902" y="21033"/>
                    </a:cubicBezTo>
                    <a:cubicBezTo>
                      <a:pt x="16330" y="21165"/>
                      <a:pt x="16840" y="21330"/>
                      <a:pt x="17037" y="21397"/>
                    </a:cubicBezTo>
                    <a:cubicBezTo>
                      <a:pt x="17585" y="21585"/>
                      <a:pt x="18468" y="21570"/>
                      <a:pt x="18629" y="21372"/>
                    </a:cubicBezTo>
                    <a:cubicBezTo>
                      <a:pt x="18817" y="21140"/>
                      <a:pt x="18809" y="20440"/>
                      <a:pt x="18618" y="20271"/>
                    </a:cubicBezTo>
                    <a:cubicBezTo>
                      <a:pt x="18536" y="20198"/>
                      <a:pt x="17851" y="19958"/>
                      <a:pt x="17094" y="19734"/>
                    </a:cubicBezTo>
                    <a:cubicBezTo>
                      <a:pt x="15579" y="19284"/>
                      <a:pt x="14059" y="18775"/>
                      <a:pt x="13689" y="18595"/>
                    </a:cubicBezTo>
                    <a:cubicBezTo>
                      <a:pt x="13558" y="18531"/>
                      <a:pt x="13101" y="18400"/>
                      <a:pt x="12673" y="18301"/>
                    </a:cubicBezTo>
                    <a:cubicBezTo>
                      <a:pt x="12246" y="18201"/>
                      <a:pt x="11409" y="17899"/>
                      <a:pt x="10818" y="17635"/>
                    </a:cubicBezTo>
                    <a:cubicBezTo>
                      <a:pt x="10226" y="17371"/>
                      <a:pt x="9463" y="17074"/>
                      <a:pt x="9117" y="16976"/>
                    </a:cubicBezTo>
                    <a:cubicBezTo>
                      <a:pt x="8772" y="16878"/>
                      <a:pt x="8043" y="16600"/>
                      <a:pt x="7500" y="16355"/>
                    </a:cubicBezTo>
                    <a:cubicBezTo>
                      <a:pt x="6588" y="15945"/>
                      <a:pt x="5987" y="15704"/>
                      <a:pt x="3784" y="14865"/>
                    </a:cubicBezTo>
                    <a:cubicBezTo>
                      <a:pt x="2414" y="14343"/>
                      <a:pt x="2416" y="14353"/>
                      <a:pt x="3836" y="13188"/>
                    </a:cubicBezTo>
                    <a:cubicBezTo>
                      <a:pt x="6294" y="11171"/>
                      <a:pt x="6563" y="10918"/>
                      <a:pt x="7785" y="9592"/>
                    </a:cubicBezTo>
                    <a:cubicBezTo>
                      <a:pt x="8467" y="8853"/>
                      <a:pt x="9404" y="7891"/>
                      <a:pt x="9864" y="7449"/>
                    </a:cubicBezTo>
                    <a:cubicBezTo>
                      <a:pt x="12477" y="4934"/>
                      <a:pt x="15301" y="1517"/>
                      <a:pt x="15301" y="877"/>
                    </a:cubicBezTo>
                    <a:cubicBezTo>
                      <a:pt x="15301" y="751"/>
                      <a:pt x="15280" y="672"/>
                      <a:pt x="15228" y="634"/>
                    </a:cubicBezTo>
                    <a:close/>
                  </a:path>
                </a:pathLst>
              </a:custGeom>
              <a:ln w="12700" cap="flat">
                <a:noFill/>
                <a:miter lim="400000"/>
              </a:ln>
              <a:effectLst/>
            </p:spPr>
          </p:pic>
        </p:grpSp>
      </p:grpSp>
      <p:grpSp>
        <p:nvGrpSpPr>
          <p:cNvPr id="329" name="Group"/>
          <p:cNvGrpSpPr/>
          <p:nvPr/>
        </p:nvGrpSpPr>
        <p:grpSpPr>
          <a:xfrm>
            <a:off x="0" y="9704065"/>
            <a:ext cx="18770204" cy="4000501"/>
            <a:chOff x="0" y="0"/>
            <a:chExt cx="18770203" cy="4000500"/>
          </a:xfrm>
        </p:grpSpPr>
        <p:sp>
          <p:nvSpPr>
            <p:cNvPr id="296" name="Rectangle"/>
            <p:cNvSpPr/>
            <p:nvPr/>
          </p:nvSpPr>
          <p:spPr>
            <a:xfrm>
              <a:off x="0" y="0"/>
              <a:ext cx="18770204" cy="4000500"/>
            </a:xfrm>
            <a:prstGeom prst="rect">
              <a:avLst/>
            </a:prstGeom>
            <a:solidFill>
              <a:srgbClr val="CCFCB9"/>
            </a:solidFill>
            <a:ln w="25400" cap="flat">
              <a:solidFill>
                <a:srgbClr val="000000"/>
              </a:solidFill>
              <a:prstDash val="solid"/>
              <a:miter lim="400000"/>
            </a:ln>
            <a:effectLst/>
          </p:spPr>
          <p:txBody>
            <a:bodyPr wrap="square" lIns="71437" tIns="71437" rIns="71437" bIns="71437" numCol="1" anchor="ctr">
              <a:noAutofit/>
            </a:bodyPr>
            <a:lstStyle/>
            <a:p>
              <a:pPr>
                <a:defRPr sz="5000">
                  <a:latin typeface="Helvetica Neue Light"/>
                  <a:ea typeface="Helvetica Neue Light"/>
                  <a:cs typeface="Helvetica Neue Light"/>
                  <a:sym typeface="Helvetica Neue Light"/>
                </a:defRPr>
              </a:pPr>
              <a:endParaRPr/>
            </a:p>
          </p:txBody>
        </p:sp>
        <p:pic>
          <p:nvPicPr>
            <p:cNvPr id="297" name="droppedImage.pdf" descr="droppedImage.pdf"/>
            <p:cNvPicPr>
              <a:picLocks noChangeAspect="1"/>
            </p:cNvPicPr>
            <p:nvPr/>
          </p:nvPicPr>
          <p:blipFill>
            <a:blip r:embed="rId15"/>
            <a:stretch>
              <a:fillRect/>
            </a:stretch>
          </p:blipFill>
          <p:spPr>
            <a:xfrm>
              <a:off x="928687" y="2500312"/>
              <a:ext cx="1250157" cy="517923"/>
            </a:xfrm>
            <a:prstGeom prst="rect">
              <a:avLst/>
            </a:prstGeom>
            <a:ln w="12700" cap="flat">
              <a:noFill/>
              <a:miter lim="400000"/>
            </a:ln>
            <a:effectLst/>
          </p:spPr>
        </p:pic>
        <p:pic>
          <p:nvPicPr>
            <p:cNvPr id="298" name="droppedImage.pdf" descr="droppedImage.pdf"/>
            <p:cNvPicPr>
              <a:picLocks noChangeAspect="1"/>
            </p:cNvPicPr>
            <p:nvPr/>
          </p:nvPicPr>
          <p:blipFill>
            <a:blip r:embed="rId16"/>
            <a:stretch>
              <a:fillRect/>
            </a:stretch>
          </p:blipFill>
          <p:spPr>
            <a:xfrm>
              <a:off x="1143000" y="1000125"/>
              <a:ext cx="803672" cy="553641"/>
            </a:xfrm>
            <a:prstGeom prst="rect">
              <a:avLst/>
            </a:prstGeom>
            <a:ln w="12700" cap="flat">
              <a:noFill/>
              <a:miter lim="400000"/>
            </a:ln>
            <a:effectLst/>
          </p:spPr>
        </p:pic>
        <p:sp>
          <p:nvSpPr>
            <p:cNvPr id="299" name="Line"/>
            <p:cNvSpPr/>
            <p:nvPr/>
          </p:nvSpPr>
          <p:spPr>
            <a:xfrm>
              <a:off x="2787325" y="2035969"/>
              <a:ext cx="14263982" cy="2"/>
            </a:xfrm>
            <a:prstGeom prst="line">
              <a:avLst/>
            </a:prstGeom>
            <a:noFill/>
            <a:ln w="25400" cap="flat">
              <a:solidFill>
                <a:srgbClr val="000000"/>
              </a:solidFill>
              <a:prstDash val="solid"/>
              <a:miter lim="400000"/>
            </a:ln>
            <a:effectLst/>
          </p:spPr>
          <p:txBody>
            <a:bodyPr wrap="square" lIns="0" tIns="0" rIns="0" bIns="0" numCol="1" anchor="t">
              <a:noAutofit/>
            </a:bodyPr>
            <a:lstStyle/>
            <a:p>
              <a:pPr algn="l" defTabSz="642937">
                <a:defRPr sz="1600"/>
              </a:pPr>
              <a:endParaRPr/>
            </a:p>
          </p:txBody>
        </p:sp>
        <p:sp>
          <p:nvSpPr>
            <p:cNvPr id="300" name="Line"/>
            <p:cNvSpPr/>
            <p:nvPr/>
          </p:nvSpPr>
          <p:spPr>
            <a:xfrm>
              <a:off x="16609218" y="1857374"/>
              <a:ext cx="1" cy="354915"/>
            </a:xfrm>
            <a:prstGeom prst="line">
              <a:avLst/>
            </a:prstGeom>
            <a:noFill/>
            <a:ln w="25400" cap="flat">
              <a:solidFill>
                <a:srgbClr val="000000"/>
              </a:solidFill>
              <a:prstDash val="solid"/>
              <a:miter lim="400000"/>
            </a:ln>
            <a:effectLst/>
          </p:spPr>
          <p:txBody>
            <a:bodyPr wrap="square" lIns="0" tIns="0" rIns="0" bIns="0" numCol="1" anchor="t">
              <a:noAutofit/>
            </a:bodyPr>
            <a:lstStyle/>
            <a:p>
              <a:pPr algn="l" defTabSz="642937">
                <a:defRPr sz="1600"/>
              </a:pPr>
              <a:endParaRPr/>
            </a:p>
          </p:txBody>
        </p:sp>
        <p:sp>
          <p:nvSpPr>
            <p:cNvPr id="301" name="Line"/>
            <p:cNvSpPr/>
            <p:nvPr/>
          </p:nvSpPr>
          <p:spPr>
            <a:xfrm>
              <a:off x="13876733" y="1857374"/>
              <a:ext cx="1" cy="354915"/>
            </a:xfrm>
            <a:prstGeom prst="line">
              <a:avLst/>
            </a:prstGeom>
            <a:noFill/>
            <a:ln w="25400" cap="flat">
              <a:solidFill>
                <a:srgbClr val="000000"/>
              </a:solidFill>
              <a:prstDash val="solid"/>
              <a:miter lim="400000"/>
            </a:ln>
            <a:effectLst/>
          </p:spPr>
          <p:txBody>
            <a:bodyPr wrap="square" lIns="0" tIns="0" rIns="0" bIns="0" numCol="1" anchor="t">
              <a:noAutofit/>
            </a:bodyPr>
            <a:lstStyle/>
            <a:p>
              <a:pPr algn="l" defTabSz="642937">
                <a:defRPr sz="1600"/>
              </a:pPr>
              <a:endParaRPr/>
            </a:p>
          </p:txBody>
        </p:sp>
        <p:sp>
          <p:nvSpPr>
            <p:cNvPr id="302" name="Line"/>
            <p:cNvSpPr/>
            <p:nvPr/>
          </p:nvSpPr>
          <p:spPr>
            <a:xfrm>
              <a:off x="3053953" y="1857374"/>
              <a:ext cx="1" cy="354915"/>
            </a:xfrm>
            <a:prstGeom prst="line">
              <a:avLst/>
            </a:prstGeom>
            <a:noFill/>
            <a:ln w="25400" cap="flat">
              <a:solidFill>
                <a:srgbClr val="000000"/>
              </a:solidFill>
              <a:prstDash val="solid"/>
              <a:miter lim="400000"/>
            </a:ln>
            <a:effectLst/>
          </p:spPr>
          <p:txBody>
            <a:bodyPr wrap="square" lIns="0" tIns="0" rIns="0" bIns="0" numCol="1" anchor="t">
              <a:noAutofit/>
            </a:bodyPr>
            <a:lstStyle/>
            <a:p>
              <a:pPr algn="l" defTabSz="642937">
                <a:defRPr sz="1600"/>
              </a:pPr>
              <a:endParaRPr/>
            </a:p>
          </p:txBody>
        </p:sp>
        <p:sp>
          <p:nvSpPr>
            <p:cNvPr id="303" name="M"/>
            <p:cNvSpPr txBox="1"/>
            <p:nvPr/>
          </p:nvSpPr>
          <p:spPr>
            <a:xfrm>
              <a:off x="16421513" y="1104703"/>
              <a:ext cx="381128" cy="50264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defRPr sz="2400">
                  <a:latin typeface="Helvetica Neue Bold Condensed"/>
                  <a:ea typeface="Helvetica Neue Bold Condensed"/>
                  <a:cs typeface="Helvetica Neue Bold Condensed"/>
                  <a:sym typeface="Helvetica Neue Bold Condensed"/>
                </a:defRPr>
              </a:lvl1pPr>
            </a:lstStyle>
            <a:p>
              <a:r>
                <a:t>M</a:t>
              </a:r>
            </a:p>
          </p:txBody>
        </p:sp>
        <p:sp>
          <p:nvSpPr>
            <p:cNvPr id="304" name="mM"/>
            <p:cNvSpPr txBox="1"/>
            <p:nvPr/>
          </p:nvSpPr>
          <p:spPr>
            <a:xfrm>
              <a:off x="13608843" y="1104703"/>
              <a:ext cx="612167" cy="50264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lgn="l">
                <a:defRPr sz="2400">
                  <a:latin typeface="Helvetica Neue Bold Condensed"/>
                  <a:ea typeface="Helvetica Neue Bold Condensed"/>
                  <a:cs typeface="Helvetica Neue Bold Condensed"/>
                  <a:sym typeface="Helvetica Neue Bold Condensed"/>
                </a:defRPr>
              </a:lvl1pPr>
            </a:lstStyle>
            <a:p>
              <a:r>
                <a:t>mM</a:t>
              </a:r>
            </a:p>
          </p:txBody>
        </p:sp>
        <p:sp>
          <p:nvSpPr>
            <p:cNvPr id="305" name="μM"/>
            <p:cNvSpPr txBox="1"/>
            <p:nvPr/>
          </p:nvSpPr>
          <p:spPr>
            <a:xfrm>
              <a:off x="10894218" y="1096168"/>
              <a:ext cx="567015" cy="511176"/>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lgn="l">
                <a:defRPr sz="2400">
                  <a:latin typeface="Helvetica Neue Bold Condensed"/>
                  <a:ea typeface="Helvetica Neue Bold Condensed"/>
                  <a:cs typeface="Helvetica Neue Bold Condensed"/>
                  <a:sym typeface="Helvetica Neue Bold Condensed"/>
                </a:defRPr>
              </a:lvl1pPr>
            </a:lstStyle>
            <a:p>
              <a:r>
                <a:t>μM</a:t>
              </a:r>
            </a:p>
          </p:txBody>
        </p:sp>
        <p:sp>
          <p:nvSpPr>
            <p:cNvPr id="306" name="nM"/>
            <p:cNvSpPr txBox="1"/>
            <p:nvPr/>
          </p:nvSpPr>
          <p:spPr>
            <a:xfrm>
              <a:off x="8179593" y="1104703"/>
              <a:ext cx="533528" cy="50264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lgn="l">
                <a:defRPr sz="2400">
                  <a:latin typeface="Helvetica Neue Bold Condensed"/>
                  <a:ea typeface="Helvetica Neue Bold Condensed"/>
                  <a:cs typeface="Helvetica Neue Bold Condensed"/>
                  <a:sym typeface="Helvetica Neue Bold Condensed"/>
                </a:defRPr>
              </a:lvl1pPr>
            </a:lstStyle>
            <a:p>
              <a:r>
                <a:t>nM</a:t>
              </a:r>
            </a:p>
          </p:txBody>
        </p:sp>
        <p:sp>
          <p:nvSpPr>
            <p:cNvPr id="307" name="pM"/>
            <p:cNvSpPr txBox="1"/>
            <p:nvPr/>
          </p:nvSpPr>
          <p:spPr>
            <a:xfrm>
              <a:off x="5464968" y="1104703"/>
              <a:ext cx="533528" cy="50264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lgn="l">
                <a:defRPr sz="2400">
                  <a:latin typeface="Helvetica Neue Bold Condensed"/>
                  <a:ea typeface="Helvetica Neue Bold Condensed"/>
                  <a:cs typeface="Helvetica Neue Bold Condensed"/>
                  <a:sym typeface="Helvetica Neue Bold Condensed"/>
                </a:defRPr>
              </a:lvl1pPr>
            </a:lstStyle>
            <a:p>
              <a:r>
                <a:t>pM</a:t>
              </a:r>
            </a:p>
          </p:txBody>
        </p:sp>
        <p:sp>
          <p:nvSpPr>
            <p:cNvPr id="308" name="fM"/>
            <p:cNvSpPr txBox="1"/>
            <p:nvPr/>
          </p:nvSpPr>
          <p:spPr>
            <a:xfrm>
              <a:off x="2803921" y="1104703"/>
              <a:ext cx="471349" cy="50264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lgn="l">
                <a:defRPr sz="2400">
                  <a:latin typeface="Helvetica Neue Bold Condensed"/>
                  <a:ea typeface="Helvetica Neue Bold Condensed"/>
                  <a:cs typeface="Helvetica Neue Bold Condensed"/>
                  <a:sym typeface="Helvetica Neue Bold Condensed"/>
                </a:defRPr>
              </a:lvl1pPr>
            </a:lstStyle>
            <a:p>
              <a:r>
                <a:t>fM</a:t>
              </a:r>
            </a:p>
          </p:txBody>
        </p:sp>
        <p:sp>
          <p:nvSpPr>
            <p:cNvPr id="309" name="Line"/>
            <p:cNvSpPr/>
            <p:nvPr/>
          </p:nvSpPr>
          <p:spPr>
            <a:xfrm>
              <a:off x="5750718" y="1857374"/>
              <a:ext cx="1" cy="354915"/>
            </a:xfrm>
            <a:prstGeom prst="line">
              <a:avLst/>
            </a:prstGeom>
            <a:noFill/>
            <a:ln w="25400" cap="flat">
              <a:solidFill>
                <a:srgbClr val="000000"/>
              </a:solidFill>
              <a:prstDash val="solid"/>
              <a:miter lim="400000"/>
            </a:ln>
            <a:effectLst/>
          </p:spPr>
          <p:txBody>
            <a:bodyPr wrap="square" lIns="0" tIns="0" rIns="0" bIns="0" numCol="1" anchor="t">
              <a:noAutofit/>
            </a:bodyPr>
            <a:lstStyle/>
            <a:p>
              <a:pPr algn="l" defTabSz="642937">
                <a:defRPr sz="1600"/>
              </a:pPr>
              <a:endParaRPr/>
            </a:p>
          </p:txBody>
        </p:sp>
        <p:sp>
          <p:nvSpPr>
            <p:cNvPr id="310" name="Line"/>
            <p:cNvSpPr/>
            <p:nvPr/>
          </p:nvSpPr>
          <p:spPr>
            <a:xfrm>
              <a:off x="8447484" y="1857374"/>
              <a:ext cx="1" cy="354915"/>
            </a:xfrm>
            <a:prstGeom prst="line">
              <a:avLst/>
            </a:prstGeom>
            <a:noFill/>
            <a:ln w="25400" cap="flat">
              <a:solidFill>
                <a:srgbClr val="000000"/>
              </a:solidFill>
              <a:prstDash val="solid"/>
              <a:miter lim="400000"/>
            </a:ln>
            <a:effectLst/>
          </p:spPr>
          <p:txBody>
            <a:bodyPr wrap="square" lIns="0" tIns="0" rIns="0" bIns="0" numCol="1" anchor="t">
              <a:noAutofit/>
            </a:bodyPr>
            <a:lstStyle/>
            <a:p>
              <a:pPr algn="l" defTabSz="642937">
                <a:defRPr sz="1600"/>
              </a:pPr>
              <a:endParaRPr/>
            </a:p>
          </p:txBody>
        </p:sp>
        <p:sp>
          <p:nvSpPr>
            <p:cNvPr id="311" name="Line"/>
            <p:cNvSpPr/>
            <p:nvPr/>
          </p:nvSpPr>
          <p:spPr>
            <a:xfrm>
              <a:off x="11144250" y="1857374"/>
              <a:ext cx="1" cy="354915"/>
            </a:xfrm>
            <a:prstGeom prst="line">
              <a:avLst/>
            </a:prstGeom>
            <a:noFill/>
            <a:ln w="25400" cap="flat">
              <a:solidFill>
                <a:srgbClr val="000000"/>
              </a:solidFill>
              <a:prstDash val="solid"/>
              <a:miter lim="400000"/>
            </a:ln>
            <a:effectLst/>
          </p:spPr>
          <p:txBody>
            <a:bodyPr wrap="square" lIns="0" tIns="0" rIns="0" bIns="0" numCol="1" anchor="t">
              <a:noAutofit/>
            </a:bodyPr>
            <a:lstStyle/>
            <a:p>
              <a:pPr algn="l" defTabSz="642937">
                <a:defRPr sz="1600"/>
              </a:pPr>
              <a:endParaRPr/>
            </a:p>
          </p:txBody>
        </p:sp>
        <p:sp>
          <p:nvSpPr>
            <p:cNvPr id="312" name="0"/>
            <p:cNvSpPr txBox="1"/>
            <p:nvPr/>
          </p:nvSpPr>
          <p:spPr>
            <a:xfrm>
              <a:off x="16461137" y="2372718"/>
              <a:ext cx="301880" cy="50264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defRPr sz="2400">
                  <a:latin typeface="Helvetica Neue Bold Condensed"/>
                  <a:ea typeface="Helvetica Neue Bold Condensed"/>
                  <a:cs typeface="Helvetica Neue Bold Condensed"/>
                  <a:sym typeface="Helvetica Neue Bold Condensed"/>
                </a:defRPr>
              </a:lvl1pPr>
            </a:lstStyle>
            <a:p>
              <a:r>
                <a:t>0</a:t>
              </a:r>
            </a:p>
          </p:txBody>
        </p:sp>
        <p:sp>
          <p:nvSpPr>
            <p:cNvPr id="313" name="-4.1"/>
            <p:cNvSpPr txBox="1"/>
            <p:nvPr/>
          </p:nvSpPr>
          <p:spPr>
            <a:xfrm>
              <a:off x="13529319" y="2372718"/>
              <a:ext cx="634112" cy="50264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defRPr sz="2400">
                  <a:latin typeface="Helvetica Neue Bold Condensed"/>
                  <a:ea typeface="Helvetica Neue Bold Condensed"/>
                  <a:cs typeface="Helvetica Neue Bold Condensed"/>
                  <a:sym typeface="Helvetica Neue Bold Condensed"/>
                </a:defRPr>
              </a:lvl1pPr>
            </a:lstStyle>
            <a:p>
              <a:r>
                <a:t>-4.1</a:t>
              </a:r>
            </a:p>
          </p:txBody>
        </p:sp>
        <p:sp>
          <p:nvSpPr>
            <p:cNvPr id="314" name="-8.3"/>
            <p:cNvSpPr txBox="1"/>
            <p:nvPr/>
          </p:nvSpPr>
          <p:spPr>
            <a:xfrm>
              <a:off x="10832553" y="2372718"/>
              <a:ext cx="634112" cy="50264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defRPr sz="2400">
                  <a:latin typeface="Helvetica Neue Bold Condensed"/>
                  <a:ea typeface="Helvetica Neue Bold Condensed"/>
                  <a:cs typeface="Helvetica Neue Bold Condensed"/>
                  <a:sym typeface="Helvetica Neue Bold Condensed"/>
                </a:defRPr>
              </a:lvl1pPr>
            </a:lstStyle>
            <a:p>
              <a:r>
                <a:t>-8.3</a:t>
              </a:r>
            </a:p>
          </p:txBody>
        </p:sp>
        <p:sp>
          <p:nvSpPr>
            <p:cNvPr id="315" name="-12.4"/>
            <p:cNvSpPr txBox="1"/>
            <p:nvPr/>
          </p:nvSpPr>
          <p:spPr>
            <a:xfrm>
              <a:off x="8032629" y="2372718"/>
              <a:ext cx="780416" cy="50264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defRPr sz="2400">
                  <a:latin typeface="Helvetica Neue Bold Condensed"/>
                  <a:ea typeface="Helvetica Neue Bold Condensed"/>
                  <a:cs typeface="Helvetica Neue Bold Condensed"/>
                  <a:sym typeface="Helvetica Neue Bold Condensed"/>
                </a:defRPr>
              </a:lvl1pPr>
            </a:lstStyle>
            <a:p>
              <a:r>
                <a:t>-12.4</a:t>
              </a:r>
            </a:p>
          </p:txBody>
        </p:sp>
        <p:sp>
          <p:nvSpPr>
            <p:cNvPr id="316" name="-16.6"/>
            <p:cNvSpPr txBox="1"/>
            <p:nvPr/>
          </p:nvSpPr>
          <p:spPr>
            <a:xfrm>
              <a:off x="5336580" y="2372718"/>
              <a:ext cx="780416" cy="50264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defRPr sz="2400">
                  <a:latin typeface="Helvetica Neue Bold Condensed"/>
                  <a:ea typeface="Helvetica Neue Bold Condensed"/>
                  <a:cs typeface="Helvetica Neue Bold Condensed"/>
                  <a:sym typeface="Helvetica Neue Bold Condensed"/>
                </a:defRPr>
              </a:lvl1pPr>
            </a:lstStyle>
            <a:p>
              <a:r>
                <a:t>-16.6</a:t>
              </a:r>
            </a:p>
          </p:txBody>
        </p:sp>
        <p:sp>
          <p:nvSpPr>
            <p:cNvPr id="317" name="-20.8"/>
            <p:cNvSpPr txBox="1"/>
            <p:nvPr/>
          </p:nvSpPr>
          <p:spPr>
            <a:xfrm>
              <a:off x="2642744" y="2372718"/>
              <a:ext cx="780416" cy="50264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defRPr sz="2400">
                  <a:latin typeface="Helvetica Neue Bold Condensed"/>
                  <a:ea typeface="Helvetica Neue Bold Condensed"/>
                  <a:cs typeface="Helvetica Neue Bold Condensed"/>
                  <a:sym typeface="Helvetica Neue Bold Condensed"/>
                </a:defRPr>
              </a:lvl1pPr>
            </a:lstStyle>
            <a:p>
              <a:r>
                <a:t>-20.8</a:t>
              </a:r>
            </a:p>
          </p:txBody>
        </p:sp>
        <p:sp>
          <p:nvSpPr>
            <p:cNvPr id="318" name="kcal/mol"/>
            <p:cNvSpPr txBox="1"/>
            <p:nvPr/>
          </p:nvSpPr>
          <p:spPr>
            <a:xfrm>
              <a:off x="17085152" y="2372718"/>
              <a:ext cx="1220547" cy="50264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defRPr sz="2400">
                  <a:latin typeface="Helvetica Neue Bold Condensed"/>
                  <a:ea typeface="Helvetica Neue Bold Condensed"/>
                  <a:cs typeface="Helvetica Neue Bold Condensed"/>
                  <a:sym typeface="Helvetica Neue Bold Condensed"/>
                </a:defRPr>
              </a:lvl1pPr>
            </a:lstStyle>
            <a:p>
              <a:r>
                <a:t>kcal/mol</a:t>
              </a:r>
            </a:p>
          </p:txBody>
        </p:sp>
        <p:sp>
          <p:nvSpPr>
            <p:cNvPr id="319" name="weak…"/>
            <p:cNvSpPr txBox="1"/>
            <p:nvPr/>
          </p:nvSpPr>
          <p:spPr>
            <a:xfrm>
              <a:off x="13065217" y="164903"/>
              <a:ext cx="1733831" cy="87094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p>
              <a:pPr>
                <a:defRPr sz="2400">
                  <a:solidFill>
                    <a:srgbClr val="228B2D"/>
                  </a:solidFill>
                  <a:latin typeface="Helvetica Neue Bold Condensed"/>
                  <a:ea typeface="Helvetica Neue Bold Condensed"/>
                  <a:cs typeface="Helvetica Neue Bold Condensed"/>
                  <a:sym typeface="Helvetica Neue Bold Condensed"/>
                </a:defRPr>
              </a:pPr>
              <a:r>
                <a:t>weak</a:t>
              </a:r>
            </a:p>
            <a:p>
              <a:pPr>
                <a:defRPr sz="2400">
                  <a:solidFill>
                    <a:srgbClr val="228B2D"/>
                  </a:solidFill>
                  <a:latin typeface="Helvetica Neue Bold Condensed"/>
                  <a:ea typeface="Helvetica Neue Bold Condensed"/>
                  <a:cs typeface="Helvetica Neue Bold Condensed"/>
                  <a:sym typeface="Helvetica Neue Bold Condensed"/>
                </a:defRPr>
              </a:pPr>
              <a:r>
                <a:t>biomolecular</a:t>
              </a:r>
            </a:p>
          </p:txBody>
        </p:sp>
        <p:sp>
          <p:nvSpPr>
            <p:cNvPr id="320" name="lead compounds"/>
            <p:cNvSpPr txBox="1"/>
            <p:nvPr/>
          </p:nvSpPr>
          <p:spPr>
            <a:xfrm>
              <a:off x="10001250" y="336749"/>
              <a:ext cx="2151711" cy="50264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lgn="l">
                <a:defRPr sz="2400">
                  <a:solidFill>
                    <a:srgbClr val="228B2D"/>
                  </a:solidFill>
                  <a:latin typeface="Helvetica Neue Bold Condensed"/>
                  <a:ea typeface="Helvetica Neue Bold Condensed"/>
                  <a:cs typeface="Helvetica Neue Bold Condensed"/>
                  <a:sym typeface="Helvetica Neue Bold Condensed"/>
                </a:defRPr>
              </a:lvl1pPr>
            </a:lstStyle>
            <a:p>
              <a:r>
                <a:t>lead compounds</a:t>
              </a:r>
            </a:p>
          </p:txBody>
        </p:sp>
        <p:sp>
          <p:nvSpPr>
            <p:cNvPr id="321" name="good drugs"/>
            <p:cNvSpPr txBox="1"/>
            <p:nvPr/>
          </p:nvSpPr>
          <p:spPr>
            <a:xfrm>
              <a:off x="7643812" y="336749"/>
              <a:ext cx="1520166" cy="50264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lgn="l">
                <a:defRPr sz="2400">
                  <a:solidFill>
                    <a:srgbClr val="228B2D"/>
                  </a:solidFill>
                  <a:latin typeface="Helvetica Neue Bold Condensed"/>
                  <a:ea typeface="Helvetica Neue Bold Condensed"/>
                  <a:cs typeface="Helvetica Neue Bold Condensed"/>
                  <a:sym typeface="Helvetica Neue Bold Condensed"/>
                </a:defRPr>
              </a:lvl1pPr>
            </a:lstStyle>
            <a:p>
              <a:r>
                <a:t>good drugs</a:t>
              </a:r>
            </a:p>
          </p:txBody>
        </p:sp>
        <p:sp>
          <p:nvSpPr>
            <p:cNvPr id="322" name="highest biological…"/>
            <p:cNvSpPr txBox="1"/>
            <p:nvPr/>
          </p:nvSpPr>
          <p:spPr>
            <a:xfrm>
              <a:off x="4607718" y="236340"/>
              <a:ext cx="2303502" cy="87094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p>
              <a:pPr algn="l">
                <a:defRPr sz="2400">
                  <a:solidFill>
                    <a:srgbClr val="228B2D"/>
                  </a:solidFill>
                  <a:latin typeface="Helvetica Neue Bold Condensed"/>
                  <a:ea typeface="Helvetica Neue Bold Condensed"/>
                  <a:cs typeface="Helvetica Neue Bold Condensed"/>
                  <a:sym typeface="Helvetica Neue Bold Condensed"/>
                </a:defRPr>
              </a:pPr>
              <a:r>
                <a:t>highest biological</a:t>
              </a:r>
            </a:p>
            <a:p>
              <a:pPr>
                <a:defRPr sz="2400">
                  <a:solidFill>
                    <a:srgbClr val="228B2D"/>
                  </a:solidFill>
                  <a:latin typeface="Helvetica Neue Bold Condensed"/>
                  <a:ea typeface="Helvetica Neue Bold Condensed"/>
                  <a:cs typeface="Helvetica Neue Bold Condensed"/>
                  <a:sym typeface="Helvetica Neue Bold Condensed"/>
                </a:defRPr>
              </a:pPr>
              <a:r>
                <a:t>affinity</a:t>
              </a:r>
            </a:p>
          </p:txBody>
        </p:sp>
        <p:sp>
          <p:nvSpPr>
            <p:cNvPr id="323" name="biotin:streptavidin"/>
            <p:cNvSpPr txBox="1"/>
            <p:nvPr/>
          </p:nvSpPr>
          <p:spPr>
            <a:xfrm>
              <a:off x="4572000" y="3015656"/>
              <a:ext cx="2360194" cy="50264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lgn="l">
                <a:defRPr sz="2400">
                  <a:solidFill>
                    <a:srgbClr val="FB2C00"/>
                  </a:solidFill>
                  <a:latin typeface="Helvetica Neue Bold Condensed"/>
                  <a:ea typeface="Helvetica Neue Bold Condensed"/>
                  <a:cs typeface="Helvetica Neue Bold Condensed"/>
                  <a:sym typeface="Helvetica Neue Bold Condensed"/>
                </a:defRPr>
              </a:lvl1pPr>
            </a:lstStyle>
            <a:p>
              <a:r>
                <a:t>biotin:streptavidin</a:t>
              </a:r>
            </a:p>
          </p:txBody>
        </p:sp>
        <p:sp>
          <p:nvSpPr>
            <p:cNvPr id="324" name="lipitor:HMG-CoA…"/>
            <p:cNvSpPr txBox="1"/>
            <p:nvPr/>
          </p:nvSpPr>
          <p:spPr>
            <a:xfrm>
              <a:off x="7428350" y="2843809"/>
              <a:ext cx="2095323" cy="87094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p>
              <a:pPr>
                <a:defRPr sz="2400">
                  <a:solidFill>
                    <a:srgbClr val="FB2C00"/>
                  </a:solidFill>
                  <a:latin typeface="Helvetica Neue Bold Condensed"/>
                  <a:ea typeface="Helvetica Neue Bold Condensed"/>
                  <a:cs typeface="Helvetica Neue Bold Condensed"/>
                  <a:sym typeface="Helvetica Neue Bold Condensed"/>
                </a:defRPr>
              </a:pPr>
              <a:r>
                <a:t>lipitor:HMG-CoA</a:t>
              </a:r>
            </a:p>
            <a:p>
              <a:pPr>
                <a:defRPr sz="2400">
                  <a:solidFill>
                    <a:srgbClr val="FB2C00"/>
                  </a:solidFill>
                  <a:latin typeface="Helvetica Neue Bold Condensed"/>
                  <a:ea typeface="Helvetica Neue Bold Condensed"/>
                  <a:cs typeface="Helvetica Neue Bold Condensed"/>
                  <a:sym typeface="Helvetica Neue Bold Condensed"/>
                </a:defRPr>
              </a:pPr>
              <a:r>
                <a:t>reductase</a:t>
              </a:r>
            </a:p>
          </p:txBody>
        </p:sp>
        <p:sp>
          <p:nvSpPr>
            <p:cNvPr id="325" name="ATP:kinase"/>
            <p:cNvSpPr txBox="1"/>
            <p:nvPr/>
          </p:nvSpPr>
          <p:spPr>
            <a:xfrm>
              <a:off x="13182843" y="3069234"/>
              <a:ext cx="1486942" cy="50264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defRPr sz="2400">
                  <a:solidFill>
                    <a:srgbClr val="FB2C00"/>
                  </a:solidFill>
                  <a:latin typeface="Helvetica Neue Bold Condensed"/>
                  <a:ea typeface="Helvetica Neue Bold Condensed"/>
                  <a:cs typeface="Helvetica Neue Bold Condensed"/>
                  <a:sym typeface="Helvetica Neue Bold Condensed"/>
                </a:defRPr>
              </a:lvl1pPr>
            </a:lstStyle>
            <a:p>
              <a:r>
                <a:t>ATP:kinase</a:t>
              </a:r>
            </a:p>
          </p:txBody>
        </p:sp>
        <p:sp>
          <p:nvSpPr>
            <p:cNvPr id="326" name="WEAK"/>
            <p:cNvSpPr txBox="1"/>
            <p:nvPr/>
          </p:nvSpPr>
          <p:spPr>
            <a:xfrm>
              <a:off x="17323593" y="1643875"/>
              <a:ext cx="1281965" cy="71356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lvl1pPr algn="l">
                <a:defRPr sz="3800">
                  <a:latin typeface="Helvetica Neue Bold Condensed"/>
                  <a:ea typeface="Helvetica Neue Bold Condensed"/>
                  <a:cs typeface="Helvetica Neue Bold Condensed"/>
                  <a:sym typeface="Helvetica Neue Bold Condensed"/>
                </a:defRPr>
              </a:lvl1pPr>
            </a:lstStyle>
            <a:p>
              <a:r>
                <a:t>WEAK</a:t>
              </a:r>
            </a:p>
          </p:txBody>
        </p:sp>
        <p:sp>
          <p:nvSpPr>
            <p:cNvPr id="327" name="STRONG"/>
            <p:cNvSpPr txBox="1"/>
            <p:nvPr/>
          </p:nvSpPr>
          <p:spPr>
            <a:xfrm>
              <a:off x="503080" y="1679593"/>
              <a:ext cx="2089548" cy="713564"/>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b">
              <a:spAutoFit/>
            </a:bodyPr>
            <a:lstStyle>
              <a:lvl1pPr>
                <a:defRPr sz="3800">
                  <a:latin typeface="Helvetica Neue Bold Condensed"/>
                  <a:ea typeface="Helvetica Neue Bold Condensed"/>
                  <a:cs typeface="Helvetica Neue Bold Condensed"/>
                  <a:sym typeface="Helvetica Neue Bold Condensed"/>
                </a:defRPr>
              </a:lvl1pPr>
            </a:lstStyle>
            <a:p>
              <a:r>
                <a:t>STRONG</a:t>
              </a:r>
            </a:p>
          </p:txBody>
        </p:sp>
        <p:sp>
          <p:nvSpPr>
            <p:cNvPr id="328" name="benzamidine:…"/>
            <p:cNvSpPr txBox="1"/>
            <p:nvPr/>
          </p:nvSpPr>
          <p:spPr>
            <a:xfrm>
              <a:off x="10221123" y="2843809"/>
              <a:ext cx="1875258" cy="870942"/>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b">
              <a:spAutoFit/>
            </a:bodyPr>
            <a:lstStyle/>
            <a:p>
              <a:pPr>
                <a:defRPr sz="2400">
                  <a:solidFill>
                    <a:srgbClr val="FB2C00"/>
                  </a:solidFill>
                  <a:latin typeface="Helvetica Neue Bold Condensed"/>
                  <a:ea typeface="Helvetica Neue Bold Condensed"/>
                  <a:cs typeface="Helvetica Neue Bold Condensed"/>
                  <a:sym typeface="Helvetica Neue Bold Condensed"/>
                </a:defRPr>
              </a:pPr>
              <a:r>
                <a:t>benzamidine:</a:t>
              </a:r>
            </a:p>
            <a:p>
              <a:pPr>
                <a:defRPr sz="2400">
                  <a:solidFill>
                    <a:srgbClr val="FB2C00"/>
                  </a:solidFill>
                  <a:latin typeface="Helvetica Neue Bold Condensed"/>
                  <a:ea typeface="Helvetica Neue Bold Condensed"/>
                  <a:cs typeface="Helvetica Neue Bold Condensed"/>
                  <a:sym typeface="Helvetica Neue Bold Condensed"/>
                </a:defRPr>
              </a:pPr>
              <a:r>
                <a:t>bovine trypsin</a:t>
              </a:r>
            </a:p>
          </p:txBody>
        </p:sp>
      </p:grpSp>
      <p:sp>
        <p:nvSpPr>
          <p:cNvPr id="330" name="Slide Number"/>
          <p:cNvSpPr txBox="1">
            <a:spLocks noGrp="1"/>
          </p:cNvSpPr>
          <p:nvPr>
            <p:ph type="sldNum" sz="quarter" idx="4294967295"/>
          </p:nvPr>
        </p:nvSpPr>
        <p:spPr>
          <a:xfrm>
            <a:off x="20329146" y="12930187"/>
            <a:ext cx="409779" cy="42834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spAutoFit/>
          </a:bodyPr>
          <a:lstStyle>
            <a:lvl1pPr algn="r">
              <a:defRPr sz="1800" b="1">
                <a:latin typeface="Helvetica Neue"/>
                <a:ea typeface="Helvetica Neue"/>
                <a:cs typeface="Helvetica Neue"/>
                <a:sym typeface="Helvetica Neue"/>
              </a:defRPr>
            </a:lvl1pPr>
          </a:lstStyle>
          <a:p>
            <a:fld id="{86CB4B4D-7CA3-9044-876B-883B54F8677D}" type="slidenum">
              <a:rPr/>
              <a:t>17</a:t>
            </a:fld>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411BE029-0F55-CFB2-CD30-A2DAFECCA0BA}"/>
                  </a:ext>
                </a:extLst>
              </p:cNvPr>
              <p:cNvSpPr txBox="1"/>
              <p:nvPr/>
            </p:nvSpPr>
            <p:spPr>
              <a:xfrm>
                <a:off x="18972014" y="11254763"/>
                <a:ext cx="5249321" cy="882933"/>
              </a:xfrm>
              <a:prstGeom prst="rect">
                <a:avLst/>
              </a:prstGeom>
              <a:noFill/>
              <a:ln w="12700" cap="flat">
                <a:noFill/>
                <a:miter lim="400000"/>
              </a:ln>
              <a:effectLst/>
              <a:sp3d/>
            </p:spPr>
            <p:style>
              <a:lnRef idx="0">
                <a:scrgbClr r="0" g="0" b="0"/>
              </a:lnRef>
              <a:fillRef idx="0">
                <a:scrgbClr r="0" g="0" b="0"/>
              </a:fillRef>
              <a:effectRef idx="0">
                <a:scrgbClr r="0" g="0" b="0"/>
              </a:effectRef>
              <a:fontRef idx="none"/>
            </p:style>
            <p:txBody>
              <a:bodyPr rot="0" spcFirstLastPara="1" vertOverflow="overflow" horzOverflow="overflow" vert="horz" wrap="none" lIns="71437" tIns="71437" rIns="71437" bIns="71437" numCol="1" spcCol="38100" rtlCol="0" anchor="ctr">
                <a:spAutoFit/>
              </a:bodyPr>
              <a:lstStyle/>
              <a:p>
                <a:pPr marL="0" marR="0" indent="0" algn="ctr" defTabSz="821531"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err="1">
                    <a:ln>
                      <a:noFill/>
                    </a:ln>
                    <a:solidFill>
                      <a:srgbClr val="000000"/>
                    </a:solidFill>
                    <a:effectLst/>
                    <a:uFillTx/>
                    <a:latin typeface="+mj-lt"/>
                    <a:ea typeface="+mj-ea"/>
                    <a:cs typeface="+mj-cs"/>
                    <a:sym typeface="Helvetica"/>
                  </a:rPr>
                  <a:t>K</a:t>
                </a:r>
                <a:r>
                  <a:rPr kumimoji="0" lang="en-US" sz="2400" b="0" i="0" u="none" strike="noStrike" cap="none" spc="0" normalizeH="0" baseline="-25000" dirty="0" err="1">
                    <a:ln>
                      <a:noFill/>
                    </a:ln>
                    <a:solidFill>
                      <a:srgbClr val="000000"/>
                    </a:solidFill>
                    <a:effectLst/>
                    <a:uFillTx/>
                    <a:latin typeface="+mj-lt"/>
                    <a:ea typeface="+mj-ea"/>
                    <a:cs typeface="+mj-cs"/>
                    <a:sym typeface="Helvetica"/>
                  </a:rPr>
                  <a:t>d</a:t>
                </a:r>
                <a:r>
                  <a:rPr kumimoji="0" lang="en-US" sz="2400" b="0" i="0" u="none" strike="noStrike" cap="none" spc="0" normalizeH="0" baseline="0" dirty="0">
                    <a:ln>
                      <a:noFill/>
                    </a:ln>
                    <a:solidFill>
                      <a:srgbClr val="000000"/>
                    </a:solidFill>
                    <a:effectLst/>
                    <a:uFillTx/>
                    <a:latin typeface="+mj-lt"/>
                    <a:ea typeface="+mj-ea"/>
                    <a:cs typeface="+mj-cs"/>
                    <a:sym typeface="Helvetica"/>
                  </a:rPr>
                  <a:t> is the reciprocal of K</a:t>
                </a:r>
                <a:r>
                  <a:rPr kumimoji="0" lang="en-US" sz="2400" b="0" i="0" u="none" strike="noStrike" cap="none" spc="0" normalizeH="0" baseline="-25000" dirty="0">
                    <a:ln>
                      <a:noFill/>
                    </a:ln>
                    <a:solidFill>
                      <a:srgbClr val="000000"/>
                    </a:solidFill>
                    <a:effectLst/>
                    <a:uFillTx/>
                    <a:latin typeface="+mj-lt"/>
                    <a:ea typeface="+mj-ea"/>
                    <a:cs typeface="+mj-cs"/>
                    <a:sym typeface="Helvetica"/>
                  </a:rPr>
                  <a:t>a</a:t>
                </a:r>
              </a:p>
              <a:p>
                <a:pPr marL="0" marR="0" indent="0" algn="ctr" defTabSz="821531"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000000"/>
                    </a:solidFill>
                    <a:effectLst/>
                    <a:uFillTx/>
                    <a:latin typeface="+mj-lt"/>
                    <a:ea typeface="+mj-ea"/>
                    <a:cs typeface="+mj-cs"/>
                    <a:sym typeface="Helvetica"/>
                  </a:rPr>
                  <a:t>More negative </a:t>
                </a:r>
                <a14:m>
                  <m:oMath xmlns:m="http://schemas.openxmlformats.org/officeDocument/2006/math">
                    <m:r>
                      <m:rPr>
                        <m:sty m:val="p"/>
                      </m:rPr>
                      <a:rPr kumimoji="0" lang="en-US" sz="2400" b="0" i="0" u="none" strike="noStrike" cap="none" spc="0" normalizeH="0" baseline="0" smtClean="0">
                        <a:ln>
                          <a:noFill/>
                        </a:ln>
                        <a:solidFill>
                          <a:srgbClr val="000000"/>
                        </a:solidFill>
                        <a:effectLst/>
                        <a:uFillTx/>
                        <a:latin typeface="Cambria Math" panose="02040503050406030204" pitchFamily="18" charset="0"/>
                        <a:ea typeface="+mj-ea"/>
                        <a:cs typeface="+mj-cs"/>
                        <a:sym typeface="Helvetica"/>
                      </a:rPr>
                      <m:t>Δ</m:t>
                    </m:r>
                    <m:sSup>
                      <m:sSupPr>
                        <m:ctrlPr>
                          <a:rPr kumimoji="0" lang="en-US" sz="2400" b="0" i="1" u="none" strike="noStrike" cap="none" spc="0" normalizeH="0" baseline="0" smtClean="0">
                            <a:ln>
                              <a:noFill/>
                            </a:ln>
                            <a:solidFill>
                              <a:srgbClr val="000000"/>
                            </a:solidFill>
                            <a:effectLst/>
                            <a:uFillTx/>
                            <a:latin typeface="Cambria Math" panose="02040503050406030204" pitchFamily="18" charset="0"/>
                            <a:ea typeface="+mj-ea"/>
                            <a:cs typeface="+mj-cs"/>
                            <a:sym typeface="Helvetica"/>
                          </a:rPr>
                        </m:ctrlPr>
                      </m:sSupPr>
                      <m:e>
                        <m:r>
                          <a:rPr kumimoji="0" lang="en-US" sz="2400" b="0" i="1" u="none" strike="noStrike" cap="none" spc="0" normalizeH="0" baseline="0" smtClean="0">
                            <a:ln>
                              <a:noFill/>
                            </a:ln>
                            <a:solidFill>
                              <a:srgbClr val="000000"/>
                            </a:solidFill>
                            <a:effectLst/>
                            <a:uFillTx/>
                            <a:latin typeface="Cambria Math" panose="02040503050406030204" pitchFamily="18" charset="0"/>
                            <a:ea typeface="+mj-ea"/>
                            <a:cs typeface="+mj-cs"/>
                            <a:sym typeface="Helvetica"/>
                          </a:rPr>
                          <m:t>𝐺</m:t>
                        </m:r>
                      </m:e>
                      <m:sup>
                        <m:r>
                          <a:rPr kumimoji="0" lang="en-US" sz="2400" b="0" i="1" u="none" strike="noStrike" cap="none" spc="0" normalizeH="0" baseline="0" smtClean="0">
                            <a:ln>
                              <a:noFill/>
                            </a:ln>
                            <a:solidFill>
                              <a:srgbClr val="000000"/>
                            </a:solidFill>
                            <a:effectLst/>
                            <a:uFillTx/>
                            <a:latin typeface="Cambria Math" panose="02040503050406030204" pitchFamily="18" charset="0"/>
                            <a:ea typeface="+mj-ea"/>
                            <a:cs typeface="+mj-cs"/>
                            <a:sym typeface="Helvetica"/>
                          </a:rPr>
                          <m:t>∘</m:t>
                        </m:r>
                      </m:sup>
                    </m:sSup>
                  </m:oMath>
                </a14:m>
                <a:r>
                  <a:rPr kumimoji="0" lang="en-US" sz="2400" b="0" i="0" u="none" strike="noStrike" cap="none" spc="0" normalizeH="0" baseline="0" dirty="0">
                    <a:ln>
                      <a:noFill/>
                    </a:ln>
                    <a:solidFill>
                      <a:srgbClr val="000000"/>
                    </a:solidFill>
                    <a:effectLst/>
                    <a:uFillTx/>
                    <a:latin typeface="+mj-lt"/>
                    <a:ea typeface="+mj-ea"/>
                    <a:cs typeface="+mj-cs"/>
                    <a:sym typeface="Helvetica"/>
                  </a:rPr>
                  <a:t> = stronger binding</a:t>
                </a:r>
              </a:p>
            </p:txBody>
          </p:sp>
        </mc:Choice>
        <mc:Fallback xmlns="">
          <p:sp>
            <p:nvSpPr>
              <p:cNvPr id="3" name="TextBox 2">
                <a:extLst>
                  <a:ext uri="{FF2B5EF4-FFF2-40B4-BE49-F238E27FC236}">
                    <a16:creationId xmlns:a16="http://schemas.microsoft.com/office/drawing/2014/main" id="{411BE029-0F55-CFB2-CD30-A2DAFECCA0BA}"/>
                  </a:ext>
                </a:extLst>
              </p:cNvPr>
              <p:cNvSpPr txBox="1">
                <a:spLocks noRot="1" noChangeAspect="1" noMove="1" noResize="1" noEditPoints="1" noAdjustHandles="1" noChangeArrowheads="1" noChangeShapeType="1" noTextEdit="1"/>
              </p:cNvSpPr>
              <p:nvPr/>
            </p:nvSpPr>
            <p:spPr>
              <a:xfrm>
                <a:off x="18972014" y="11254763"/>
                <a:ext cx="5249321" cy="882933"/>
              </a:xfrm>
              <a:prstGeom prst="rect">
                <a:avLst/>
              </a:prstGeom>
              <a:blipFill>
                <a:blip r:embed="rId17"/>
                <a:stretch>
                  <a:fillRect l="-1687" t="-2857" r="-1687" b="-12857"/>
                </a:stretch>
              </a:blipFill>
              <a:ln w="12700" cap="flat">
                <a:noFill/>
                <a:miter lim="400000"/>
              </a:ln>
              <a:effectLst/>
            </p:spPr>
            <p:txBody>
              <a:bodyPr/>
              <a:lstStyle/>
              <a:p>
                <a:r>
                  <a:rPr lang="en-US">
                    <a:noFill/>
                  </a:rPr>
                  <a:t> </a:t>
                </a:r>
              </a:p>
            </p:txBody>
          </p:sp>
        </mc:Fallback>
      </mc:AlternateContent>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3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9" grpId="1" animBg="1" advAuto="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4" name="droppedImage.pdf" descr="droppedImage.pdf"/>
          <p:cNvPicPr>
            <a:picLocks noChangeAspect="1"/>
          </p:cNvPicPr>
          <p:nvPr/>
        </p:nvPicPr>
        <p:blipFill>
          <a:blip r:embed="rId3"/>
          <a:stretch>
            <a:fillRect/>
          </a:stretch>
        </p:blipFill>
        <p:spPr>
          <a:xfrm>
            <a:off x="9196402" y="2091358"/>
            <a:ext cx="13811251" cy="10358439"/>
          </a:xfrm>
          <a:prstGeom prst="rect">
            <a:avLst/>
          </a:prstGeom>
          <a:ln w="12700">
            <a:miter lim="400000"/>
          </a:ln>
        </p:spPr>
      </p:pic>
      <p:sp>
        <p:nvSpPr>
          <p:cNvPr id="335" name="Modestly accurate ΔG○ predictions can aid drug discovery"/>
          <p:cNvSpPr txBox="1">
            <a:spLocks noGrp="1"/>
          </p:cNvSpPr>
          <p:nvPr>
            <p:ph type="title"/>
          </p:nvPr>
        </p:nvSpPr>
        <p:spPr>
          <a:xfrm>
            <a:off x="762000" y="-63751"/>
            <a:ext cx="22860000" cy="2584451"/>
          </a:xfrm>
          <a:prstGeom prst="rect">
            <a:avLst/>
          </a:prstGeom>
        </p:spPr>
        <p:txBody>
          <a:bodyPr/>
          <a:lstStyle/>
          <a:p>
            <a:pPr marL="81280" marR="81280" defTabSz="1821656">
              <a:defRPr sz="6000">
                <a:uFill>
                  <a:solidFill>
                    <a:srgbClr val="000000"/>
                  </a:solidFill>
                </a:uFill>
                <a:latin typeface="Arial"/>
                <a:ea typeface="Arial"/>
                <a:cs typeface="Arial"/>
                <a:sym typeface="Arial"/>
              </a:defRPr>
            </a:pPr>
            <a:r>
              <a:rPr dirty="0"/>
              <a:t>Modestly accurate ΔG</a:t>
            </a:r>
            <a:r>
              <a:rPr baseline="31999" dirty="0"/>
              <a:t>○</a:t>
            </a:r>
            <a:r>
              <a:rPr dirty="0"/>
              <a:t> predictions can aid drug discovery</a:t>
            </a:r>
          </a:p>
        </p:txBody>
      </p:sp>
      <p:sp>
        <p:nvSpPr>
          <p:cNvPr id="336" name="Shirts, Mobley, and Brown, “Free Energy Calculations in Structure-based Drug Design”, in “Structure Based Drug Design” by Merz et al., Cambridge University Press, 2010.  See also Mobley &amp; Klimovich, JCP 2013"/>
          <p:cNvSpPr txBox="1"/>
          <p:nvPr/>
        </p:nvSpPr>
        <p:spPr>
          <a:xfrm>
            <a:off x="3039069" y="12119399"/>
            <a:ext cx="18288000" cy="89296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lstStyle>
            <a:lvl1pPr marL="81280" marR="81280" algn="l" defTabSz="1821656">
              <a:defRPr sz="2400">
                <a:uFill>
                  <a:solidFill>
                    <a:srgbClr val="000000"/>
                  </a:solidFill>
                </a:uFill>
                <a:latin typeface="Arial"/>
                <a:ea typeface="Arial"/>
                <a:cs typeface="Arial"/>
                <a:sym typeface="Arial"/>
              </a:defRPr>
            </a:lvl1pPr>
          </a:lstStyle>
          <a:p>
            <a:r>
              <a:rPr dirty="0"/>
              <a:t>Shirts, Mobley, and Brown, “Free Energy Calculations in Structure-based Drug Design”, in “Structure Based Drug Design” by Merz et al., Cambridge University Press, 2010.  See also Mobley &amp; Klimovich, JCP 2013</a:t>
            </a:r>
          </a:p>
        </p:txBody>
      </p:sp>
      <p:sp>
        <p:nvSpPr>
          <p:cNvPr id="337" name="Medicinal chemist suggests 100 derivatives or compounds per week…"/>
          <p:cNvSpPr txBox="1">
            <a:spLocks noGrp="1"/>
          </p:cNvSpPr>
          <p:nvPr>
            <p:ph type="body" sz="quarter" idx="1"/>
          </p:nvPr>
        </p:nvSpPr>
        <p:spPr>
          <a:xfrm>
            <a:off x="4320792" y="4466655"/>
            <a:ext cx="6018610" cy="3107532"/>
          </a:xfrm>
          <a:prstGeom prst="rect">
            <a:avLst/>
          </a:prstGeom>
        </p:spPr>
        <p:txBody>
          <a:bodyPr lIns="53578" tIns="53578" rIns="53578" bIns="53578" anchor="t"/>
          <a:lstStyle/>
          <a:p>
            <a:pPr marL="457200" indent="-457200" defTabSz="1821656">
              <a:spcBef>
                <a:spcPts val="900"/>
              </a:spcBef>
              <a:defRPr sz="3200">
                <a:uFill>
                  <a:solidFill>
                    <a:srgbClr val="000000"/>
                  </a:solidFill>
                </a:uFill>
                <a:latin typeface="Arial"/>
                <a:ea typeface="Arial"/>
                <a:cs typeface="Arial"/>
                <a:sym typeface="Arial"/>
              </a:defRPr>
            </a:pPr>
            <a:r>
              <a:t>Medicinal chemist suggests 100 derivatives or compounds per week</a:t>
            </a:r>
          </a:p>
          <a:p>
            <a:pPr marL="457200" indent="-457200" defTabSz="1821656">
              <a:spcBef>
                <a:spcPts val="900"/>
              </a:spcBef>
              <a:defRPr sz="3200">
                <a:uFill>
                  <a:solidFill>
                    <a:srgbClr val="000000"/>
                  </a:solidFill>
                </a:uFill>
                <a:latin typeface="Arial"/>
                <a:ea typeface="Arial"/>
                <a:cs typeface="Arial"/>
                <a:sym typeface="Arial"/>
              </a:defRPr>
            </a:pPr>
            <a:r>
              <a:t>Your job is to pick the top 10 to carry forward</a:t>
            </a:r>
          </a:p>
        </p:txBody>
      </p:sp>
      <p:sp>
        <p:nvSpPr>
          <p:cNvPr id="338" name="Hypothetical pipeline:"/>
          <p:cNvSpPr txBox="1"/>
          <p:nvPr/>
        </p:nvSpPr>
        <p:spPr>
          <a:xfrm>
            <a:off x="4160058" y="3131767"/>
            <a:ext cx="7036594" cy="117872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3578" tIns="53578" rIns="53578" bIns="53578" anchor="ctr"/>
          <a:lstStyle>
            <a:lvl1pPr algn="l" defTabSz="1821656">
              <a:defRPr sz="5000">
                <a:uFill>
                  <a:solidFill>
                    <a:srgbClr val="000000"/>
                  </a:solidFill>
                </a:uFill>
                <a:latin typeface="Arial"/>
                <a:ea typeface="Arial"/>
                <a:cs typeface="Arial"/>
                <a:sym typeface="Arial"/>
              </a:defRPr>
            </a:lvl1pPr>
          </a:lstStyle>
          <a:p>
            <a:r>
              <a:t>Hypothetical pipeline:</a:t>
            </a:r>
          </a:p>
        </p:txBody>
      </p:sp>
      <p:grpSp>
        <p:nvGrpSpPr>
          <p:cNvPr id="341" name="Group"/>
          <p:cNvGrpSpPr/>
          <p:nvPr/>
        </p:nvGrpSpPr>
        <p:grpSpPr>
          <a:xfrm>
            <a:off x="1376348" y="7728174"/>
            <a:ext cx="8608219" cy="4125517"/>
            <a:chOff x="0" y="0"/>
            <a:chExt cx="8608218" cy="4125515"/>
          </a:xfrm>
        </p:grpSpPr>
        <p:sp>
          <p:nvSpPr>
            <p:cNvPr id="339" name="Rounded Rectangle"/>
            <p:cNvSpPr/>
            <p:nvPr/>
          </p:nvSpPr>
          <p:spPr>
            <a:xfrm>
              <a:off x="0" y="0"/>
              <a:ext cx="8608219" cy="4125516"/>
            </a:xfrm>
            <a:prstGeom prst="roundRect">
              <a:avLst>
                <a:gd name="adj" fmla="val 6494"/>
              </a:avLst>
            </a:prstGeom>
            <a:solidFill>
              <a:srgbClr val="C6E6E9"/>
            </a:solidFill>
            <a:ln w="12700" cap="flat">
              <a:solidFill>
                <a:srgbClr val="000000"/>
              </a:solidFill>
              <a:prstDash val="solid"/>
              <a:round/>
            </a:ln>
            <a:effectLst/>
          </p:spPr>
          <p:txBody>
            <a:bodyPr wrap="square" lIns="71437" tIns="71437" rIns="71437" bIns="71437" numCol="1" anchor="ctr">
              <a:noAutofit/>
            </a:bodyPr>
            <a:lstStyle/>
            <a:p>
              <a:pPr marL="81280" marR="81280" algn="l" defTabSz="1821656">
                <a:defRPr>
                  <a:uFill>
                    <a:solidFill>
                      <a:srgbClr val="000000"/>
                    </a:solidFill>
                  </a:uFill>
                  <a:latin typeface="Arial"/>
                  <a:ea typeface="Arial"/>
                  <a:cs typeface="Arial"/>
                  <a:sym typeface="Arial"/>
                </a:defRPr>
              </a:pPr>
              <a:endParaRPr/>
            </a:p>
          </p:txBody>
        </p:sp>
        <p:sp>
          <p:nvSpPr>
            <p:cNvPr id="340" name="Question: How many molecules do we have to make to gain a factor of 10 in affinity?…"/>
            <p:cNvSpPr txBox="1"/>
            <p:nvPr/>
          </p:nvSpPr>
          <p:spPr>
            <a:xfrm>
              <a:off x="339328" y="250031"/>
              <a:ext cx="7858126" cy="364331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t">
              <a:noAutofit/>
            </a:bodyPr>
            <a:lstStyle/>
            <a:p>
              <a:pPr marL="81280" marR="81280" algn="l" defTabSz="1821656">
                <a:defRPr b="1">
                  <a:uFill>
                    <a:solidFill>
                      <a:srgbClr val="000000"/>
                    </a:solidFill>
                  </a:uFill>
                  <a:latin typeface="Arial"/>
                  <a:ea typeface="Arial"/>
                  <a:cs typeface="Arial"/>
                  <a:sym typeface="Arial"/>
                </a:defRPr>
              </a:pPr>
              <a:r>
                <a:t>Question: How many molecules do we have to make to gain a factor of 10 in affinity?</a:t>
              </a:r>
            </a:p>
            <a:p>
              <a:pPr marL="81280" marR="81280" algn="l" defTabSz="1821656">
                <a:defRPr>
                  <a:uFill>
                    <a:solidFill>
                      <a:srgbClr val="000000"/>
                    </a:solidFill>
                  </a:uFill>
                  <a:latin typeface="Arial"/>
                  <a:ea typeface="Arial"/>
                  <a:cs typeface="Arial"/>
                  <a:sym typeface="Arial"/>
                </a:defRPr>
              </a:pPr>
              <a:r>
                <a:t>  - 0.5 kcal/mol noise: Decreases # required by 8x</a:t>
              </a:r>
            </a:p>
            <a:p>
              <a:pPr marL="81280" marR="81280" algn="l" defTabSz="1821656">
                <a:defRPr>
                  <a:uFill>
                    <a:solidFill>
                      <a:srgbClr val="000000"/>
                    </a:solidFill>
                  </a:uFill>
                  <a:latin typeface="Arial"/>
                  <a:ea typeface="Arial"/>
                  <a:cs typeface="Arial"/>
                  <a:sym typeface="Arial"/>
                </a:defRPr>
              </a:pPr>
              <a:r>
                <a:t>  - 1.0 kcal/mol noise: Decreases by 5x</a:t>
              </a:r>
            </a:p>
            <a:p>
              <a:pPr marL="81280" marR="81280" algn="l" defTabSz="1821656">
                <a:defRPr>
                  <a:uFill>
                    <a:solidFill>
                      <a:srgbClr val="000000"/>
                    </a:solidFill>
                  </a:uFill>
                  <a:latin typeface="Arial"/>
                  <a:ea typeface="Arial"/>
                  <a:cs typeface="Arial"/>
                  <a:sym typeface="Arial"/>
                </a:defRPr>
              </a:pPr>
              <a:r>
                <a:t>  - 2 kcal/mol noise: Decreases by 3x</a:t>
              </a:r>
            </a:p>
          </p:txBody>
        </p:sp>
      </p:grpSp>
      <p:sp>
        <p:nvSpPr>
          <p:cNvPr id="342" name="Slide Number"/>
          <p:cNvSpPr txBox="1">
            <a:spLocks noGrp="1"/>
          </p:cNvSpPr>
          <p:nvPr>
            <p:ph type="sldNum" sz="quarter" idx="4294967295"/>
          </p:nvPr>
        </p:nvSpPr>
        <p:spPr>
          <a:xfrm>
            <a:off x="11923965" y="13001625"/>
            <a:ext cx="518209" cy="535782"/>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spAutoFit/>
          </a:bodyPr>
          <a:lstStyle/>
          <a:p>
            <a:fld id="{86CB4B4D-7CA3-9044-876B-883B54F8677D}" type="slidenum">
              <a:rPr/>
              <a:t>18</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23" presetClass="entr" presetSubtype="16" fill="hold" grpId="1" nodeType="clickEffect">
                                  <p:stCondLst>
                                    <p:cond delay="0"/>
                                  </p:stCondLst>
                                  <p:iterate>
                                    <p:tmAbs val="0"/>
                                  </p:iterate>
                                  <p:childTnLst>
                                    <p:set>
                                      <p:cBhvr>
                                        <p:cTn id="6" fill="hold"/>
                                        <p:tgtEl>
                                          <p:spTgt spid="341"/>
                                        </p:tgtEl>
                                        <p:attrNameLst>
                                          <p:attrName>style.visibility</p:attrName>
                                        </p:attrNameLst>
                                      </p:cBhvr>
                                      <p:to>
                                        <p:strVal val="visible"/>
                                      </p:to>
                                    </p:set>
                                    <p:anim calcmode="lin" valueType="num">
                                      <p:cBhvr>
                                        <p:cTn id="7" dur="1000" fill="hold"/>
                                        <p:tgtEl>
                                          <p:spTgt spid="341"/>
                                        </p:tgtEl>
                                        <p:attrNameLst>
                                          <p:attrName>ppt_w</p:attrName>
                                        </p:attrNameLst>
                                      </p:cBhvr>
                                      <p:tavLst>
                                        <p:tav tm="0">
                                          <p:val>
                                            <p:fltVal val="0"/>
                                          </p:val>
                                        </p:tav>
                                        <p:tav tm="100000">
                                          <p:val>
                                            <p:strVal val="#ppt_w"/>
                                          </p:val>
                                        </p:tav>
                                      </p:tavLst>
                                    </p:anim>
                                    <p:anim calcmode="lin" valueType="num">
                                      <p:cBhvr>
                                        <p:cTn id="8" dur="1000" fill="hold"/>
                                        <p:tgtEl>
                                          <p:spTgt spid="341"/>
                                        </p:tgtEl>
                                        <p:attrNameLst>
                                          <p:attrName>ppt_h</p:attrName>
                                        </p:attrNameLst>
                                      </p:cBhvr>
                                      <p:tavLst>
                                        <p:tav tm="0">
                                          <p:val>
                                            <p:fltVal val="0"/>
                                          </p:val>
                                        </p:tav>
                                        <p:tav tm="100000">
                                          <p:val>
                                            <p:strVal val="#ppt_h"/>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2" nodeType="clickEffect">
                                  <p:stCondLst>
                                    <p:cond delay="0"/>
                                  </p:stCondLst>
                                  <p:iterate>
                                    <p:tmAbs val="0"/>
                                  </p:iterate>
                                  <p:childTnLst>
                                    <p:set>
                                      <p:cBhvr>
                                        <p:cTn id="12" fill="hold"/>
                                        <p:tgtEl>
                                          <p:spTgt spid="3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4" grpId="2" animBg="1" advAuto="0"/>
      <p:bldP spid="341" grpId="1" animBg="1" advAuto="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6" name="Docking scores do not correlate with ΔG○"/>
          <p:cNvSpPr txBox="1">
            <a:spLocks noGrp="1"/>
          </p:cNvSpPr>
          <p:nvPr>
            <p:ph type="title"/>
          </p:nvPr>
        </p:nvSpPr>
        <p:spPr>
          <a:prstGeom prst="rect">
            <a:avLst/>
          </a:prstGeom>
        </p:spPr>
        <p:txBody>
          <a:bodyPr/>
          <a:lstStyle/>
          <a:p>
            <a:r>
              <a:rPr dirty="0"/>
              <a:t>Docking scores do not correlate with </a:t>
            </a:r>
            <a:r>
              <a:rPr lang="el-GR" dirty="0">
                <a:latin typeface="+mj-lt"/>
              </a:rPr>
              <a:t>Δ</a:t>
            </a:r>
            <a:r>
              <a:rPr dirty="0"/>
              <a:t>G</a:t>
            </a:r>
            <a:r>
              <a:rPr baseline="31999" dirty="0"/>
              <a:t>○</a:t>
            </a:r>
          </a:p>
        </p:txBody>
      </p:sp>
      <p:sp>
        <p:nvSpPr>
          <p:cNvPr id="347" name="From Warren et al. [GSK], “A Critical Assessment of Docking Programs and Scoring Functions”, J. Med. Chem. 49:5912, 2006."/>
          <p:cNvSpPr txBox="1"/>
          <p:nvPr/>
        </p:nvSpPr>
        <p:spPr>
          <a:xfrm>
            <a:off x="4574976" y="12957789"/>
            <a:ext cx="15234048" cy="477953"/>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b">
            <a:spAutoFit/>
          </a:bodyPr>
          <a:lstStyle>
            <a:lvl1pPr algn="r">
              <a:defRPr sz="2200">
                <a:latin typeface="Helvetica Neue Bold Condensed"/>
                <a:ea typeface="Helvetica Neue Bold Condensed"/>
                <a:cs typeface="Helvetica Neue Bold Condensed"/>
                <a:sym typeface="Helvetica Neue Bold Condensed"/>
              </a:defRPr>
            </a:lvl1pPr>
          </a:lstStyle>
          <a:p>
            <a:r>
              <a:t>From Warren et al. [GSK], “A Critical Assessment of Docking Programs and Scoring Functions”, J. Med. Chem. 49:5912, 2006.</a:t>
            </a:r>
          </a:p>
        </p:txBody>
      </p:sp>
      <p:grpSp>
        <p:nvGrpSpPr>
          <p:cNvPr id="353" name="Group"/>
          <p:cNvGrpSpPr/>
          <p:nvPr/>
        </p:nvGrpSpPr>
        <p:grpSpPr>
          <a:xfrm>
            <a:off x="6459553" y="3446859"/>
            <a:ext cx="11464895" cy="8893969"/>
            <a:chOff x="0" y="0"/>
            <a:chExt cx="11464894" cy="8893968"/>
          </a:xfrm>
        </p:grpSpPr>
        <p:sp>
          <p:nvSpPr>
            <p:cNvPr id="348" name="“For prediction of compound affinity, none of the docking programs or scoring functions made a useful prediction of ligand binding affinity.”"/>
            <p:cNvSpPr txBox="1"/>
            <p:nvPr/>
          </p:nvSpPr>
          <p:spPr>
            <a:xfrm>
              <a:off x="70612" y="7947538"/>
              <a:ext cx="11394283" cy="946431"/>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b">
              <a:spAutoFit/>
            </a:bodyPr>
            <a:lstStyle>
              <a:lvl1pPr algn="l">
                <a:defRPr sz="2600">
                  <a:latin typeface="Helvetica Neue Bold Condensed"/>
                  <a:ea typeface="Helvetica Neue Bold Condensed"/>
                  <a:cs typeface="Helvetica Neue Bold Condensed"/>
                  <a:sym typeface="Helvetica Neue Bold Condensed"/>
                </a:defRPr>
              </a:lvl1pPr>
            </a:lstStyle>
            <a:p>
              <a:r>
                <a:t>“For prediction of compound affinity, none of the docking programs or scoring functions made a useful prediction of ligand binding affinity.”</a:t>
              </a:r>
            </a:p>
          </p:txBody>
        </p:sp>
        <p:pic>
          <p:nvPicPr>
            <p:cNvPr id="349" name="droppedImage.pdf" descr="droppedImage.pdf"/>
            <p:cNvPicPr>
              <a:picLocks noChangeAspect="1"/>
            </p:cNvPicPr>
            <p:nvPr/>
          </p:nvPicPr>
          <p:blipFill>
            <a:blip r:embed="rId2"/>
            <a:stretch>
              <a:fillRect/>
            </a:stretch>
          </p:blipFill>
          <p:spPr>
            <a:xfrm>
              <a:off x="856425" y="0"/>
              <a:ext cx="9661923" cy="7684773"/>
            </a:xfrm>
            <a:prstGeom prst="rect">
              <a:avLst/>
            </a:prstGeom>
            <a:ln w="12700" cap="flat">
              <a:noFill/>
              <a:miter lim="400000"/>
            </a:ln>
            <a:effectLst/>
          </p:spPr>
        </p:pic>
        <p:grpSp>
          <p:nvGrpSpPr>
            <p:cNvPr id="352" name="Group"/>
            <p:cNvGrpSpPr/>
            <p:nvPr/>
          </p:nvGrpSpPr>
          <p:grpSpPr>
            <a:xfrm>
              <a:off x="0" y="6965156"/>
              <a:ext cx="10715625" cy="1910954"/>
              <a:chOff x="0" y="0"/>
              <a:chExt cx="10715625" cy="1910953"/>
            </a:xfrm>
          </p:grpSpPr>
          <p:sp>
            <p:nvSpPr>
              <p:cNvPr id="350" name="Rectangle"/>
              <p:cNvSpPr/>
              <p:nvPr/>
            </p:nvSpPr>
            <p:spPr>
              <a:xfrm>
                <a:off x="1160859" y="0"/>
                <a:ext cx="9144001" cy="714375"/>
              </a:xfrm>
              <a:prstGeom prst="rect">
                <a:avLst/>
              </a:prstGeom>
              <a:solidFill>
                <a:srgbClr val="E6E231">
                  <a:alpha val="30000"/>
                </a:srgbClr>
              </a:solidFill>
              <a:ln w="12700" cap="flat">
                <a:noFill/>
                <a:miter lim="400000"/>
              </a:ln>
              <a:effectLst/>
            </p:spPr>
            <p:txBody>
              <a:bodyPr wrap="square" lIns="71437" tIns="71437" rIns="71437" bIns="71437" numCol="1" anchor="ctr">
                <a:noAutofit/>
              </a:bodyPr>
              <a:lstStyle/>
              <a:p>
                <a:pPr>
                  <a:defRPr sz="5000">
                    <a:latin typeface="Helvetica Neue Light"/>
                    <a:ea typeface="Helvetica Neue Light"/>
                    <a:cs typeface="Helvetica Neue Light"/>
                    <a:sym typeface="Helvetica Neue Light"/>
                  </a:defRPr>
                </a:pPr>
                <a:endParaRPr/>
              </a:p>
            </p:txBody>
          </p:sp>
          <p:sp>
            <p:nvSpPr>
              <p:cNvPr id="351" name="Rectangle"/>
              <p:cNvSpPr/>
              <p:nvPr/>
            </p:nvSpPr>
            <p:spPr>
              <a:xfrm>
                <a:off x="0" y="982265"/>
                <a:ext cx="10715625" cy="928689"/>
              </a:xfrm>
              <a:prstGeom prst="rect">
                <a:avLst/>
              </a:prstGeom>
              <a:solidFill>
                <a:srgbClr val="E6E231">
                  <a:alpha val="30000"/>
                </a:srgbClr>
              </a:solidFill>
              <a:ln w="12700" cap="flat">
                <a:noFill/>
                <a:miter lim="400000"/>
              </a:ln>
              <a:effectLst/>
            </p:spPr>
            <p:txBody>
              <a:bodyPr wrap="square" lIns="71437" tIns="71437" rIns="71437" bIns="71437" numCol="1" anchor="ctr">
                <a:noAutofit/>
              </a:bodyPr>
              <a:lstStyle/>
              <a:p>
                <a:pPr>
                  <a:defRPr sz="5000">
                    <a:latin typeface="Helvetica Neue Light"/>
                    <a:ea typeface="Helvetica Neue Light"/>
                    <a:cs typeface="Helvetica Neue Light"/>
                    <a:sym typeface="Helvetica Neue Light"/>
                  </a:defRPr>
                </a:pPr>
                <a:endParaRPr/>
              </a:p>
            </p:txBody>
          </p:sp>
        </p:grpSp>
      </p:grpSp>
      <p:sp>
        <p:nvSpPr>
          <p:cNvPr id="354" name="Slide Number"/>
          <p:cNvSpPr txBox="1">
            <a:spLocks noGrp="1"/>
          </p:cNvSpPr>
          <p:nvPr>
            <p:ph type="sldNum" sz="quarter" idx="4294967295"/>
          </p:nvPr>
        </p:nvSpPr>
        <p:spPr>
          <a:xfrm>
            <a:off x="20329146" y="12930187"/>
            <a:ext cx="409779" cy="42834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spAutoFit/>
          </a:bodyPr>
          <a:lstStyle>
            <a:lvl1pPr algn="r">
              <a:defRPr sz="1800" b="1">
                <a:latin typeface="Helvetica Neue"/>
                <a:ea typeface="Helvetica Neue"/>
                <a:cs typeface="Helvetica Neue"/>
                <a:sym typeface="Helvetica Neue"/>
              </a:defRPr>
            </a:lvl1pPr>
          </a:lstStyle>
          <a:p>
            <a:fld id="{86CB4B4D-7CA3-9044-876B-883B54F8677D}" type="slidenum">
              <a:rPr/>
              <a:t>19</a:t>
            </a:fld>
            <a:endParaRPr/>
          </a:p>
        </p:txBody>
      </p:sp>
    </p:spTree>
  </p:cSld>
  <p:clrMapOvr>
    <a:masterClrMapping/>
  </p:clrMapOvr>
  <p:transition spd="slow"/>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6" name="Docking approximates ΔS"/>
          <p:cNvSpPr txBox="1">
            <a:spLocks noGrp="1"/>
          </p:cNvSpPr>
          <p:nvPr>
            <p:ph type="title"/>
          </p:nvPr>
        </p:nvSpPr>
        <p:spPr>
          <a:prstGeom prst="rect">
            <a:avLst/>
          </a:prstGeom>
        </p:spPr>
        <p:txBody>
          <a:bodyPr/>
          <a:lstStyle/>
          <a:p>
            <a:r>
              <a:t>Docking approximates ΔS</a:t>
            </a:r>
          </a:p>
        </p:txBody>
      </p:sp>
      <p:sp>
        <p:nvSpPr>
          <p:cNvPr id="357" name="ΔG = ΔH + TΔS…"/>
          <p:cNvSpPr txBox="1">
            <a:spLocks noGrp="1"/>
          </p:cNvSpPr>
          <p:nvPr>
            <p:ph type="body" idx="1"/>
          </p:nvPr>
        </p:nvSpPr>
        <p:spPr>
          <a:xfrm>
            <a:off x="635000" y="3175000"/>
            <a:ext cx="16511867" cy="9842500"/>
          </a:xfrm>
          <a:prstGeom prst="rect">
            <a:avLst/>
          </a:prstGeom>
        </p:spPr>
        <p:txBody>
          <a:bodyPr/>
          <a:lstStyle/>
          <a:p>
            <a:r>
              <a:t>ΔG = ΔH + TΔS</a:t>
            </a:r>
          </a:p>
          <a:p>
            <a:endParaRPr/>
          </a:p>
          <a:p>
            <a:r>
              <a:t>Docking score ~ ΔH</a:t>
            </a:r>
          </a:p>
          <a:p>
            <a:r>
              <a:t>It sometimes involves</a:t>
            </a:r>
          </a:p>
          <a:p>
            <a:pPr lvl="1"/>
            <a:r>
              <a:t>ad hoc ΔS based on the number of rotatable bonds</a:t>
            </a:r>
          </a:p>
          <a:p>
            <a:pPr lvl="1"/>
            <a:r>
              <a:t>ΔG</a:t>
            </a:r>
            <a:r>
              <a:rPr baseline="-5999"/>
              <a:t>solv</a:t>
            </a:r>
          </a:p>
          <a:p>
            <a:r>
              <a:t>Docking is based on “optimal” configurations</a:t>
            </a:r>
          </a:p>
        </p:txBody>
      </p:sp>
      <p:sp>
        <p:nvSpPr>
          <p:cNvPr id="358"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20</a:t>
            </a:fld>
            <a:endParaRPr/>
          </a:p>
        </p:txBody>
      </p:sp>
      <p:sp>
        <p:nvSpPr>
          <p:cNvPr id="359" name="Line"/>
          <p:cNvSpPr/>
          <p:nvPr/>
        </p:nvSpPr>
        <p:spPr>
          <a:xfrm flipV="1">
            <a:off x="4650724" y="5118100"/>
            <a:ext cx="1270001" cy="1270000"/>
          </a:xfrm>
          <a:prstGeom prst="line">
            <a:avLst/>
          </a:prstGeom>
          <a:ln w="127000">
            <a:solidFill>
              <a:srgbClr val="FF2600"/>
            </a:solidFill>
            <a:miter lim="400000"/>
          </a:ln>
        </p:spPr>
        <p:txBody>
          <a:bodyPr lIns="71437" tIns="71437" rIns="71437" bIns="71437" anchor="ctr"/>
          <a:lstStyle/>
          <a:p>
            <a:pPr>
              <a:defRPr>
                <a:latin typeface="+mn-lt"/>
                <a:ea typeface="+mn-ea"/>
                <a:cs typeface="+mn-cs"/>
                <a:sym typeface="Helvetica Light"/>
              </a:defRPr>
            </a:pPr>
            <a:endParaRPr/>
          </a:p>
        </p:txBody>
      </p:sp>
      <p:sp>
        <p:nvSpPr>
          <p:cNvPr id="360" name="Line"/>
          <p:cNvSpPr/>
          <p:nvPr/>
        </p:nvSpPr>
        <p:spPr>
          <a:xfrm flipH="1" flipV="1">
            <a:off x="4755198" y="5222574"/>
            <a:ext cx="1061053" cy="1061052"/>
          </a:xfrm>
          <a:prstGeom prst="line">
            <a:avLst/>
          </a:prstGeom>
          <a:ln w="127000">
            <a:solidFill>
              <a:srgbClr val="FF2600"/>
            </a:solidFill>
            <a:miter lim="400000"/>
          </a:ln>
        </p:spPr>
        <p:txBody>
          <a:bodyPr lIns="71437" tIns="71437" rIns="71437" bIns="71437" anchor="ctr"/>
          <a:lstStyle/>
          <a:p>
            <a:pPr>
              <a:defRPr>
                <a:latin typeface="+mn-lt"/>
                <a:ea typeface="+mn-ea"/>
                <a:cs typeface="+mn-cs"/>
                <a:sym typeface="Helvetica Light"/>
              </a:defRPr>
            </a:pPr>
            <a:endParaRPr/>
          </a:p>
        </p:txBody>
      </p:sp>
      <p:grpSp>
        <p:nvGrpSpPr>
          <p:cNvPr id="363" name="Group"/>
          <p:cNvGrpSpPr/>
          <p:nvPr/>
        </p:nvGrpSpPr>
        <p:grpSpPr>
          <a:xfrm>
            <a:off x="17464248" y="5713112"/>
            <a:ext cx="6355036" cy="5074815"/>
            <a:chOff x="0" y="0"/>
            <a:chExt cx="6355034" cy="5074813"/>
          </a:xfrm>
        </p:grpSpPr>
        <p:pic>
          <p:nvPicPr>
            <p:cNvPr id="361" name="droppedImage.pdf" descr="droppedImage.pdf"/>
            <p:cNvPicPr>
              <a:picLocks noChangeAspect="1"/>
            </p:cNvPicPr>
            <p:nvPr/>
          </p:nvPicPr>
          <p:blipFill>
            <a:blip r:embed="rId2"/>
            <a:stretch>
              <a:fillRect/>
            </a:stretch>
          </p:blipFill>
          <p:spPr>
            <a:xfrm>
              <a:off x="0" y="0"/>
              <a:ext cx="6355035" cy="4766277"/>
            </a:xfrm>
            <a:prstGeom prst="rect">
              <a:avLst/>
            </a:prstGeom>
            <a:ln w="12700" cap="flat">
              <a:noFill/>
              <a:miter lim="400000"/>
            </a:ln>
            <a:effectLst/>
          </p:spPr>
        </p:pic>
        <p:sp>
          <p:nvSpPr>
            <p:cNvPr id="362" name="(from [1])"/>
            <p:cNvSpPr txBox="1"/>
            <p:nvPr/>
          </p:nvSpPr>
          <p:spPr>
            <a:xfrm>
              <a:off x="2265719" y="4449338"/>
              <a:ext cx="1803797" cy="625476"/>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numCol="1" anchor="ctr">
              <a:spAutoFit/>
            </a:bodyPr>
            <a:lstStyle/>
            <a:p>
              <a:r>
                <a:t>(from [1])</a:t>
              </a:r>
            </a:p>
          </p:txBody>
        </p:sp>
      </p:grpSp>
    </p:spTree>
  </p:cSld>
  <p:clrMapOvr>
    <a:masterClrMapping/>
  </p:clrMapOvr>
  <p:transition spd="me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Line"/>
          <p:cNvSpPr/>
          <p:nvPr/>
        </p:nvSpPr>
        <p:spPr>
          <a:xfrm>
            <a:off x="3958828" y="2768203"/>
            <a:ext cx="16466344" cy="128"/>
          </a:xfrm>
          <a:prstGeom prst="line">
            <a:avLst/>
          </a:prstGeom>
          <a:ln w="12700">
            <a:solidFill>
              <a:srgbClr val="9A9A9A"/>
            </a:solidFill>
            <a:miter lim="400000"/>
          </a:ln>
        </p:spPr>
        <p:txBody>
          <a:bodyPr lIns="71437" tIns="71437" rIns="71437" bIns="71437" anchor="ctr"/>
          <a:lstStyle/>
          <a:p>
            <a:pPr algn="l" defTabSz="642937">
              <a:defRPr sz="1600"/>
            </a:pPr>
            <a:endParaRPr/>
          </a:p>
        </p:txBody>
      </p:sp>
      <p:sp>
        <p:nvSpPr>
          <p:cNvPr id="366" name="In principle, we could watch many binding/unbinding events"/>
          <p:cNvSpPr txBox="1"/>
          <p:nvPr/>
        </p:nvSpPr>
        <p:spPr>
          <a:xfrm>
            <a:off x="3969270" y="2939255"/>
            <a:ext cx="11132490" cy="6888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anchor="b">
            <a:spAutoFit/>
          </a:bodyPr>
          <a:lstStyle>
            <a:lvl1pPr algn="l">
              <a:defRPr sz="3600">
                <a:latin typeface="Helvetica Neue Bold Condensed"/>
                <a:ea typeface="Helvetica Neue Bold Condensed"/>
                <a:cs typeface="Helvetica Neue Bold Condensed"/>
                <a:sym typeface="Helvetica Neue Bold Condensed"/>
              </a:defRPr>
            </a:lvl1pPr>
          </a:lstStyle>
          <a:p>
            <a:r>
              <a:t>In principle, we could watch many binding/unbinding events</a:t>
            </a:r>
          </a:p>
        </p:txBody>
      </p:sp>
      <p:grpSp>
        <p:nvGrpSpPr>
          <p:cNvPr id="409" name="Group"/>
          <p:cNvGrpSpPr/>
          <p:nvPr/>
        </p:nvGrpSpPr>
        <p:grpSpPr>
          <a:xfrm>
            <a:off x="3377002" y="3525517"/>
            <a:ext cx="17629996" cy="4304111"/>
            <a:chOff x="0" y="0"/>
            <a:chExt cx="17629995" cy="4304109"/>
          </a:xfrm>
        </p:grpSpPr>
        <p:grpSp>
          <p:nvGrpSpPr>
            <p:cNvPr id="407" name="Group"/>
            <p:cNvGrpSpPr/>
            <p:nvPr/>
          </p:nvGrpSpPr>
          <p:grpSpPr>
            <a:xfrm>
              <a:off x="5123617" y="651306"/>
              <a:ext cx="12506379" cy="3027726"/>
              <a:chOff x="0" y="0"/>
              <a:chExt cx="12506377" cy="3027724"/>
            </a:xfrm>
          </p:grpSpPr>
          <p:sp>
            <p:nvSpPr>
              <p:cNvPr id="367" name="Line"/>
              <p:cNvSpPr/>
              <p:nvPr/>
            </p:nvSpPr>
            <p:spPr>
              <a:xfrm flipH="1">
                <a:off x="1272830" y="2438367"/>
                <a:ext cx="9203731" cy="2"/>
              </a:xfrm>
              <a:prstGeom prst="line">
                <a:avLst/>
              </a:prstGeom>
              <a:noFill/>
              <a:ln w="25400" cap="flat">
                <a:solidFill>
                  <a:srgbClr val="000000"/>
                </a:solidFill>
                <a:prstDash val="solid"/>
                <a:miter lim="400000"/>
                <a:headEnd type="stealth" w="med" len="med"/>
              </a:ln>
              <a:effectLst/>
            </p:spPr>
            <p:txBody>
              <a:bodyPr wrap="square" lIns="0" tIns="0" rIns="0" bIns="0" numCol="1" anchor="t">
                <a:noAutofit/>
              </a:bodyPr>
              <a:lstStyle/>
              <a:p>
                <a:pPr algn="l" defTabSz="642937">
                  <a:defRPr sz="1600"/>
                </a:pPr>
                <a:endParaRPr/>
              </a:p>
            </p:txBody>
          </p:sp>
          <p:sp>
            <p:nvSpPr>
              <p:cNvPr id="368" name="Line"/>
              <p:cNvSpPr/>
              <p:nvPr/>
            </p:nvSpPr>
            <p:spPr>
              <a:xfrm flipH="1">
                <a:off x="1290689" y="0"/>
                <a:ext cx="1" cy="2420506"/>
              </a:xfrm>
              <a:prstGeom prst="line">
                <a:avLst/>
              </a:prstGeom>
              <a:noFill/>
              <a:ln w="25400" cap="flat">
                <a:solidFill>
                  <a:srgbClr val="000000"/>
                </a:solidFill>
                <a:prstDash val="solid"/>
                <a:miter lim="400000"/>
                <a:headEnd type="triangle" w="med" len="med"/>
              </a:ln>
              <a:effectLst/>
            </p:spPr>
            <p:txBody>
              <a:bodyPr wrap="square" lIns="0" tIns="0" rIns="0" bIns="0" numCol="1" anchor="t">
                <a:noAutofit/>
              </a:bodyPr>
              <a:lstStyle/>
              <a:p>
                <a:pPr algn="l" defTabSz="642937">
                  <a:defRPr sz="1600"/>
                </a:pPr>
                <a:endParaRPr/>
              </a:p>
            </p:txBody>
          </p:sp>
          <p:sp>
            <p:nvSpPr>
              <p:cNvPr id="369" name="bound"/>
              <p:cNvSpPr txBox="1"/>
              <p:nvPr/>
            </p:nvSpPr>
            <p:spPr>
              <a:xfrm>
                <a:off x="281184" y="1763959"/>
                <a:ext cx="888155" cy="47795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b">
                <a:spAutoFit/>
              </a:bodyPr>
              <a:lstStyle>
                <a:lvl1pPr algn="r">
                  <a:defRPr sz="2200">
                    <a:latin typeface="Helvetica Neue Bold Condensed"/>
                    <a:ea typeface="Helvetica Neue Bold Condensed"/>
                    <a:cs typeface="Helvetica Neue Bold Condensed"/>
                    <a:sym typeface="Helvetica Neue Bold Condensed"/>
                  </a:defRPr>
                </a:lvl1pPr>
              </a:lstStyle>
              <a:p>
                <a:r>
                  <a:t>bound</a:t>
                </a:r>
              </a:p>
            </p:txBody>
          </p:sp>
          <p:grpSp>
            <p:nvGrpSpPr>
              <p:cNvPr id="391" name="Group"/>
              <p:cNvGrpSpPr/>
              <p:nvPr/>
            </p:nvGrpSpPr>
            <p:grpSpPr>
              <a:xfrm>
                <a:off x="1665736" y="594779"/>
                <a:ext cx="8768954" cy="1446610"/>
                <a:chOff x="0" y="0"/>
                <a:chExt cx="8768953" cy="1446609"/>
              </a:xfrm>
            </p:grpSpPr>
            <p:sp>
              <p:nvSpPr>
                <p:cNvPr id="370" name="Line"/>
                <p:cNvSpPr/>
                <p:nvPr/>
              </p:nvSpPr>
              <p:spPr>
                <a:xfrm flipH="1">
                  <a:off x="595460" y="8187"/>
                  <a:ext cx="1" cy="1428650"/>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71" name="Line"/>
                <p:cNvSpPr/>
                <p:nvPr/>
              </p:nvSpPr>
              <p:spPr>
                <a:xfrm flipH="1">
                  <a:off x="0" y="1426513"/>
                  <a:ext cx="590019" cy="1"/>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72" name="Line"/>
                <p:cNvSpPr/>
                <p:nvPr/>
              </p:nvSpPr>
              <p:spPr>
                <a:xfrm flipH="1">
                  <a:off x="597593" y="35920"/>
                  <a:ext cx="157718" cy="1"/>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73" name="Line"/>
                <p:cNvSpPr/>
                <p:nvPr/>
              </p:nvSpPr>
              <p:spPr>
                <a:xfrm flipH="1">
                  <a:off x="739129" y="17960"/>
                  <a:ext cx="1" cy="1428650"/>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74" name="Line"/>
                <p:cNvSpPr/>
                <p:nvPr/>
              </p:nvSpPr>
              <p:spPr>
                <a:xfrm flipH="1">
                  <a:off x="754855" y="1418875"/>
                  <a:ext cx="590019" cy="1"/>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75" name="Line"/>
                <p:cNvSpPr/>
                <p:nvPr/>
              </p:nvSpPr>
              <p:spPr>
                <a:xfrm flipH="1">
                  <a:off x="1320996" y="0"/>
                  <a:ext cx="1" cy="1428649"/>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76" name="Line"/>
                <p:cNvSpPr/>
                <p:nvPr/>
              </p:nvSpPr>
              <p:spPr>
                <a:xfrm flipH="1">
                  <a:off x="1305270" y="35920"/>
                  <a:ext cx="157718" cy="1"/>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77" name="Line"/>
                <p:cNvSpPr/>
                <p:nvPr/>
              </p:nvSpPr>
              <p:spPr>
                <a:xfrm flipH="1">
                  <a:off x="1446806" y="17960"/>
                  <a:ext cx="1" cy="1428650"/>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78" name="Line"/>
                <p:cNvSpPr/>
                <p:nvPr/>
              </p:nvSpPr>
              <p:spPr>
                <a:xfrm flipH="1">
                  <a:off x="1427139" y="1418875"/>
                  <a:ext cx="1223006" cy="1"/>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79" name="Line"/>
                <p:cNvSpPr/>
                <p:nvPr/>
              </p:nvSpPr>
              <p:spPr>
                <a:xfrm flipH="1">
                  <a:off x="2626267" y="0"/>
                  <a:ext cx="1" cy="1428649"/>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80" name="Line"/>
                <p:cNvSpPr/>
                <p:nvPr/>
              </p:nvSpPr>
              <p:spPr>
                <a:xfrm flipH="1">
                  <a:off x="2610541" y="35920"/>
                  <a:ext cx="157718" cy="1"/>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81" name="Line"/>
                <p:cNvSpPr/>
                <p:nvPr/>
              </p:nvSpPr>
              <p:spPr>
                <a:xfrm flipH="1">
                  <a:off x="2752077" y="17960"/>
                  <a:ext cx="1" cy="1428650"/>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82" name="Line"/>
                <p:cNvSpPr/>
                <p:nvPr/>
              </p:nvSpPr>
              <p:spPr>
                <a:xfrm flipH="1">
                  <a:off x="2752042" y="1418875"/>
                  <a:ext cx="939969" cy="1"/>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83" name="Line"/>
                <p:cNvSpPr/>
                <p:nvPr/>
              </p:nvSpPr>
              <p:spPr>
                <a:xfrm>
                  <a:off x="3664193" y="0"/>
                  <a:ext cx="1" cy="1428649"/>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84" name="Line"/>
                <p:cNvSpPr/>
                <p:nvPr/>
              </p:nvSpPr>
              <p:spPr>
                <a:xfrm flipH="1">
                  <a:off x="3648467" y="35920"/>
                  <a:ext cx="157718" cy="1"/>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85" name="Line"/>
                <p:cNvSpPr/>
                <p:nvPr/>
              </p:nvSpPr>
              <p:spPr>
                <a:xfrm>
                  <a:off x="3790002" y="17960"/>
                  <a:ext cx="1" cy="1428650"/>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86" name="Line"/>
                <p:cNvSpPr/>
                <p:nvPr/>
              </p:nvSpPr>
              <p:spPr>
                <a:xfrm>
                  <a:off x="6227556" y="0"/>
                  <a:ext cx="1" cy="1428649"/>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87" name="Line"/>
                <p:cNvSpPr/>
                <p:nvPr/>
              </p:nvSpPr>
              <p:spPr>
                <a:xfrm flipH="1">
                  <a:off x="6211830" y="35920"/>
                  <a:ext cx="157718" cy="1"/>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88" name="Line"/>
                <p:cNvSpPr/>
                <p:nvPr/>
              </p:nvSpPr>
              <p:spPr>
                <a:xfrm>
                  <a:off x="6353365" y="17960"/>
                  <a:ext cx="1" cy="1428650"/>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89" name="Line"/>
                <p:cNvSpPr/>
                <p:nvPr/>
              </p:nvSpPr>
              <p:spPr>
                <a:xfrm flipH="1">
                  <a:off x="3805728" y="1418875"/>
                  <a:ext cx="2431315" cy="1"/>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sp>
              <p:nvSpPr>
                <p:cNvPr id="390" name="Line"/>
                <p:cNvSpPr/>
                <p:nvPr/>
              </p:nvSpPr>
              <p:spPr>
                <a:xfrm flipH="1">
                  <a:off x="6337639" y="1418875"/>
                  <a:ext cx="2431315" cy="1"/>
                </a:xfrm>
                <a:prstGeom prst="line">
                  <a:avLst/>
                </a:prstGeom>
                <a:noFill/>
                <a:ln w="25400" cap="flat">
                  <a:solidFill>
                    <a:srgbClr val="FB2C00"/>
                  </a:solidFill>
                  <a:prstDash val="solid"/>
                  <a:miter lim="400000"/>
                </a:ln>
                <a:effectLst/>
              </p:spPr>
              <p:txBody>
                <a:bodyPr wrap="square" lIns="71437" tIns="71437" rIns="71437" bIns="71437" numCol="1" anchor="ctr">
                  <a:noAutofit/>
                </a:bodyPr>
                <a:lstStyle/>
                <a:p>
                  <a:pPr algn="l" defTabSz="642937">
                    <a:defRPr sz="1600"/>
                  </a:pPr>
                  <a:endParaRPr/>
                </a:p>
              </p:txBody>
            </p:sp>
          </p:grpSp>
          <p:sp>
            <p:nvSpPr>
              <p:cNvPr id="392" name="time"/>
              <p:cNvSpPr txBox="1"/>
              <p:nvPr/>
            </p:nvSpPr>
            <p:spPr>
              <a:xfrm>
                <a:off x="8393905" y="2549772"/>
                <a:ext cx="2071688" cy="47795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b">
                <a:spAutoFit/>
              </a:bodyPr>
              <a:lstStyle>
                <a:lvl1pPr algn="r">
                  <a:defRPr sz="2200">
                    <a:latin typeface="Helvetica Neue Bold Condensed"/>
                    <a:ea typeface="Helvetica Neue Bold Condensed"/>
                    <a:cs typeface="Helvetica Neue Bold Condensed"/>
                    <a:sym typeface="Helvetica Neue Bold Condensed"/>
                  </a:defRPr>
                </a:lvl1pPr>
              </a:lstStyle>
              <a:p>
                <a:r>
                  <a:t>time</a:t>
                </a:r>
              </a:p>
            </p:txBody>
          </p:sp>
          <p:sp>
            <p:nvSpPr>
              <p:cNvPr id="393" name="unbound"/>
              <p:cNvSpPr txBox="1"/>
              <p:nvPr/>
            </p:nvSpPr>
            <p:spPr>
              <a:xfrm>
                <a:off x="0" y="424506"/>
                <a:ext cx="1160860" cy="477953"/>
              </a:xfrm>
              <a:prstGeom prst="rect">
                <a:avLst/>
              </a:prstGeom>
              <a:noFill/>
              <a:ln w="12700" cap="flat">
                <a:noFill/>
                <a:miter lim="400000"/>
              </a:ln>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71437" tIns="71437" rIns="71437" bIns="71437" numCol="1" anchor="b">
                <a:spAutoFit/>
              </a:bodyPr>
              <a:lstStyle>
                <a:lvl1pPr algn="r">
                  <a:defRPr sz="2200">
                    <a:latin typeface="Helvetica Neue Bold Condensed"/>
                    <a:ea typeface="Helvetica Neue Bold Condensed"/>
                    <a:cs typeface="Helvetica Neue Bold Condensed"/>
                    <a:sym typeface="Helvetica Neue Bold Condensed"/>
                  </a:defRPr>
                </a:lvl1pPr>
              </a:lstStyle>
              <a:p>
                <a:r>
                  <a:t>unbound</a:t>
                </a:r>
              </a:p>
            </p:txBody>
          </p:sp>
          <p:grpSp>
            <p:nvGrpSpPr>
              <p:cNvPr id="400" name="Group"/>
              <p:cNvGrpSpPr/>
              <p:nvPr/>
            </p:nvGrpSpPr>
            <p:grpSpPr>
              <a:xfrm>
                <a:off x="10720439" y="1456099"/>
                <a:ext cx="1410891" cy="821534"/>
                <a:chOff x="0" y="0"/>
                <a:chExt cx="1410890" cy="821532"/>
              </a:xfrm>
            </p:grpSpPr>
            <p:grpSp>
              <p:nvGrpSpPr>
                <p:cNvPr id="396" name="Group"/>
                <p:cNvGrpSpPr/>
                <p:nvPr/>
              </p:nvGrpSpPr>
              <p:grpSpPr>
                <a:xfrm>
                  <a:off x="-1" y="0"/>
                  <a:ext cx="1205821" cy="821533"/>
                  <a:chOff x="0" y="0"/>
                  <a:chExt cx="1205819" cy="821532"/>
                </a:xfrm>
              </p:grpSpPr>
              <p:sp>
                <p:nvSpPr>
                  <p:cNvPr id="394" name="Circle"/>
                  <p:cNvSpPr/>
                  <p:nvPr/>
                </p:nvSpPr>
                <p:spPr>
                  <a:xfrm>
                    <a:off x="0" y="0"/>
                    <a:ext cx="820286" cy="821533"/>
                  </a:xfrm>
                  <a:prstGeom prst="ellipse">
                    <a:avLst/>
                  </a:prstGeom>
                  <a:solidFill>
                    <a:srgbClr val="B6D13B"/>
                  </a:solidFill>
                  <a:ln w="12700" cap="flat">
                    <a:noFill/>
                    <a:miter lim="400000"/>
                  </a:ln>
                  <a:effectLst/>
                </p:spPr>
                <p:txBody>
                  <a:bodyPr wrap="square" lIns="71437" tIns="71437" rIns="71437" bIns="71437" numCol="1" anchor="ctr">
                    <a:noAutofit/>
                  </a:bodyPr>
                  <a:lstStyle/>
                  <a:p>
                    <a:pPr>
                      <a:defRPr sz="5000">
                        <a:latin typeface="Helvetica Neue Light"/>
                        <a:ea typeface="Helvetica Neue Light"/>
                        <a:cs typeface="Helvetica Neue Light"/>
                        <a:sym typeface="Helvetica Neue Light"/>
                      </a:defRPr>
                    </a:pPr>
                    <a:endParaRPr/>
                  </a:p>
                </p:txBody>
              </p:sp>
              <p:sp>
                <p:nvSpPr>
                  <p:cNvPr id="395" name="Shape"/>
                  <p:cNvSpPr/>
                  <p:nvPr/>
                </p:nvSpPr>
                <p:spPr>
                  <a:xfrm>
                    <a:off x="385533" y="221813"/>
                    <a:ext cx="820287" cy="377906"/>
                  </a:xfrm>
                  <a:custGeom>
                    <a:avLst/>
                    <a:gdLst/>
                    <a:ahLst/>
                    <a:cxnLst>
                      <a:cxn ang="0">
                        <a:pos x="wd2" y="hd2"/>
                      </a:cxn>
                      <a:cxn ang="5400000">
                        <a:pos x="wd2" y="hd2"/>
                      </a:cxn>
                      <a:cxn ang="10800000">
                        <a:pos x="wd2" y="hd2"/>
                      </a:cxn>
                      <a:cxn ang="16200000">
                        <a:pos x="wd2" y="hd2"/>
                      </a:cxn>
                    </a:cxnLst>
                    <a:rect l="0" t="0" r="r" b="b"/>
                    <a:pathLst>
                      <a:path w="21600" h="21600" extrusionOk="0">
                        <a:moveTo>
                          <a:pt x="0" y="10800"/>
                        </a:moveTo>
                        <a:lnTo>
                          <a:pt x="10800" y="21600"/>
                        </a:lnTo>
                        <a:lnTo>
                          <a:pt x="21600" y="10800"/>
                        </a:lnTo>
                        <a:lnTo>
                          <a:pt x="10800" y="0"/>
                        </a:lnTo>
                        <a:close/>
                      </a:path>
                    </a:pathLst>
                  </a:custGeom>
                  <a:solidFill>
                    <a:srgbClr val="FFFFFF"/>
                  </a:solidFill>
                  <a:ln w="12700" cap="flat">
                    <a:noFill/>
                    <a:miter lim="400000"/>
                  </a:ln>
                  <a:effectLst/>
                </p:spPr>
                <p:txBody>
                  <a:bodyPr wrap="square" lIns="71437" tIns="71437" rIns="71437" bIns="71437" numCol="1" anchor="ctr">
                    <a:noAutofit/>
                  </a:bodyPr>
                  <a:lstStyle/>
                  <a:p>
                    <a:pPr>
                      <a:defRPr sz="5000">
                        <a:latin typeface="Helvetica Neue Light"/>
                        <a:ea typeface="Helvetica Neue Light"/>
                        <a:cs typeface="Helvetica Neue Light"/>
                        <a:sym typeface="Helvetica Neue Light"/>
                      </a:defRPr>
                    </a:pPr>
                    <a:endParaRPr/>
                  </a:p>
                </p:txBody>
              </p:sp>
            </p:grpSp>
            <p:grpSp>
              <p:nvGrpSpPr>
                <p:cNvPr id="399" name="Group"/>
                <p:cNvGrpSpPr/>
                <p:nvPr/>
              </p:nvGrpSpPr>
              <p:grpSpPr>
                <a:xfrm>
                  <a:off x="508576" y="213598"/>
                  <a:ext cx="902315" cy="394336"/>
                  <a:chOff x="0" y="0"/>
                  <a:chExt cx="902313" cy="394335"/>
                </a:xfrm>
              </p:grpSpPr>
              <p:sp>
                <p:nvSpPr>
                  <p:cNvPr id="397" name="Shape"/>
                  <p:cNvSpPr/>
                  <p:nvPr/>
                </p:nvSpPr>
                <p:spPr>
                  <a:xfrm>
                    <a:off x="0" y="8215"/>
                    <a:ext cx="820286" cy="377905"/>
                  </a:xfrm>
                  <a:custGeom>
                    <a:avLst/>
                    <a:gdLst/>
                    <a:ahLst/>
                    <a:cxnLst>
                      <a:cxn ang="0">
                        <a:pos x="wd2" y="hd2"/>
                      </a:cxn>
                      <a:cxn ang="5400000">
                        <a:pos x="wd2" y="hd2"/>
                      </a:cxn>
                      <a:cxn ang="10800000">
                        <a:pos x="wd2" y="hd2"/>
                      </a:cxn>
                      <a:cxn ang="16200000">
                        <a:pos x="wd2" y="hd2"/>
                      </a:cxn>
                    </a:cxnLst>
                    <a:rect l="0" t="0" r="r" b="b"/>
                    <a:pathLst>
                      <a:path w="21600" h="21600" extrusionOk="0">
                        <a:moveTo>
                          <a:pt x="0" y="10800"/>
                        </a:moveTo>
                        <a:lnTo>
                          <a:pt x="10800" y="21600"/>
                        </a:lnTo>
                        <a:lnTo>
                          <a:pt x="21600" y="10800"/>
                        </a:lnTo>
                        <a:lnTo>
                          <a:pt x="10800" y="0"/>
                        </a:lnTo>
                        <a:close/>
                      </a:path>
                    </a:pathLst>
                  </a:custGeom>
                  <a:solidFill>
                    <a:srgbClr val="E13EFF"/>
                  </a:solidFill>
                  <a:ln w="12700" cap="flat">
                    <a:noFill/>
                    <a:miter lim="400000"/>
                  </a:ln>
                  <a:effectLst/>
                </p:spPr>
                <p:txBody>
                  <a:bodyPr wrap="square" lIns="71437" tIns="71437" rIns="71437" bIns="71437" numCol="1" anchor="ctr">
                    <a:noAutofit/>
                  </a:bodyPr>
                  <a:lstStyle/>
                  <a:p>
                    <a:pPr>
                      <a:defRPr sz="5000">
                        <a:latin typeface="Helvetica Neue Light"/>
                        <a:ea typeface="Helvetica Neue Light"/>
                        <a:cs typeface="Helvetica Neue Light"/>
                        <a:sym typeface="Helvetica Neue Light"/>
                      </a:defRPr>
                    </a:pPr>
                    <a:endParaRPr/>
                  </a:p>
                </p:txBody>
              </p:sp>
              <p:sp>
                <p:nvSpPr>
                  <p:cNvPr id="398" name="Rectangle"/>
                  <p:cNvSpPr/>
                  <p:nvPr/>
                </p:nvSpPr>
                <p:spPr>
                  <a:xfrm>
                    <a:off x="369128" y="0"/>
                    <a:ext cx="533186" cy="394336"/>
                  </a:xfrm>
                  <a:prstGeom prst="rect">
                    <a:avLst/>
                  </a:prstGeom>
                  <a:solidFill>
                    <a:srgbClr val="FFFFFF"/>
                  </a:solidFill>
                  <a:ln w="12700" cap="flat">
                    <a:noFill/>
                    <a:miter lim="400000"/>
                  </a:ln>
                  <a:effectLst/>
                </p:spPr>
                <p:txBody>
                  <a:bodyPr wrap="square" lIns="71437" tIns="71437" rIns="71437" bIns="71437" numCol="1" anchor="ctr">
                    <a:noAutofit/>
                  </a:bodyPr>
                  <a:lstStyle/>
                  <a:p>
                    <a:pPr>
                      <a:defRPr sz="5000">
                        <a:latin typeface="Helvetica Neue Light"/>
                        <a:ea typeface="Helvetica Neue Light"/>
                        <a:cs typeface="Helvetica Neue Light"/>
                        <a:sym typeface="Helvetica Neue Light"/>
                      </a:defRPr>
                    </a:pPr>
                    <a:endParaRPr/>
                  </a:p>
                </p:txBody>
              </p:sp>
            </p:grpSp>
          </p:grpSp>
          <p:grpSp>
            <p:nvGrpSpPr>
              <p:cNvPr id="403" name="Group"/>
              <p:cNvGrpSpPr/>
              <p:nvPr/>
            </p:nvGrpSpPr>
            <p:grpSpPr>
              <a:xfrm>
                <a:off x="10738298" y="134505"/>
                <a:ext cx="1205821" cy="821534"/>
                <a:chOff x="0" y="0"/>
                <a:chExt cx="1205819" cy="821532"/>
              </a:xfrm>
            </p:grpSpPr>
            <p:sp>
              <p:nvSpPr>
                <p:cNvPr id="401" name="Circle"/>
                <p:cNvSpPr/>
                <p:nvPr/>
              </p:nvSpPr>
              <p:spPr>
                <a:xfrm>
                  <a:off x="0" y="0"/>
                  <a:ext cx="820286" cy="821533"/>
                </a:xfrm>
                <a:prstGeom prst="ellipse">
                  <a:avLst/>
                </a:prstGeom>
                <a:solidFill>
                  <a:srgbClr val="B6D13B"/>
                </a:solidFill>
                <a:ln w="12700" cap="flat">
                  <a:noFill/>
                  <a:miter lim="400000"/>
                </a:ln>
                <a:effectLst/>
              </p:spPr>
              <p:txBody>
                <a:bodyPr wrap="square" lIns="71437" tIns="71437" rIns="71437" bIns="71437" numCol="1" anchor="ctr">
                  <a:noAutofit/>
                </a:bodyPr>
                <a:lstStyle/>
                <a:p>
                  <a:pPr>
                    <a:defRPr sz="5000">
                      <a:latin typeface="Helvetica Neue Light"/>
                      <a:ea typeface="Helvetica Neue Light"/>
                      <a:cs typeface="Helvetica Neue Light"/>
                      <a:sym typeface="Helvetica Neue Light"/>
                    </a:defRPr>
                  </a:pPr>
                  <a:endParaRPr/>
                </a:p>
              </p:txBody>
            </p:sp>
            <p:sp>
              <p:nvSpPr>
                <p:cNvPr id="402" name="Shape"/>
                <p:cNvSpPr/>
                <p:nvPr/>
              </p:nvSpPr>
              <p:spPr>
                <a:xfrm>
                  <a:off x="385533" y="221813"/>
                  <a:ext cx="820287" cy="377906"/>
                </a:xfrm>
                <a:custGeom>
                  <a:avLst/>
                  <a:gdLst/>
                  <a:ahLst/>
                  <a:cxnLst>
                    <a:cxn ang="0">
                      <a:pos x="wd2" y="hd2"/>
                    </a:cxn>
                    <a:cxn ang="5400000">
                      <a:pos x="wd2" y="hd2"/>
                    </a:cxn>
                    <a:cxn ang="10800000">
                      <a:pos x="wd2" y="hd2"/>
                    </a:cxn>
                    <a:cxn ang="16200000">
                      <a:pos x="wd2" y="hd2"/>
                    </a:cxn>
                  </a:cxnLst>
                  <a:rect l="0" t="0" r="r" b="b"/>
                  <a:pathLst>
                    <a:path w="21600" h="21600" extrusionOk="0">
                      <a:moveTo>
                        <a:pt x="0" y="10800"/>
                      </a:moveTo>
                      <a:lnTo>
                        <a:pt x="10800" y="21600"/>
                      </a:lnTo>
                      <a:lnTo>
                        <a:pt x="21600" y="10800"/>
                      </a:lnTo>
                      <a:lnTo>
                        <a:pt x="10800" y="0"/>
                      </a:lnTo>
                      <a:close/>
                    </a:path>
                  </a:pathLst>
                </a:custGeom>
                <a:solidFill>
                  <a:srgbClr val="FFFFFF"/>
                </a:solidFill>
                <a:ln w="12700" cap="flat">
                  <a:noFill/>
                  <a:miter lim="400000"/>
                </a:ln>
                <a:effectLst/>
              </p:spPr>
              <p:txBody>
                <a:bodyPr wrap="square" lIns="71437" tIns="71437" rIns="71437" bIns="71437" numCol="1" anchor="ctr">
                  <a:noAutofit/>
                </a:bodyPr>
                <a:lstStyle/>
                <a:p>
                  <a:pPr>
                    <a:defRPr sz="5000">
                      <a:latin typeface="Helvetica Neue Light"/>
                      <a:ea typeface="Helvetica Neue Light"/>
                      <a:cs typeface="Helvetica Neue Light"/>
                      <a:sym typeface="Helvetica Neue Light"/>
                    </a:defRPr>
                  </a:pPr>
                  <a:endParaRPr/>
                </a:p>
              </p:txBody>
            </p:sp>
          </p:grpSp>
          <p:grpSp>
            <p:nvGrpSpPr>
              <p:cNvPr id="406" name="Group"/>
              <p:cNvGrpSpPr/>
              <p:nvPr/>
            </p:nvGrpSpPr>
            <p:grpSpPr>
              <a:xfrm>
                <a:off x="11604063" y="348103"/>
                <a:ext cx="902315" cy="394337"/>
                <a:chOff x="0" y="0"/>
                <a:chExt cx="902313" cy="394335"/>
              </a:xfrm>
            </p:grpSpPr>
            <p:sp>
              <p:nvSpPr>
                <p:cNvPr id="404" name="Shape"/>
                <p:cNvSpPr/>
                <p:nvPr/>
              </p:nvSpPr>
              <p:spPr>
                <a:xfrm>
                  <a:off x="0" y="8215"/>
                  <a:ext cx="820286" cy="377905"/>
                </a:xfrm>
                <a:custGeom>
                  <a:avLst/>
                  <a:gdLst/>
                  <a:ahLst/>
                  <a:cxnLst>
                    <a:cxn ang="0">
                      <a:pos x="wd2" y="hd2"/>
                    </a:cxn>
                    <a:cxn ang="5400000">
                      <a:pos x="wd2" y="hd2"/>
                    </a:cxn>
                    <a:cxn ang="10800000">
                      <a:pos x="wd2" y="hd2"/>
                    </a:cxn>
                    <a:cxn ang="16200000">
                      <a:pos x="wd2" y="hd2"/>
                    </a:cxn>
                  </a:cxnLst>
                  <a:rect l="0" t="0" r="r" b="b"/>
                  <a:pathLst>
                    <a:path w="21600" h="21600" extrusionOk="0">
                      <a:moveTo>
                        <a:pt x="0" y="10800"/>
                      </a:moveTo>
                      <a:lnTo>
                        <a:pt x="10800" y="21600"/>
                      </a:lnTo>
                      <a:lnTo>
                        <a:pt x="21600" y="10800"/>
                      </a:lnTo>
                      <a:lnTo>
                        <a:pt x="10800" y="0"/>
                      </a:lnTo>
                      <a:close/>
                    </a:path>
                  </a:pathLst>
                </a:custGeom>
                <a:solidFill>
                  <a:srgbClr val="E13EFF"/>
                </a:solidFill>
                <a:ln w="12700" cap="flat">
                  <a:noFill/>
                  <a:miter lim="400000"/>
                </a:ln>
                <a:effectLst/>
              </p:spPr>
              <p:txBody>
                <a:bodyPr wrap="square" lIns="71437" tIns="71437" rIns="71437" bIns="71437" numCol="1" anchor="ctr">
                  <a:noAutofit/>
                </a:bodyPr>
                <a:lstStyle/>
                <a:p>
                  <a:pPr>
                    <a:defRPr sz="5000">
                      <a:latin typeface="Helvetica Neue Light"/>
                      <a:ea typeface="Helvetica Neue Light"/>
                      <a:cs typeface="Helvetica Neue Light"/>
                      <a:sym typeface="Helvetica Neue Light"/>
                    </a:defRPr>
                  </a:pPr>
                  <a:endParaRPr/>
                </a:p>
              </p:txBody>
            </p:sp>
            <p:sp>
              <p:nvSpPr>
                <p:cNvPr id="405" name="Rectangle"/>
                <p:cNvSpPr/>
                <p:nvPr/>
              </p:nvSpPr>
              <p:spPr>
                <a:xfrm>
                  <a:off x="369128" y="0"/>
                  <a:ext cx="533186" cy="394336"/>
                </a:xfrm>
                <a:prstGeom prst="rect">
                  <a:avLst/>
                </a:prstGeom>
                <a:solidFill>
                  <a:srgbClr val="FFFFFF"/>
                </a:solidFill>
                <a:ln w="12700" cap="flat">
                  <a:noFill/>
                  <a:miter lim="400000"/>
                </a:ln>
                <a:effectLst/>
              </p:spPr>
              <p:txBody>
                <a:bodyPr wrap="square" lIns="71437" tIns="71437" rIns="71437" bIns="71437" numCol="1" anchor="ctr">
                  <a:noAutofit/>
                </a:bodyPr>
                <a:lstStyle/>
                <a:p>
                  <a:pPr>
                    <a:defRPr sz="5000">
                      <a:latin typeface="Helvetica Neue Light"/>
                      <a:ea typeface="Helvetica Neue Light"/>
                      <a:cs typeface="Helvetica Neue Light"/>
                      <a:sym typeface="Helvetica Neue Light"/>
                    </a:defRPr>
                  </a:pPr>
                  <a:endParaRPr/>
                </a:p>
              </p:txBody>
            </p:sp>
          </p:grpSp>
        </p:grpSp>
        <p:pic>
          <p:nvPicPr>
            <p:cNvPr id="408" name="kinase-cartoon.png" descr="kinase-cartoon.png"/>
            <p:cNvPicPr>
              <a:picLocks noChangeAspect="1"/>
            </p:cNvPicPr>
            <p:nvPr/>
          </p:nvPicPr>
          <p:blipFill>
            <a:blip r:embed="rId3"/>
            <a:stretch>
              <a:fillRect/>
            </a:stretch>
          </p:blipFill>
          <p:spPr>
            <a:xfrm>
              <a:off x="0" y="0"/>
              <a:ext cx="4363273" cy="4304110"/>
            </a:xfrm>
            <a:prstGeom prst="rect">
              <a:avLst/>
            </a:prstGeom>
            <a:ln w="12700" cap="flat">
              <a:noFill/>
              <a:miter lim="400000"/>
            </a:ln>
            <a:effectLst/>
          </p:spPr>
        </p:pic>
      </p:grpSp>
      <p:sp>
        <p:nvSpPr>
          <p:cNvPr id="410" name="but this is expensive, and only a small number of heroic simulations have been done"/>
          <p:cNvSpPr txBox="1"/>
          <p:nvPr/>
        </p:nvSpPr>
        <p:spPr>
          <a:xfrm>
            <a:off x="4338518" y="7542519"/>
            <a:ext cx="15462632" cy="68887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anchor="ctr">
            <a:spAutoFit/>
          </a:bodyPr>
          <a:lstStyle>
            <a:lvl1pPr algn="l">
              <a:defRPr sz="3600">
                <a:latin typeface="Helvetica Neue Bold Condensed"/>
                <a:ea typeface="Helvetica Neue Bold Condensed"/>
                <a:cs typeface="Helvetica Neue Bold Condensed"/>
                <a:sym typeface="Helvetica Neue Bold Condensed"/>
              </a:defRPr>
            </a:lvl1pPr>
          </a:lstStyle>
          <a:p>
            <a:r>
              <a:t>but this is expensive, and only a small number of heroic simulations have been done</a:t>
            </a:r>
          </a:p>
        </p:txBody>
      </p:sp>
      <p:sp>
        <p:nvSpPr>
          <p:cNvPr id="411" name="Binding free energies can be determined from long simulations"/>
          <p:cNvSpPr txBox="1">
            <a:spLocks noGrp="1"/>
          </p:cNvSpPr>
          <p:nvPr>
            <p:ph type="title"/>
          </p:nvPr>
        </p:nvSpPr>
        <p:spPr>
          <a:xfrm>
            <a:off x="762000" y="443093"/>
            <a:ext cx="22860000" cy="1964532"/>
          </a:xfrm>
          <a:prstGeom prst="rect">
            <a:avLst/>
          </a:prstGeom>
        </p:spPr>
        <p:txBody>
          <a:bodyPr/>
          <a:lstStyle>
            <a:lvl1pPr algn="ctr">
              <a:defRPr sz="5400"/>
            </a:lvl1pPr>
          </a:lstStyle>
          <a:p>
            <a:r>
              <a:t>Binding free energies can be determined from long simulations</a:t>
            </a:r>
          </a:p>
        </p:txBody>
      </p:sp>
      <p:pic>
        <p:nvPicPr>
          <p:cNvPr id="412" name="Image" descr="Image"/>
          <p:cNvPicPr>
            <a:picLocks noChangeAspect="1"/>
          </p:cNvPicPr>
          <p:nvPr/>
        </p:nvPicPr>
        <p:blipFill>
          <a:blip r:embed="rId4"/>
          <a:stretch>
            <a:fillRect/>
          </a:stretch>
        </p:blipFill>
        <p:spPr>
          <a:xfrm>
            <a:off x="5863137" y="8577833"/>
            <a:ext cx="4363273" cy="4181372"/>
          </a:xfrm>
          <a:prstGeom prst="rect">
            <a:avLst/>
          </a:prstGeom>
          <a:ln w="12700">
            <a:miter lim="400000"/>
          </a:ln>
        </p:spPr>
      </p:pic>
      <p:sp>
        <p:nvSpPr>
          <p:cNvPr id="413" name="Shan, …, Shaw, JACS 2011"/>
          <p:cNvSpPr txBox="1"/>
          <p:nvPr/>
        </p:nvSpPr>
        <p:spPr>
          <a:xfrm>
            <a:off x="14776780" y="13008671"/>
            <a:ext cx="3426385" cy="50264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anchor="ctr">
            <a:spAutoFit/>
          </a:bodyPr>
          <a:lstStyle>
            <a:lvl1pPr algn="l">
              <a:defRPr sz="2400">
                <a:latin typeface="Helvetica Neue Bold Condensed"/>
                <a:ea typeface="Helvetica Neue Bold Condensed"/>
                <a:cs typeface="Helvetica Neue Bold Condensed"/>
                <a:sym typeface="Helvetica Neue Bold Condensed"/>
              </a:defRPr>
            </a:lvl1pPr>
          </a:lstStyle>
          <a:p>
            <a:r>
              <a:t>Shan, …, Shaw, JACS 2011</a:t>
            </a:r>
          </a:p>
        </p:txBody>
      </p:sp>
      <p:grpSp>
        <p:nvGrpSpPr>
          <p:cNvPr id="416" name="Group"/>
          <p:cNvGrpSpPr/>
          <p:nvPr/>
        </p:nvGrpSpPr>
        <p:grpSpPr>
          <a:xfrm>
            <a:off x="10835405" y="8604061"/>
            <a:ext cx="7685459" cy="4304111"/>
            <a:chOff x="0" y="0"/>
            <a:chExt cx="7685456" cy="4304109"/>
          </a:xfrm>
        </p:grpSpPr>
        <p:pic>
          <p:nvPicPr>
            <p:cNvPr id="414" name="Image" descr="Image"/>
            <p:cNvPicPr>
              <a:picLocks noChangeAspect="1"/>
            </p:cNvPicPr>
            <p:nvPr/>
          </p:nvPicPr>
          <p:blipFill>
            <a:blip r:embed="rId5"/>
            <a:stretch>
              <a:fillRect/>
            </a:stretch>
          </p:blipFill>
          <p:spPr>
            <a:xfrm>
              <a:off x="827671" y="0"/>
              <a:ext cx="6857786" cy="4304110"/>
            </a:xfrm>
            <a:prstGeom prst="rect">
              <a:avLst/>
            </a:prstGeom>
            <a:ln w="12700" cap="flat">
              <a:noFill/>
              <a:miter lim="400000"/>
            </a:ln>
            <a:effectLst/>
          </p:spPr>
        </p:pic>
        <p:pic>
          <p:nvPicPr>
            <p:cNvPr id="415" name="Image" descr="Image"/>
            <p:cNvPicPr>
              <a:picLocks noChangeAspect="1"/>
            </p:cNvPicPr>
            <p:nvPr/>
          </p:nvPicPr>
          <p:blipFill>
            <a:blip r:embed="rId6"/>
            <a:stretch>
              <a:fillRect/>
            </a:stretch>
          </p:blipFill>
          <p:spPr>
            <a:xfrm>
              <a:off x="0" y="0"/>
              <a:ext cx="566218" cy="3640650"/>
            </a:xfrm>
            <a:prstGeom prst="rect">
              <a:avLst/>
            </a:prstGeom>
            <a:ln w="12700" cap="flat">
              <a:noFill/>
              <a:miter lim="400000"/>
            </a:ln>
            <a:effectLst/>
          </p:spPr>
        </p:pic>
      </p:grpSp>
      <p:sp>
        <p:nvSpPr>
          <p:cNvPr id="417" name="Src Kinase"/>
          <p:cNvSpPr txBox="1"/>
          <p:nvPr/>
        </p:nvSpPr>
        <p:spPr>
          <a:xfrm>
            <a:off x="8654227" y="12157854"/>
            <a:ext cx="1441832" cy="5026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anchor="ctr">
            <a:spAutoFit/>
          </a:bodyPr>
          <a:lstStyle>
            <a:lvl1pPr algn="l">
              <a:defRPr sz="2400">
                <a:latin typeface="Helvetica Neue Bold Condensed"/>
                <a:ea typeface="Helvetica Neue Bold Condensed"/>
                <a:cs typeface="Helvetica Neue Bold Condensed"/>
                <a:sym typeface="Helvetica Neue Bold Condensed"/>
              </a:defRPr>
            </a:lvl1pPr>
          </a:lstStyle>
          <a:p>
            <a:r>
              <a:t>Src Kinase</a:t>
            </a:r>
          </a:p>
        </p:txBody>
      </p:sp>
      <p:sp>
        <p:nvSpPr>
          <p:cNvPr id="418" name="Slide Number"/>
          <p:cNvSpPr txBox="1">
            <a:spLocks noGrp="1"/>
          </p:cNvSpPr>
          <p:nvPr>
            <p:ph type="sldNum" sz="quarter" idx="4294967295"/>
          </p:nvPr>
        </p:nvSpPr>
        <p:spPr>
          <a:xfrm>
            <a:off x="20300155" y="12930187"/>
            <a:ext cx="438770" cy="431801"/>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spAutoFit/>
          </a:bodyPr>
          <a:lstStyle>
            <a:lvl1pPr algn="r">
              <a:defRPr sz="1800">
                <a:latin typeface="Helvetica Neue"/>
                <a:ea typeface="Helvetica Neue"/>
                <a:cs typeface="Helvetica Neue"/>
                <a:sym typeface="Helvetica Neue"/>
              </a:defRPr>
            </a:lvl1pPr>
          </a:lstStyle>
          <a:p>
            <a:fld id="{86CB4B4D-7CA3-9044-876B-883B54F8677D}" type="slidenum">
              <a:rPr/>
              <a:t>21</a:t>
            </a:fld>
            <a:endParaRPr/>
          </a:p>
        </p:txBody>
      </p:sp>
    </p:spTree>
  </p:cSld>
  <p:clrMapOvr>
    <a:masterClrMapping/>
  </p:clrMapOvr>
  <p:transition spd="me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2" name="Faster ΔG○ methods are based on thermodynamic cycles"/>
          <p:cNvSpPr txBox="1">
            <a:spLocks noGrp="1"/>
          </p:cNvSpPr>
          <p:nvPr>
            <p:ph type="title"/>
          </p:nvPr>
        </p:nvSpPr>
        <p:spPr>
          <a:prstGeom prst="rect">
            <a:avLst/>
          </a:prstGeom>
        </p:spPr>
        <p:txBody>
          <a:bodyPr/>
          <a:lstStyle/>
          <a:p>
            <a:pPr defTabSz="575071">
              <a:defRPr sz="7840"/>
            </a:pPr>
            <a:r>
              <a:t>Faster ΔG</a:t>
            </a:r>
            <a:r>
              <a:rPr baseline="31999"/>
              <a:t>○ </a:t>
            </a:r>
            <a:r>
              <a:t>methods are based on thermodynamic cycles</a:t>
            </a:r>
          </a:p>
        </p:txBody>
      </p:sp>
      <p:sp>
        <p:nvSpPr>
          <p:cNvPr id="423" name="Thermodynamic cycles are a series of thermodynamic processes which return to the initial state…"/>
          <p:cNvSpPr txBox="1">
            <a:spLocks noGrp="1"/>
          </p:cNvSpPr>
          <p:nvPr>
            <p:ph type="body" idx="1"/>
          </p:nvPr>
        </p:nvSpPr>
        <p:spPr>
          <a:prstGeom prst="rect">
            <a:avLst/>
          </a:prstGeom>
        </p:spPr>
        <p:txBody>
          <a:bodyPr/>
          <a:lstStyle/>
          <a:p>
            <a:r>
              <a:rPr lang="en-US" dirty="0"/>
              <a:t>Free energy is a state function</a:t>
            </a:r>
          </a:p>
          <a:p>
            <a:pPr lvl="1"/>
            <a:r>
              <a:rPr lang="en-US" dirty="0"/>
              <a:t>Other common state functions are height, weight, location</a:t>
            </a:r>
          </a:p>
          <a:p>
            <a:pPr lvl="1"/>
            <a:r>
              <a:rPr lang="en-US" dirty="0"/>
              <a:t>The path doesn’t matter</a:t>
            </a:r>
          </a:p>
          <a:p>
            <a:r>
              <a:rPr dirty="0"/>
              <a:t>Thermodynamic cycles are a series of thermodynamic processes which return to the initial state</a:t>
            </a:r>
          </a:p>
          <a:p>
            <a:pPr lvl="1"/>
            <a:r>
              <a:rPr dirty="0"/>
              <a:t>The total free energy difference around a thermodynamic cycle is </a:t>
            </a:r>
            <a:r>
              <a:rPr i="1" dirty="0">
                <a:latin typeface="+mj-lt"/>
                <a:ea typeface="+mj-ea"/>
                <a:cs typeface="+mj-cs"/>
                <a:sym typeface="Helvetica"/>
              </a:rPr>
              <a:t>zero</a:t>
            </a:r>
            <a:endParaRPr u="sng" dirty="0"/>
          </a:p>
          <a:p>
            <a:pPr lvl="1"/>
            <a:r>
              <a:rPr dirty="0"/>
              <a:t>Differences between free energies (and other thermodynamics state functions) may be determined </a:t>
            </a:r>
            <a:r>
              <a:rPr i="1" dirty="0">
                <a:latin typeface="+mj-lt"/>
                <a:ea typeface="+mj-ea"/>
                <a:cs typeface="+mj-cs"/>
                <a:sym typeface="Helvetica"/>
              </a:rPr>
              <a:t>indirectly</a:t>
            </a:r>
          </a:p>
        </p:txBody>
      </p:sp>
      <p:sp>
        <p:nvSpPr>
          <p:cNvPr id="424"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22</a:t>
            </a:fld>
            <a:endParaRPr/>
          </a:p>
        </p:txBody>
      </p:sp>
    </p:spTree>
  </p:cSld>
  <p:clrMapOvr>
    <a:masterClrMapping/>
  </p:clrMapOvr>
  <p:transition spd="me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6" name="Reactants, T1"/>
          <p:cNvSpPr txBox="1"/>
          <p:nvPr/>
        </p:nvSpPr>
        <p:spPr>
          <a:xfrm>
            <a:off x="4663863" y="9895073"/>
            <a:ext cx="3956474" cy="9048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anchor="ctr">
            <a:spAutoFit/>
          </a:bodyPr>
          <a:lstStyle/>
          <a:p>
            <a:pPr>
              <a:defRPr sz="5000">
                <a:latin typeface="+mn-lt"/>
                <a:ea typeface="+mn-ea"/>
                <a:cs typeface="+mn-cs"/>
                <a:sym typeface="Helvetica Light"/>
              </a:defRPr>
            </a:pPr>
            <a:r>
              <a:t>Reactants, T</a:t>
            </a:r>
            <a:r>
              <a:rPr baseline="-5999"/>
              <a:t>1</a:t>
            </a:r>
          </a:p>
        </p:txBody>
      </p:sp>
      <p:sp>
        <p:nvSpPr>
          <p:cNvPr id="427" name="Products, T1"/>
          <p:cNvSpPr txBox="1"/>
          <p:nvPr/>
        </p:nvSpPr>
        <p:spPr>
          <a:xfrm>
            <a:off x="16093863" y="9895073"/>
            <a:ext cx="3626274" cy="9048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anchor="ctr">
            <a:spAutoFit/>
          </a:bodyPr>
          <a:lstStyle/>
          <a:p>
            <a:pPr>
              <a:defRPr sz="5000">
                <a:latin typeface="+mn-lt"/>
                <a:ea typeface="+mn-ea"/>
                <a:cs typeface="+mn-cs"/>
                <a:sym typeface="Helvetica Light"/>
              </a:defRPr>
            </a:pPr>
            <a:r>
              <a:t>Products, T</a:t>
            </a:r>
            <a:r>
              <a:rPr baseline="-5999"/>
              <a:t>1</a:t>
            </a:r>
          </a:p>
        </p:txBody>
      </p:sp>
      <p:sp>
        <p:nvSpPr>
          <p:cNvPr id="428" name="Reactants, T2"/>
          <p:cNvSpPr txBox="1"/>
          <p:nvPr/>
        </p:nvSpPr>
        <p:spPr>
          <a:xfrm>
            <a:off x="4663863" y="3081151"/>
            <a:ext cx="3956474" cy="9048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anchor="ctr">
            <a:spAutoFit/>
          </a:bodyPr>
          <a:lstStyle/>
          <a:p>
            <a:pPr>
              <a:defRPr sz="5000">
                <a:latin typeface="+mn-lt"/>
                <a:ea typeface="+mn-ea"/>
                <a:cs typeface="+mn-cs"/>
                <a:sym typeface="Helvetica Light"/>
              </a:defRPr>
            </a:pPr>
            <a:r>
              <a:t>Reactants, T</a:t>
            </a:r>
            <a:r>
              <a:rPr baseline="-5999"/>
              <a:t>2</a:t>
            </a:r>
          </a:p>
        </p:txBody>
      </p:sp>
      <p:sp>
        <p:nvSpPr>
          <p:cNvPr id="429" name="Products, T2"/>
          <p:cNvSpPr txBox="1"/>
          <p:nvPr/>
        </p:nvSpPr>
        <p:spPr>
          <a:xfrm>
            <a:off x="16093863" y="3081151"/>
            <a:ext cx="3626274" cy="90487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71437" tIns="71437" rIns="71437" bIns="71437" anchor="ctr">
            <a:spAutoFit/>
          </a:bodyPr>
          <a:lstStyle/>
          <a:p>
            <a:pPr>
              <a:defRPr sz="5000">
                <a:latin typeface="+mn-lt"/>
                <a:ea typeface="+mn-ea"/>
                <a:cs typeface="+mn-cs"/>
                <a:sym typeface="Helvetica Light"/>
              </a:defRPr>
            </a:pPr>
            <a:r>
              <a:t>Products, T</a:t>
            </a:r>
            <a:r>
              <a:rPr baseline="-5999"/>
              <a:t>2</a:t>
            </a:r>
          </a:p>
        </p:txBody>
      </p:sp>
      <p:sp>
        <p:nvSpPr>
          <p:cNvPr id="430" name="Line"/>
          <p:cNvSpPr/>
          <p:nvPr/>
        </p:nvSpPr>
        <p:spPr>
          <a:xfrm>
            <a:off x="9021688" y="3533588"/>
            <a:ext cx="6670824" cy="1"/>
          </a:xfrm>
          <a:prstGeom prst="line">
            <a:avLst/>
          </a:prstGeom>
          <a:ln w="127000">
            <a:solidFill>
              <a:srgbClr val="000000"/>
            </a:solidFill>
            <a:miter lim="400000"/>
            <a:tailEnd type="triangle"/>
          </a:ln>
        </p:spPr>
        <p:txBody>
          <a:bodyPr lIns="71437" tIns="71437" rIns="71437" bIns="71437" anchor="ctr"/>
          <a:lstStyle/>
          <a:p>
            <a:pPr>
              <a:defRPr>
                <a:latin typeface="+mn-lt"/>
                <a:ea typeface="+mn-ea"/>
                <a:cs typeface="+mn-cs"/>
                <a:sym typeface="Helvetica Light"/>
              </a:defRPr>
            </a:pPr>
            <a:endParaRPr/>
          </a:p>
        </p:txBody>
      </p:sp>
      <p:sp>
        <p:nvSpPr>
          <p:cNvPr id="431" name="Line"/>
          <p:cNvSpPr/>
          <p:nvPr/>
        </p:nvSpPr>
        <p:spPr>
          <a:xfrm flipV="1">
            <a:off x="6642100" y="4069500"/>
            <a:ext cx="0" cy="5742100"/>
          </a:xfrm>
          <a:prstGeom prst="line">
            <a:avLst/>
          </a:prstGeom>
          <a:ln w="127000">
            <a:solidFill>
              <a:srgbClr val="000000"/>
            </a:solidFill>
            <a:miter lim="400000"/>
            <a:tailEnd type="triangle"/>
          </a:ln>
        </p:spPr>
        <p:txBody>
          <a:bodyPr lIns="71437" tIns="71437" rIns="71437" bIns="71437" anchor="ctr"/>
          <a:lstStyle/>
          <a:p>
            <a:pPr>
              <a:defRPr>
                <a:latin typeface="+mn-lt"/>
                <a:ea typeface="+mn-ea"/>
                <a:cs typeface="+mn-cs"/>
                <a:sym typeface="Helvetica Light"/>
              </a:defRPr>
            </a:pPr>
            <a:endParaRPr/>
          </a:p>
        </p:txBody>
      </p:sp>
      <p:sp>
        <p:nvSpPr>
          <p:cNvPr id="432" name="Line"/>
          <p:cNvSpPr/>
          <p:nvPr/>
        </p:nvSpPr>
        <p:spPr>
          <a:xfrm>
            <a:off x="9075452" y="10347511"/>
            <a:ext cx="6670823" cy="1"/>
          </a:xfrm>
          <a:prstGeom prst="line">
            <a:avLst/>
          </a:prstGeom>
          <a:ln w="127000">
            <a:solidFill>
              <a:srgbClr val="000000"/>
            </a:solidFill>
            <a:miter lim="400000"/>
            <a:tailEnd type="triangle"/>
          </a:ln>
        </p:spPr>
        <p:txBody>
          <a:bodyPr lIns="71437" tIns="71437" rIns="71437" bIns="71437" anchor="ctr"/>
          <a:lstStyle/>
          <a:p>
            <a:pPr>
              <a:defRPr>
                <a:latin typeface="+mn-lt"/>
                <a:ea typeface="+mn-ea"/>
                <a:cs typeface="+mn-cs"/>
                <a:sym typeface="Helvetica Light"/>
              </a:defRPr>
            </a:pPr>
            <a:endParaRPr/>
          </a:p>
        </p:txBody>
      </p:sp>
      <p:sp>
        <p:nvSpPr>
          <p:cNvPr id="433" name="Line"/>
          <p:cNvSpPr/>
          <p:nvPr/>
        </p:nvSpPr>
        <p:spPr>
          <a:xfrm flipV="1">
            <a:off x="17906999" y="4069500"/>
            <a:ext cx="1" cy="5576999"/>
          </a:xfrm>
          <a:prstGeom prst="line">
            <a:avLst/>
          </a:prstGeom>
          <a:ln w="127000">
            <a:solidFill>
              <a:srgbClr val="000000"/>
            </a:solidFill>
            <a:miter lim="400000"/>
            <a:tailEnd type="triangle"/>
          </a:ln>
        </p:spPr>
        <p:txBody>
          <a:bodyPr lIns="71437" tIns="71437" rIns="71437" bIns="71437" anchor="ctr"/>
          <a:lstStyle/>
          <a:p>
            <a:pPr>
              <a:defRPr>
                <a:latin typeface="+mn-lt"/>
                <a:ea typeface="+mn-ea"/>
                <a:cs typeface="+mn-cs"/>
                <a:sym typeface="Helvetica Light"/>
              </a:defRPr>
            </a:pPr>
            <a:endParaRPr/>
          </a:p>
        </p:txBody>
      </p:sp>
      <mc:AlternateContent xmlns:mc="http://schemas.openxmlformats.org/markup-compatibility/2006" xmlns:a14="http://schemas.microsoft.com/office/drawing/2010/main">
        <mc:Choice Requires="a14">
          <p:sp>
            <p:nvSpPr>
              <p:cNvPr id="434" name="Equation"/>
              <p:cNvSpPr txBox="1"/>
              <p:nvPr/>
            </p:nvSpPr>
            <p:spPr>
              <a:xfrm>
                <a:off x="11641448" y="9519412"/>
                <a:ext cx="1431305" cy="686248"/>
              </a:xfrm>
              <a:prstGeom prst="rect">
                <a:avLst/>
              </a:prstGeom>
              <a:ln w="12700">
                <a:miter lim="400000"/>
              </a:ln>
            </p:spPr>
            <p:txBody>
              <a:bodyPr wrap="none" lIns="0" tIns="0" rIns="0" bIns="0">
                <a:spAutoFit/>
              </a:bodyPr>
              <a:lstStyle/>
              <a:p>
                <a:pPr algn="l" defTabSz="914400" latinLnBrk="1">
                  <a:defRPr sz="1800"/>
                </a:pPr>
                <a14:m>
                  <m:oMathPara xmlns:m="http://schemas.openxmlformats.org/officeDocument/2006/math">
                    <m:oMathParaPr>
                      <m:jc m:val="centerGroup"/>
                    </m:oMathParaPr>
                    <m:oMath xmlns:m="http://schemas.openxmlformats.org/officeDocument/2006/math">
                      <m:sSub>
                        <m:sSubPr>
                          <m:ctrlPr>
                            <a:rPr sz="5000" i="1">
                              <a:solidFill>
                                <a:srgbClr val="000000"/>
                              </a:solidFill>
                              <a:latin typeface="Cambria Math" panose="02040503050406030204" pitchFamily="18" charset="0"/>
                            </a:rPr>
                          </m:ctrlPr>
                        </m:sSubPr>
                        <m:e>
                          <m:r>
                            <m:rPr>
                              <m:sty m:val="p"/>
                            </m:rPr>
                            <a:rPr sz="5000" i="1">
                              <a:solidFill>
                                <a:srgbClr val="000000"/>
                              </a:solidFill>
                              <a:latin typeface="Cambria Math" panose="02040503050406030204" pitchFamily="18" charset="0"/>
                            </a:rPr>
                            <m:t>Δ</m:t>
                          </m:r>
                        </m:e>
                        <m:sub>
                          <m:r>
                            <a:rPr sz="5000" i="1">
                              <a:solidFill>
                                <a:srgbClr val="000000"/>
                              </a:solidFill>
                              <a:latin typeface="Cambria Math" panose="02040503050406030204" pitchFamily="18" charset="0"/>
                            </a:rPr>
                            <m:t>𝑟</m:t>
                          </m:r>
                        </m:sub>
                      </m:sSub>
                      <m:sSub>
                        <m:sSubPr>
                          <m:ctrlPr>
                            <a:rPr sz="5000" i="1">
                              <a:solidFill>
                                <a:srgbClr val="000000"/>
                              </a:solidFill>
                              <a:latin typeface="Cambria Math" panose="02040503050406030204" pitchFamily="18" charset="0"/>
                            </a:rPr>
                          </m:ctrlPr>
                        </m:sSubPr>
                        <m:e>
                          <m:r>
                            <a:rPr sz="5000" i="1">
                              <a:solidFill>
                                <a:srgbClr val="000000"/>
                              </a:solidFill>
                              <a:latin typeface="Cambria Math" panose="02040503050406030204" pitchFamily="18" charset="0"/>
                            </a:rPr>
                            <m:t>𝐻</m:t>
                          </m:r>
                        </m:e>
                        <m:sub>
                          <m:sSub>
                            <m:sSubPr>
                              <m:ctrlPr>
                                <a:rPr sz="5000" i="1">
                                  <a:solidFill>
                                    <a:srgbClr val="000000"/>
                                  </a:solidFill>
                                  <a:latin typeface="Cambria Math" panose="02040503050406030204" pitchFamily="18" charset="0"/>
                                </a:rPr>
                              </m:ctrlPr>
                            </m:sSubPr>
                            <m:e>
                              <m:r>
                                <a:rPr sz="5000" i="1">
                                  <a:solidFill>
                                    <a:srgbClr val="000000"/>
                                  </a:solidFill>
                                  <a:latin typeface="Cambria Math" panose="02040503050406030204" pitchFamily="18" charset="0"/>
                                </a:rPr>
                                <m:t>𝑇</m:t>
                              </m:r>
                            </m:e>
                            <m:sub>
                              <m:r>
                                <a:rPr sz="5000" i="1">
                                  <a:solidFill>
                                    <a:srgbClr val="000000"/>
                                  </a:solidFill>
                                  <a:latin typeface="Cambria Math" panose="02040503050406030204" pitchFamily="18" charset="0"/>
                                </a:rPr>
                                <m:t>1</m:t>
                              </m:r>
                            </m:sub>
                          </m:sSub>
                        </m:sub>
                      </m:sSub>
                    </m:oMath>
                  </m:oMathPara>
                </a14:m>
                <a:endParaRPr sz="5000"/>
              </a:p>
            </p:txBody>
          </p:sp>
        </mc:Choice>
        <mc:Fallback xmlns="">
          <p:sp>
            <p:nvSpPr>
              <p:cNvPr id="434" name="Equation"/>
              <p:cNvSpPr txBox="1">
                <a:spLocks noRot="1" noChangeAspect="1" noMove="1" noResize="1" noEditPoints="1" noAdjustHandles="1" noChangeArrowheads="1" noChangeShapeType="1" noTextEdit="1"/>
              </p:cNvSpPr>
              <p:nvPr/>
            </p:nvSpPr>
            <p:spPr>
              <a:xfrm>
                <a:off x="11641448" y="9519412"/>
                <a:ext cx="1431305" cy="686248"/>
              </a:xfrm>
              <a:prstGeom prst="rect">
                <a:avLst/>
              </a:prstGeom>
              <a:blipFill>
                <a:blip r:embed="rId2"/>
                <a:stretch>
                  <a:fillRect l="-14912" r="-16667" b="-38182"/>
                </a:stretch>
              </a:blipFill>
              <a:ln w="12700">
                <a:miter lim="400000"/>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5" name="Equation"/>
              <p:cNvSpPr txBox="1"/>
              <p:nvPr/>
            </p:nvSpPr>
            <p:spPr>
              <a:xfrm>
                <a:off x="11463543" y="2730455"/>
                <a:ext cx="1456913" cy="686248"/>
              </a:xfrm>
              <a:prstGeom prst="rect">
                <a:avLst/>
              </a:prstGeom>
              <a:ln w="12700">
                <a:miter lim="400000"/>
              </a:ln>
            </p:spPr>
            <p:txBody>
              <a:bodyPr wrap="none" lIns="0" tIns="0" rIns="0" bIns="0">
                <a:spAutoFit/>
              </a:bodyPr>
              <a:lstStyle/>
              <a:p>
                <a:pPr algn="l" defTabSz="914400" latinLnBrk="1">
                  <a:defRPr sz="1800"/>
                </a:pPr>
                <a14:m>
                  <m:oMathPara xmlns:m="http://schemas.openxmlformats.org/officeDocument/2006/math">
                    <m:oMathParaPr>
                      <m:jc m:val="centerGroup"/>
                    </m:oMathParaPr>
                    <m:oMath xmlns:m="http://schemas.openxmlformats.org/officeDocument/2006/math">
                      <m:sSub>
                        <m:sSubPr>
                          <m:ctrlPr>
                            <a:rPr sz="5000" i="1">
                              <a:solidFill>
                                <a:srgbClr val="000000"/>
                              </a:solidFill>
                              <a:latin typeface="Cambria Math" panose="02040503050406030204" pitchFamily="18" charset="0"/>
                            </a:rPr>
                          </m:ctrlPr>
                        </m:sSubPr>
                        <m:e>
                          <m:r>
                            <m:rPr>
                              <m:sty m:val="p"/>
                            </m:rPr>
                            <a:rPr sz="5000" i="1">
                              <a:solidFill>
                                <a:srgbClr val="000000"/>
                              </a:solidFill>
                              <a:latin typeface="Cambria Math" panose="02040503050406030204" pitchFamily="18" charset="0"/>
                            </a:rPr>
                            <m:t>Δ</m:t>
                          </m:r>
                        </m:e>
                        <m:sub>
                          <m:r>
                            <a:rPr sz="5000" i="1">
                              <a:solidFill>
                                <a:srgbClr val="000000"/>
                              </a:solidFill>
                              <a:latin typeface="Cambria Math" panose="02040503050406030204" pitchFamily="18" charset="0"/>
                            </a:rPr>
                            <m:t>𝑟</m:t>
                          </m:r>
                        </m:sub>
                      </m:sSub>
                      <m:sSub>
                        <m:sSubPr>
                          <m:ctrlPr>
                            <a:rPr sz="5000" i="1">
                              <a:solidFill>
                                <a:srgbClr val="000000"/>
                              </a:solidFill>
                              <a:latin typeface="Cambria Math" panose="02040503050406030204" pitchFamily="18" charset="0"/>
                            </a:rPr>
                          </m:ctrlPr>
                        </m:sSubPr>
                        <m:e>
                          <m:r>
                            <a:rPr sz="5000" i="1">
                              <a:solidFill>
                                <a:srgbClr val="000000"/>
                              </a:solidFill>
                              <a:latin typeface="Cambria Math" panose="02040503050406030204" pitchFamily="18" charset="0"/>
                            </a:rPr>
                            <m:t>𝐻</m:t>
                          </m:r>
                        </m:e>
                        <m:sub>
                          <m:sSub>
                            <m:sSubPr>
                              <m:ctrlPr>
                                <a:rPr sz="5000" i="1">
                                  <a:solidFill>
                                    <a:srgbClr val="000000"/>
                                  </a:solidFill>
                                  <a:latin typeface="Cambria Math" panose="02040503050406030204" pitchFamily="18" charset="0"/>
                                </a:rPr>
                              </m:ctrlPr>
                            </m:sSubPr>
                            <m:e>
                              <m:r>
                                <a:rPr sz="5000" i="1">
                                  <a:solidFill>
                                    <a:srgbClr val="000000"/>
                                  </a:solidFill>
                                  <a:latin typeface="Cambria Math" panose="02040503050406030204" pitchFamily="18" charset="0"/>
                                </a:rPr>
                                <m:t>𝑇</m:t>
                              </m:r>
                            </m:e>
                            <m:sub>
                              <m:r>
                                <a:rPr sz="5000" i="1">
                                  <a:solidFill>
                                    <a:srgbClr val="000000"/>
                                  </a:solidFill>
                                  <a:latin typeface="Cambria Math" panose="02040503050406030204" pitchFamily="18" charset="0"/>
                                </a:rPr>
                                <m:t>2</m:t>
                              </m:r>
                            </m:sub>
                          </m:sSub>
                        </m:sub>
                      </m:sSub>
                    </m:oMath>
                  </m:oMathPara>
                </a14:m>
                <a:endParaRPr sz="5000"/>
              </a:p>
            </p:txBody>
          </p:sp>
        </mc:Choice>
        <mc:Fallback xmlns="">
          <p:sp>
            <p:nvSpPr>
              <p:cNvPr id="435" name="Equation"/>
              <p:cNvSpPr txBox="1">
                <a:spLocks noRot="1" noChangeAspect="1" noMove="1" noResize="1" noEditPoints="1" noAdjustHandles="1" noChangeArrowheads="1" noChangeShapeType="1" noTextEdit="1"/>
              </p:cNvSpPr>
              <p:nvPr/>
            </p:nvSpPr>
            <p:spPr>
              <a:xfrm>
                <a:off x="11463543" y="2730455"/>
                <a:ext cx="1456913" cy="686248"/>
              </a:xfrm>
              <a:prstGeom prst="rect">
                <a:avLst/>
              </a:prstGeom>
              <a:blipFill>
                <a:blip r:embed="rId3"/>
                <a:stretch>
                  <a:fillRect l="-14655" r="-14655" b="-38889"/>
                </a:stretch>
              </a:blipFill>
              <a:ln w="12700">
                <a:miter lim="400000"/>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6" name="Equation"/>
              <p:cNvSpPr txBox="1"/>
              <p:nvPr/>
            </p:nvSpPr>
            <p:spPr>
              <a:xfrm rot="16200000">
                <a:off x="3563294" y="6514241"/>
                <a:ext cx="5104156" cy="687518"/>
              </a:xfrm>
              <a:prstGeom prst="rect">
                <a:avLst/>
              </a:prstGeom>
              <a:ln w="12700">
                <a:miter lim="400000"/>
              </a:ln>
            </p:spPr>
            <p:txBody>
              <a:bodyPr wrap="none" lIns="0" tIns="0" rIns="0" bIns="0">
                <a:spAutoFit/>
              </a:bodyPr>
              <a:lstStyle/>
              <a:p>
                <a:pPr algn="l" defTabSz="914400" latinLnBrk="1">
                  <a:defRPr sz="1800"/>
                </a:pPr>
                <a14:m>
                  <m:oMathPara xmlns:m="http://schemas.openxmlformats.org/officeDocument/2006/math">
                    <m:oMathParaPr>
                      <m:jc m:val="centerGroup"/>
                    </m:oMathParaPr>
                    <m:oMath xmlns:m="http://schemas.openxmlformats.org/officeDocument/2006/math">
                      <m:r>
                        <m:rPr>
                          <m:sty m:val="p"/>
                        </m:rPr>
                        <a:rPr sz="5000" i="1">
                          <a:solidFill>
                            <a:srgbClr val="000000"/>
                          </a:solidFill>
                          <a:latin typeface="Cambria Math" panose="02040503050406030204" pitchFamily="18" charset="0"/>
                        </a:rPr>
                        <m:t>Δ</m:t>
                      </m:r>
                      <m:sSub>
                        <m:sSubPr>
                          <m:ctrlPr>
                            <a:rPr sz="5000" i="1">
                              <a:solidFill>
                                <a:srgbClr val="000000"/>
                              </a:solidFill>
                              <a:latin typeface="Cambria Math" panose="02040503050406030204" pitchFamily="18" charset="0"/>
                            </a:rPr>
                          </m:ctrlPr>
                        </m:sSubPr>
                        <m:e>
                          <m:r>
                            <a:rPr sz="5000" i="1">
                              <a:solidFill>
                                <a:srgbClr val="000000"/>
                              </a:solidFill>
                              <a:latin typeface="Cambria Math" panose="02040503050406030204" pitchFamily="18" charset="0"/>
                            </a:rPr>
                            <m:t>𝐻</m:t>
                          </m:r>
                        </m:e>
                        <m:sub>
                          <m:sSub>
                            <m:sSubPr>
                              <m:ctrlPr>
                                <a:rPr sz="5000" i="1">
                                  <a:solidFill>
                                    <a:srgbClr val="000000"/>
                                  </a:solidFill>
                                  <a:latin typeface="Cambria Math" panose="02040503050406030204" pitchFamily="18" charset="0"/>
                                </a:rPr>
                              </m:ctrlPr>
                            </m:sSubPr>
                            <m:e>
                              <m:r>
                                <a:rPr sz="5000" i="1">
                                  <a:solidFill>
                                    <a:srgbClr val="000000"/>
                                  </a:solidFill>
                                  <a:latin typeface="Cambria Math" panose="02040503050406030204" pitchFamily="18" charset="0"/>
                                </a:rPr>
                                <m:t>𝑇</m:t>
                              </m:r>
                            </m:e>
                            <m:sub>
                              <m:r>
                                <a:rPr sz="5000" i="1">
                                  <a:solidFill>
                                    <a:srgbClr val="000000"/>
                                  </a:solidFill>
                                  <a:latin typeface="Cambria Math" panose="02040503050406030204" pitchFamily="18" charset="0"/>
                                </a:rPr>
                                <m:t>1</m:t>
                              </m:r>
                            </m:sub>
                          </m:sSub>
                          <m:r>
                            <a:rPr sz="5000" i="1">
                              <a:solidFill>
                                <a:srgbClr val="000000"/>
                              </a:solidFill>
                              <a:latin typeface="Cambria Math" panose="02040503050406030204" pitchFamily="18" charset="0"/>
                            </a:rPr>
                            <m:t>→</m:t>
                          </m:r>
                          <m:sSub>
                            <m:sSubPr>
                              <m:ctrlPr>
                                <a:rPr sz="5000" i="1">
                                  <a:solidFill>
                                    <a:srgbClr val="000000"/>
                                  </a:solidFill>
                                  <a:latin typeface="Cambria Math" panose="02040503050406030204" pitchFamily="18" charset="0"/>
                                </a:rPr>
                              </m:ctrlPr>
                            </m:sSubPr>
                            <m:e>
                              <m:r>
                                <a:rPr sz="5000" i="1">
                                  <a:solidFill>
                                    <a:srgbClr val="000000"/>
                                  </a:solidFill>
                                  <a:latin typeface="Cambria Math" panose="02040503050406030204" pitchFamily="18" charset="0"/>
                                </a:rPr>
                                <m:t>𝑇</m:t>
                              </m:r>
                            </m:e>
                            <m:sub>
                              <m:r>
                                <a:rPr sz="5000" i="1">
                                  <a:solidFill>
                                    <a:srgbClr val="000000"/>
                                  </a:solidFill>
                                  <a:latin typeface="Cambria Math" panose="02040503050406030204" pitchFamily="18" charset="0"/>
                                </a:rPr>
                                <m:t>2</m:t>
                              </m:r>
                            </m:sub>
                          </m:sSub>
                        </m:sub>
                      </m:sSub>
                      <m:r>
                        <a:rPr sz="5000" i="1">
                          <a:solidFill>
                            <a:srgbClr val="000000"/>
                          </a:solidFill>
                          <a:latin typeface="Cambria Math" panose="02040503050406030204" pitchFamily="18" charset="0"/>
                        </a:rPr>
                        <m:t>(</m:t>
                      </m:r>
                      <m:r>
                        <m:rPr>
                          <m:nor/>
                        </m:rPr>
                        <a:rPr sz="5000" i="1">
                          <a:solidFill>
                            <a:srgbClr val="000000"/>
                          </a:solidFill>
                          <a:latin typeface="Cambria Math" panose="02040503050406030204" pitchFamily="18" charset="0"/>
                        </a:rPr>
                        <m:t>reactants</m:t>
                      </m:r>
                      <m:r>
                        <a:rPr sz="5000" i="1">
                          <a:solidFill>
                            <a:srgbClr val="000000"/>
                          </a:solidFill>
                          <a:latin typeface="Cambria Math" panose="02040503050406030204" pitchFamily="18" charset="0"/>
                        </a:rPr>
                        <m:t>)</m:t>
                      </m:r>
                    </m:oMath>
                  </m:oMathPara>
                </a14:m>
                <a:endParaRPr sz="5000"/>
              </a:p>
            </p:txBody>
          </p:sp>
        </mc:Choice>
        <mc:Fallback xmlns="">
          <p:sp>
            <p:nvSpPr>
              <p:cNvPr id="436" name="Equation"/>
              <p:cNvSpPr txBox="1">
                <a:spLocks noRot="1" noChangeAspect="1" noMove="1" noResize="1" noEditPoints="1" noAdjustHandles="1" noChangeArrowheads="1" noChangeShapeType="1" noTextEdit="1"/>
              </p:cNvSpPr>
              <p:nvPr/>
            </p:nvSpPr>
            <p:spPr>
              <a:xfrm rot="16200000">
                <a:off x="3563294" y="6514241"/>
                <a:ext cx="5104156" cy="687518"/>
              </a:xfrm>
              <a:prstGeom prst="rect">
                <a:avLst/>
              </a:prstGeom>
              <a:blipFill>
                <a:blip r:embed="rId4"/>
                <a:stretch>
                  <a:fillRect t="-7921" r="-50909" b="-4208"/>
                </a:stretch>
              </a:blipFill>
              <a:ln w="12700">
                <a:miter lim="400000"/>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7" name="Equation"/>
              <p:cNvSpPr txBox="1"/>
              <p:nvPr/>
            </p:nvSpPr>
            <p:spPr>
              <a:xfrm rot="16200000">
                <a:off x="14787874" y="6514241"/>
                <a:ext cx="4997476" cy="715458"/>
              </a:xfrm>
              <a:prstGeom prst="rect">
                <a:avLst/>
              </a:prstGeom>
              <a:ln w="12700">
                <a:miter lim="400000"/>
              </a:ln>
            </p:spPr>
            <p:txBody>
              <a:bodyPr wrap="none" lIns="0" tIns="0" rIns="0" bIns="0">
                <a:spAutoFit/>
              </a:bodyPr>
              <a:lstStyle/>
              <a:p>
                <a:pPr algn="l" defTabSz="914400" latinLnBrk="1">
                  <a:defRPr sz="1800"/>
                </a:pPr>
                <a14:m>
                  <m:oMathPara xmlns:m="http://schemas.openxmlformats.org/officeDocument/2006/math">
                    <m:oMathParaPr>
                      <m:jc m:val="centerGroup"/>
                    </m:oMathParaPr>
                    <m:oMath xmlns:m="http://schemas.openxmlformats.org/officeDocument/2006/math">
                      <m:r>
                        <m:rPr>
                          <m:sty m:val="p"/>
                        </m:rPr>
                        <a:rPr sz="5000" i="1">
                          <a:solidFill>
                            <a:srgbClr val="000000"/>
                          </a:solidFill>
                          <a:latin typeface="Cambria Math" panose="02040503050406030204" pitchFamily="18" charset="0"/>
                        </a:rPr>
                        <m:t>Δ</m:t>
                      </m:r>
                      <m:sSub>
                        <m:sSubPr>
                          <m:ctrlPr>
                            <a:rPr sz="5000" i="1">
                              <a:solidFill>
                                <a:srgbClr val="000000"/>
                              </a:solidFill>
                              <a:latin typeface="Cambria Math" panose="02040503050406030204" pitchFamily="18" charset="0"/>
                            </a:rPr>
                          </m:ctrlPr>
                        </m:sSubPr>
                        <m:e>
                          <m:r>
                            <a:rPr sz="5000" i="1">
                              <a:solidFill>
                                <a:srgbClr val="000000"/>
                              </a:solidFill>
                              <a:latin typeface="Cambria Math" panose="02040503050406030204" pitchFamily="18" charset="0"/>
                            </a:rPr>
                            <m:t>𝐻</m:t>
                          </m:r>
                        </m:e>
                        <m:sub>
                          <m:sSub>
                            <m:sSubPr>
                              <m:ctrlPr>
                                <a:rPr sz="5000" i="1">
                                  <a:solidFill>
                                    <a:srgbClr val="000000"/>
                                  </a:solidFill>
                                  <a:latin typeface="Cambria Math" panose="02040503050406030204" pitchFamily="18" charset="0"/>
                                </a:rPr>
                              </m:ctrlPr>
                            </m:sSubPr>
                            <m:e>
                              <m:r>
                                <a:rPr sz="5000" i="1">
                                  <a:solidFill>
                                    <a:srgbClr val="000000"/>
                                  </a:solidFill>
                                  <a:latin typeface="Cambria Math" panose="02040503050406030204" pitchFamily="18" charset="0"/>
                                </a:rPr>
                                <m:t>𝑇</m:t>
                              </m:r>
                            </m:e>
                            <m:sub>
                              <m:r>
                                <a:rPr sz="5000" i="1">
                                  <a:solidFill>
                                    <a:srgbClr val="000000"/>
                                  </a:solidFill>
                                  <a:latin typeface="Cambria Math" panose="02040503050406030204" pitchFamily="18" charset="0"/>
                                </a:rPr>
                                <m:t>1</m:t>
                              </m:r>
                            </m:sub>
                          </m:sSub>
                          <m:r>
                            <a:rPr sz="5000" i="1">
                              <a:solidFill>
                                <a:srgbClr val="000000"/>
                              </a:solidFill>
                              <a:latin typeface="Cambria Math" panose="02040503050406030204" pitchFamily="18" charset="0"/>
                            </a:rPr>
                            <m:t>→</m:t>
                          </m:r>
                          <m:sSub>
                            <m:sSubPr>
                              <m:ctrlPr>
                                <a:rPr sz="5000" i="1">
                                  <a:solidFill>
                                    <a:srgbClr val="000000"/>
                                  </a:solidFill>
                                  <a:latin typeface="Cambria Math" panose="02040503050406030204" pitchFamily="18" charset="0"/>
                                </a:rPr>
                              </m:ctrlPr>
                            </m:sSubPr>
                            <m:e>
                              <m:r>
                                <a:rPr sz="5000" i="1">
                                  <a:solidFill>
                                    <a:srgbClr val="000000"/>
                                  </a:solidFill>
                                  <a:latin typeface="Cambria Math" panose="02040503050406030204" pitchFamily="18" charset="0"/>
                                </a:rPr>
                                <m:t>𝑇</m:t>
                              </m:r>
                            </m:e>
                            <m:sub>
                              <m:r>
                                <a:rPr sz="5000" i="1">
                                  <a:solidFill>
                                    <a:srgbClr val="000000"/>
                                  </a:solidFill>
                                  <a:latin typeface="Cambria Math" panose="02040503050406030204" pitchFamily="18" charset="0"/>
                                </a:rPr>
                                <m:t>2</m:t>
                              </m:r>
                            </m:sub>
                          </m:sSub>
                        </m:sub>
                      </m:sSub>
                      <m:r>
                        <a:rPr sz="5000" i="1">
                          <a:solidFill>
                            <a:srgbClr val="000000"/>
                          </a:solidFill>
                          <a:latin typeface="Cambria Math" panose="02040503050406030204" pitchFamily="18" charset="0"/>
                        </a:rPr>
                        <m:t>(</m:t>
                      </m:r>
                      <m:r>
                        <m:rPr>
                          <m:nor/>
                        </m:rPr>
                        <a:rPr sz="5000" i="1">
                          <a:solidFill>
                            <a:srgbClr val="000000"/>
                          </a:solidFill>
                          <a:latin typeface="Cambria Math" panose="02040503050406030204" pitchFamily="18" charset="0"/>
                        </a:rPr>
                        <m:t>products</m:t>
                      </m:r>
                      <m:r>
                        <a:rPr sz="5000" i="1">
                          <a:solidFill>
                            <a:srgbClr val="000000"/>
                          </a:solidFill>
                          <a:latin typeface="Cambria Math" panose="02040503050406030204" pitchFamily="18" charset="0"/>
                        </a:rPr>
                        <m:t>)</m:t>
                      </m:r>
                    </m:oMath>
                  </m:oMathPara>
                </a14:m>
                <a:endParaRPr sz="5000"/>
              </a:p>
            </p:txBody>
          </p:sp>
        </mc:Choice>
        <mc:Fallback xmlns="">
          <p:sp>
            <p:nvSpPr>
              <p:cNvPr id="437" name="Equation"/>
              <p:cNvSpPr txBox="1">
                <a:spLocks noRot="1" noChangeAspect="1" noMove="1" noResize="1" noEditPoints="1" noAdjustHandles="1" noChangeArrowheads="1" noChangeShapeType="1" noTextEdit="1"/>
              </p:cNvSpPr>
              <p:nvPr/>
            </p:nvSpPr>
            <p:spPr>
              <a:xfrm rot="16200000">
                <a:off x="14787874" y="6514241"/>
                <a:ext cx="4997476" cy="715458"/>
              </a:xfrm>
              <a:prstGeom prst="rect">
                <a:avLst/>
              </a:prstGeom>
              <a:blipFill>
                <a:blip r:embed="rId5"/>
                <a:stretch>
                  <a:fillRect t="-8376" r="-44828" b="-4569"/>
                </a:stretch>
              </a:blipFill>
              <a:ln w="12700">
                <a:miter lim="400000"/>
              </a:ln>
            </p:spPr>
            <p:txBody>
              <a:bodyPr/>
              <a:lstStyle/>
              <a:p>
                <a:r>
                  <a:rPr lang="en-US">
                    <a:noFill/>
                  </a:rPr>
                  <a:t> </a:t>
                </a:r>
              </a:p>
            </p:txBody>
          </p:sp>
        </mc:Fallback>
      </mc:AlternateContent>
      <p:pic>
        <p:nvPicPr>
          <p:cNvPr id="438" name="Image" descr="Image"/>
          <p:cNvPicPr>
            <a:picLocks noChangeAspect="1"/>
          </p:cNvPicPr>
          <p:nvPr/>
        </p:nvPicPr>
        <p:blipFill>
          <a:blip r:embed="rId6"/>
          <a:srcRect t="70098" r="15288" b="21596"/>
          <a:stretch>
            <a:fillRect/>
          </a:stretch>
        </p:blipFill>
        <p:spPr>
          <a:xfrm>
            <a:off x="4627562" y="11324314"/>
            <a:ext cx="15128910" cy="1112367"/>
          </a:xfrm>
          <a:prstGeom prst="rect">
            <a:avLst/>
          </a:prstGeom>
          <a:ln w="12700">
            <a:miter lim="400000"/>
          </a:ln>
        </p:spPr>
      </p:pic>
      <p:sp>
        <p:nvSpPr>
          <p:cNvPr id="439"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23</a:t>
            </a:fld>
            <a:endParaRPr/>
          </a:p>
        </p:txBody>
      </p:sp>
      <mc:AlternateContent xmlns:mc="http://schemas.openxmlformats.org/markup-compatibility/2006" xmlns:a14="http://schemas.microsoft.com/office/drawing/2010/main">
        <mc:Choice Requires="a14">
          <p:sp>
            <p:nvSpPr>
              <p:cNvPr id="440" name="Exercise: given this themodynamic cycle, write an expression for   in terms of   ,  , and  ."/>
              <p:cNvSpPr txBox="1"/>
              <p:nvPr/>
            </p:nvSpPr>
            <p:spPr>
              <a:xfrm>
                <a:off x="920687" y="611980"/>
                <a:ext cx="22542627" cy="1697000"/>
              </a:xfrm>
              <a:prstGeom prst="rect">
                <a:avLst/>
              </a:prstGeom>
              <a:ln w="12700">
                <a:miter lim="400000"/>
              </a:ln>
              <a:extLst>
                <a:ext uri="{C572A759-6A51-4108-AA02-DFA0A04FC94B}">
                  <ma14:wrappingTextBoxFlag xmlns:ma14="http://schemas.microsoft.com/office/mac/drawingml/2011/main" xmlns:m="http://schemas.openxmlformats.org/officeDocument/2006/math" xmlns="" val="1"/>
                </a:ext>
              </a:extLst>
            </p:spPr>
            <p:txBody>
              <a:bodyPr lIns="71437" tIns="71437" rIns="71437" bIns="71437" anchor="ctr">
                <a:spAutoFit/>
              </a:bodyPr>
              <a:lstStyle/>
              <a:p>
                <a:pPr>
                  <a:defRPr sz="4200"/>
                </a:pPr>
                <a:r>
                  <a:t>Exercise: given this themodynamic cycle, write an expression for </a:t>
                </a:r>
                <a14:m>
                  <m:oMath xmlns:m="http://schemas.openxmlformats.org/officeDocument/2006/math">
                    <m:sSub>
                      <m:sSubPr>
                        <m:ctrlPr>
                          <a:rPr sz="5100" i="1">
                            <a:solidFill>
                              <a:srgbClr val="000000"/>
                            </a:solidFill>
                            <a:latin typeface="Cambria Math" panose="02040503050406030204" pitchFamily="18" charset="0"/>
                          </a:rPr>
                        </m:ctrlPr>
                      </m:sSubPr>
                      <m:e>
                        <m:r>
                          <m:rPr>
                            <m:sty m:val="p"/>
                          </m:rPr>
                          <a:rPr sz="5100" i="1">
                            <a:solidFill>
                              <a:srgbClr val="000000"/>
                            </a:solidFill>
                            <a:latin typeface="Cambria Math" panose="02040503050406030204" pitchFamily="18" charset="0"/>
                          </a:rPr>
                          <m:t>Δ</m:t>
                        </m:r>
                      </m:e>
                      <m:sub>
                        <m:r>
                          <a:rPr sz="5100" i="1">
                            <a:solidFill>
                              <a:srgbClr val="000000"/>
                            </a:solidFill>
                            <a:latin typeface="Cambria Math" panose="02040503050406030204" pitchFamily="18" charset="0"/>
                          </a:rPr>
                          <m:t>𝑟</m:t>
                        </m:r>
                      </m:sub>
                    </m:sSub>
                    <m:sSub>
                      <m:sSubPr>
                        <m:ctrlPr>
                          <a:rPr sz="5100" i="1">
                            <a:solidFill>
                              <a:srgbClr val="000000"/>
                            </a:solidFill>
                            <a:latin typeface="Cambria Math" panose="02040503050406030204" pitchFamily="18" charset="0"/>
                          </a:rPr>
                        </m:ctrlPr>
                      </m:sSubPr>
                      <m:e>
                        <m:r>
                          <a:rPr sz="5100" i="1">
                            <a:solidFill>
                              <a:srgbClr val="000000"/>
                            </a:solidFill>
                            <a:latin typeface="Cambria Math" panose="02040503050406030204" pitchFamily="18" charset="0"/>
                          </a:rPr>
                          <m:t>𝐻</m:t>
                        </m:r>
                      </m:e>
                      <m:sub>
                        <m:sSub>
                          <m:sSubPr>
                            <m:ctrlPr>
                              <a:rPr sz="5100" i="1">
                                <a:solidFill>
                                  <a:srgbClr val="000000"/>
                                </a:solidFill>
                                <a:latin typeface="Cambria Math" panose="02040503050406030204" pitchFamily="18" charset="0"/>
                              </a:rPr>
                            </m:ctrlPr>
                          </m:sSubPr>
                          <m:e>
                            <m:r>
                              <a:rPr sz="5100" i="1">
                                <a:solidFill>
                                  <a:srgbClr val="000000"/>
                                </a:solidFill>
                                <a:latin typeface="Cambria Math" panose="02040503050406030204" pitchFamily="18" charset="0"/>
                              </a:rPr>
                              <m:t>𝑇</m:t>
                            </m:r>
                          </m:e>
                          <m:sub>
                            <m:r>
                              <a:rPr sz="5100" i="1">
                                <a:solidFill>
                                  <a:srgbClr val="000000"/>
                                </a:solidFill>
                                <a:latin typeface="Cambria Math" panose="02040503050406030204" pitchFamily="18" charset="0"/>
                              </a:rPr>
                              <m:t>2</m:t>
                            </m:r>
                          </m:sub>
                        </m:sSub>
                      </m:sub>
                    </m:sSub>
                  </m:oMath>
                </a14:m>
                <a:r>
                  <a:t> in terms of </a:t>
                </a:r>
                <a:br/>
                <a14:m>
                  <m:oMath xmlns:m="http://schemas.openxmlformats.org/officeDocument/2006/math">
                    <m:sSub>
                      <m:sSubPr>
                        <m:ctrlPr>
                          <a:rPr sz="5100" i="1">
                            <a:solidFill>
                              <a:srgbClr val="000000"/>
                            </a:solidFill>
                            <a:latin typeface="Cambria Math" panose="02040503050406030204" pitchFamily="18" charset="0"/>
                          </a:rPr>
                        </m:ctrlPr>
                      </m:sSubPr>
                      <m:e>
                        <m:r>
                          <m:rPr>
                            <m:sty m:val="p"/>
                          </m:rPr>
                          <a:rPr sz="5100" i="1">
                            <a:solidFill>
                              <a:srgbClr val="000000"/>
                            </a:solidFill>
                            <a:latin typeface="Cambria Math" panose="02040503050406030204" pitchFamily="18" charset="0"/>
                          </a:rPr>
                          <m:t>Δ</m:t>
                        </m:r>
                      </m:e>
                      <m:sub>
                        <m:r>
                          <a:rPr sz="5100" i="1">
                            <a:solidFill>
                              <a:srgbClr val="000000"/>
                            </a:solidFill>
                            <a:latin typeface="Cambria Math" panose="02040503050406030204" pitchFamily="18" charset="0"/>
                          </a:rPr>
                          <m:t>𝑟</m:t>
                        </m:r>
                      </m:sub>
                    </m:sSub>
                    <m:sSub>
                      <m:sSubPr>
                        <m:ctrlPr>
                          <a:rPr sz="5100" i="1">
                            <a:solidFill>
                              <a:srgbClr val="000000"/>
                            </a:solidFill>
                            <a:latin typeface="Cambria Math" panose="02040503050406030204" pitchFamily="18" charset="0"/>
                          </a:rPr>
                        </m:ctrlPr>
                      </m:sSubPr>
                      <m:e>
                        <m:r>
                          <a:rPr sz="5100" i="1">
                            <a:solidFill>
                              <a:srgbClr val="000000"/>
                            </a:solidFill>
                            <a:latin typeface="Cambria Math" panose="02040503050406030204" pitchFamily="18" charset="0"/>
                          </a:rPr>
                          <m:t>𝐻</m:t>
                        </m:r>
                      </m:e>
                      <m:sub>
                        <m:sSub>
                          <m:sSubPr>
                            <m:ctrlPr>
                              <a:rPr sz="5100" i="1">
                                <a:solidFill>
                                  <a:srgbClr val="000000"/>
                                </a:solidFill>
                                <a:latin typeface="Cambria Math" panose="02040503050406030204" pitchFamily="18" charset="0"/>
                              </a:rPr>
                            </m:ctrlPr>
                          </m:sSubPr>
                          <m:e>
                            <m:r>
                              <a:rPr sz="5100" i="1">
                                <a:solidFill>
                                  <a:srgbClr val="000000"/>
                                </a:solidFill>
                                <a:latin typeface="Cambria Math" panose="02040503050406030204" pitchFamily="18" charset="0"/>
                              </a:rPr>
                              <m:t>𝑇</m:t>
                            </m:r>
                          </m:e>
                          <m:sub>
                            <m:r>
                              <a:rPr sz="5100" i="1">
                                <a:solidFill>
                                  <a:srgbClr val="000000"/>
                                </a:solidFill>
                                <a:latin typeface="Cambria Math" panose="02040503050406030204" pitchFamily="18" charset="0"/>
                              </a:rPr>
                              <m:t>1</m:t>
                            </m:r>
                          </m:sub>
                        </m:sSub>
                      </m:sub>
                    </m:sSub>
                  </m:oMath>
                </a14:m>
                <a:r>
                  <a:t>, </a:t>
                </a:r>
                <a14:m>
                  <m:oMath xmlns:m="http://schemas.openxmlformats.org/officeDocument/2006/math">
                    <m:sSub>
                      <m:sSubPr>
                        <m:ctrlPr>
                          <a:rPr sz="5100" i="1">
                            <a:solidFill>
                              <a:srgbClr val="000000"/>
                            </a:solidFill>
                            <a:latin typeface="Cambria Math" panose="02040503050406030204" pitchFamily="18" charset="0"/>
                          </a:rPr>
                        </m:ctrlPr>
                      </m:sSubPr>
                      <m:e>
                        <m:r>
                          <m:rPr>
                            <m:sty m:val="p"/>
                          </m:rPr>
                          <a:rPr sz="5100" i="1">
                            <a:solidFill>
                              <a:srgbClr val="000000"/>
                            </a:solidFill>
                            <a:latin typeface="Cambria Math" panose="02040503050406030204" pitchFamily="18" charset="0"/>
                          </a:rPr>
                          <m:t>Δ</m:t>
                        </m:r>
                      </m:e>
                      <m:sub>
                        <m:r>
                          <a:rPr sz="5100" i="1">
                            <a:solidFill>
                              <a:srgbClr val="000000"/>
                            </a:solidFill>
                            <a:latin typeface="Cambria Math" panose="02040503050406030204" pitchFamily="18" charset="0"/>
                          </a:rPr>
                          <m:t>𝑟</m:t>
                        </m:r>
                      </m:sub>
                    </m:sSub>
                    <m:sSub>
                      <m:sSubPr>
                        <m:ctrlPr>
                          <a:rPr sz="5100" i="1">
                            <a:solidFill>
                              <a:srgbClr val="000000"/>
                            </a:solidFill>
                            <a:latin typeface="Cambria Math" panose="02040503050406030204" pitchFamily="18" charset="0"/>
                          </a:rPr>
                        </m:ctrlPr>
                      </m:sSubPr>
                      <m:e>
                        <m:r>
                          <a:rPr sz="5100" i="1">
                            <a:solidFill>
                              <a:srgbClr val="000000"/>
                            </a:solidFill>
                            <a:latin typeface="Cambria Math" panose="02040503050406030204" pitchFamily="18" charset="0"/>
                          </a:rPr>
                          <m:t>𝐻</m:t>
                        </m:r>
                      </m:e>
                      <m:sub>
                        <m:sSub>
                          <m:sSubPr>
                            <m:ctrlPr>
                              <a:rPr sz="5100" i="1">
                                <a:solidFill>
                                  <a:srgbClr val="000000"/>
                                </a:solidFill>
                                <a:latin typeface="Cambria Math" panose="02040503050406030204" pitchFamily="18" charset="0"/>
                              </a:rPr>
                            </m:ctrlPr>
                          </m:sSubPr>
                          <m:e>
                            <m:r>
                              <a:rPr sz="5100" i="1">
                                <a:solidFill>
                                  <a:srgbClr val="000000"/>
                                </a:solidFill>
                                <a:latin typeface="Cambria Math" panose="02040503050406030204" pitchFamily="18" charset="0"/>
                              </a:rPr>
                              <m:t>𝑇</m:t>
                            </m:r>
                          </m:e>
                          <m:sub>
                            <m:r>
                              <a:rPr sz="5100" i="1">
                                <a:solidFill>
                                  <a:srgbClr val="000000"/>
                                </a:solidFill>
                                <a:latin typeface="Cambria Math" panose="02040503050406030204" pitchFamily="18" charset="0"/>
                              </a:rPr>
                              <m:t>1</m:t>
                            </m:r>
                          </m:sub>
                        </m:sSub>
                        <m:r>
                          <a:rPr sz="5100" i="1">
                            <a:solidFill>
                              <a:srgbClr val="000000"/>
                            </a:solidFill>
                            <a:latin typeface="Cambria Math" panose="02040503050406030204" pitchFamily="18" charset="0"/>
                          </a:rPr>
                          <m:t>→</m:t>
                        </m:r>
                        <m:sSub>
                          <m:sSubPr>
                            <m:ctrlPr>
                              <a:rPr sz="5100" i="1">
                                <a:solidFill>
                                  <a:srgbClr val="000000"/>
                                </a:solidFill>
                                <a:latin typeface="Cambria Math" panose="02040503050406030204" pitchFamily="18" charset="0"/>
                              </a:rPr>
                            </m:ctrlPr>
                          </m:sSubPr>
                          <m:e>
                            <m:r>
                              <a:rPr sz="5100" i="1">
                                <a:solidFill>
                                  <a:srgbClr val="000000"/>
                                </a:solidFill>
                                <a:latin typeface="Cambria Math" panose="02040503050406030204" pitchFamily="18" charset="0"/>
                              </a:rPr>
                              <m:t>𝑇</m:t>
                            </m:r>
                          </m:e>
                          <m:sub>
                            <m:r>
                              <a:rPr sz="5100" i="1">
                                <a:solidFill>
                                  <a:srgbClr val="000000"/>
                                </a:solidFill>
                                <a:latin typeface="Cambria Math" panose="02040503050406030204" pitchFamily="18" charset="0"/>
                              </a:rPr>
                              <m:t>2</m:t>
                            </m:r>
                          </m:sub>
                        </m:sSub>
                        <m:r>
                          <a:rPr sz="5100" i="1">
                            <a:solidFill>
                              <a:srgbClr val="000000"/>
                            </a:solidFill>
                            <a:latin typeface="Cambria Math" panose="02040503050406030204" pitchFamily="18" charset="0"/>
                          </a:rPr>
                          <m:t>(</m:t>
                        </m:r>
                        <m:r>
                          <a:rPr sz="5100" i="1">
                            <a:solidFill>
                              <a:srgbClr val="000000"/>
                            </a:solidFill>
                            <a:latin typeface="Cambria Math" panose="02040503050406030204" pitchFamily="18" charset="0"/>
                          </a:rPr>
                          <m:t>𝑟𝑒𝑎𝑐𝑡𝑎𝑛𝑡𝑠</m:t>
                        </m:r>
                        <m:r>
                          <a:rPr sz="5100" i="1">
                            <a:solidFill>
                              <a:srgbClr val="000000"/>
                            </a:solidFill>
                            <a:latin typeface="Cambria Math" panose="02040503050406030204" pitchFamily="18" charset="0"/>
                          </a:rPr>
                          <m:t>)</m:t>
                        </m:r>
                      </m:sub>
                    </m:sSub>
                  </m:oMath>
                </a14:m>
                <a:r>
                  <a:t>, and </a:t>
                </a:r>
                <a14:m>
                  <m:oMath xmlns:m="http://schemas.openxmlformats.org/officeDocument/2006/math">
                    <m:sSub>
                      <m:sSubPr>
                        <m:ctrlPr>
                          <a:rPr sz="5100" i="1">
                            <a:solidFill>
                              <a:srgbClr val="000000"/>
                            </a:solidFill>
                            <a:latin typeface="Cambria Math" panose="02040503050406030204" pitchFamily="18" charset="0"/>
                          </a:rPr>
                        </m:ctrlPr>
                      </m:sSubPr>
                      <m:e>
                        <m:r>
                          <m:rPr>
                            <m:sty m:val="p"/>
                          </m:rPr>
                          <a:rPr sz="5100" i="1">
                            <a:solidFill>
                              <a:srgbClr val="000000"/>
                            </a:solidFill>
                            <a:latin typeface="Cambria Math" panose="02040503050406030204" pitchFamily="18" charset="0"/>
                          </a:rPr>
                          <m:t>Δ</m:t>
                        </m:r>
                      </m:e>
                      <m:sub>
                        <m:r>
                          <a:rPr sz="5100" i="1">
                            <a:solidFill>
                              <a:srgbClr val="000000"/>
                            </a:solidFill>
                            <a:latin typeface="Cambria Math" panose="02040503050406030204" pitchFamily="18" charset="0"/>
                          </a:rPr>
                          <m:t>𝑟</m:t>
                        </m:r>
                      </m:sub>
                    </m:sSub>
                    <m:sSub>
                      <m:sSubPr>
                        <m:ctrlPr>
                          <a:rPr sz="5100" i="1">
                            <a:solidFill>
                              <a:srgbClr val="000000"/>
                            </a:solidFill>
                            <a:latin typeface="Cambria Math" panose="02040503050406030204" pitchFamily="18" charset="0"/>
                          </a:rPr>
                        </m:ctrlPr>
                      </m:sSubPr>
                      <m:e>
                        <m:r>
                          <a:rPr sz="5100" i="1">
                            <a:solidFill>
                              <a:srgbClr val="000000"/>
                            </a:solidFill>
                            <a:latin typeface="Cambria Math" panose="02040503050406030204" pitchFamily="18" charset="0"/>
                          </a:rPr>
                          <m:t>𝐻</m:t>
                        </m:r>
                      </m:e>
                      <m:sub>
                        <m:sSub>
                          <m:sSubPr>
                            <m:ctrlPr>
                              <a:rPr sz="5100" i="1">
                                <a:solidFill>
                                  <a:srgbClr val="000000"/>
                                </a:solidFill>
                                <a:latin typeface="Cambria Math" panose="02040503050406030204" pitchFamily="18" charset="0"/>
                              </a:rPr>
                            </m:ctrlPr>
                          </m:sSubPr>
                          <m:e>
                            <m:r>
                              <a:rPr sz="5100" i="1">
                                <a:solidFill>
                                  <a:srgbClr val="000000"/>
                                </a:solidFill>
                                <a:latin typeface="Cambria Math" panose="02040503050406030204" pitchFamily="18" charset="0"/>
                              </a:rPr>
                              <m:t>𝑇</m:t>
                            </m:r>
                          </m:e>
                          <m:sub>
                            <m:r>
                              <a:rPr sz="5100" i="1">
                                <a:solidFill>
                                  <a:srgbClr val="000000"/>
                                </a:solidFill>
                                <a:latin typeface="Cambria Math" panose="02040503050406030204" pitchFamily="18" charset="0"/>
                              </a:rPr>
                              <m:t>1</m:t>
                            </m:r>
                          </m:sub>
                        </m:sSub>
                        <m:r>
                          <a:rPr sz="5100" i="1">
                            <a:solidFill>
                              <a:srgbClr val="000000"/>
                            </a:solidFill>
                            <a:latin typeface="Cambria Math" panose="02040503050406030204" pitchFamily="18" charset="0"/>
                          </a:rPr>
                          <m:t>→</m:t>
                        </m:r>
                        <m:sSub>
                          <m:sSubPr>
                            <m:ctrlPr>
                              <a:rPr sz="5100" i="1">
                                <a:solidFill>
                                  <a:srgbClr val="000000"/>
                                </a:solidFill>
                                <a:latin typeface="Cambria Math" panose="02040503050406030204" pitchFamily="18" charset="0"/>
                              </a:rPr>
                            </m:ctrlPr>
                          </m:sSubPr>
                          <m:e>
                            <m:r>
                              <a:rPr sz="5100" i="1">
                                <a:solidFill>
                                  <a:srgbClr val="000000"/>
                                </a:solidFill>
                                <a:latin typeface="Cambria Math" panose="02040503050406030204" pitchFamily="18" charset="0"/>
                              </a:rPr>
                              <m:t>𝑇</m:t>
                            </m:r>
                          </m:e>
                          <m:sub>
                            <m:r>
                              <a:rPr sz="5100" i="1">
                                <a:solidFill>
                                  <a:srgbClr val="000000"/>
                                </a:solidFill>
                                <a:latin typeface="Cambria Math" panose="02040503050406030204" pitchFamily="18" charset="0"/>
                              </a:rPr>
                              <m:t>2</m:t>
                            </m:r>
                          </m:sub>
                        </m:sSub>
                        <m:r>
                          <a:rPr sz="5100" i="1">
                            <a:solidFill>
                              <a:srgbClr val="000000"/>
                            </a:solidFill>
                            <a:latin typeface="Cambria Math" panose="02040503050406030204" pitchFamily="18" charset="0"/>
                          </a:rPr>
                          <m:t>(</m:t>
                        </m:r>
                        <m:r>
                          <a:rPr sz="5100" i="1">
                            <a:solidFill>
                              <a:srgbClr val="000000"/>
                            </a:solidFill>
                            <a:latin typeface="Cambria Math" panose="02040503050406030204" pitchFamily="18" charset="0"/>
                          </a:rPr>
                          <m:t>𝑝𝑟𝑜𝑑𝑢𝑐𝑡𝑠</m:t>
                        </m:r>
                        <m:r>
                          <a:rPr sz="5100" i="1">
                            <a:solidFill>
                              <a:srgbClr val="000000"/>
                            </a:solidFill>
                            <a:latin typeface="Cambria Math" panose="02040503050406030204" pitchFamily="18" charset="0"/>
                          </a:rPr>
                          <m:t>)</m:t>
                        </m:r>
                      </m:sub>
                    </m:sSub>
                  </m:oMath>
                </a14:m>
                <a:r>
                  <a:t>.</a:t>
                </a:r>
              </a:p>
            </p:txBody>
          </p:sp>
        </mc:Choice>
        <mc:Fallback xmlns="">
          <p:sp>
            <p:nvSpPr>
              <p:cNvPr id="440" name="Exercise: given this themodynamic cycle, write an expression for   in terms of   ,  , and  ."/>
              <p:cNvSpPr txBox="1">
                <a:spLocks noRot="1" noChangeAspect="1" noMove="1" noResize="1" noEditPoints="1" noAdjustHandles="1" noChangeArrowheads="1" noChangeShapeType="1" noTextEdit="1"/>
              </p:cNvSpPr>
              <p:nvPr/>
            </p:nvSpPr>
            <p:spPr>
              <a:xfrm>
                <a:off x="920687" y="611980"/>
                <a:ext cx="22542627" cy="1697000"/>
              </a:xfrm>
              <a:prstGeom prst="rect">
                <a:avLst/>
              </a:prstGeom>
              <a:blipFill>
                <a:blip r:embed="rId7"/>
                <a:stretch>
                  <a:fillRect t="-2985" b="-14179"/>
                </a:stretch>
              </a:blip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r>
                  <a:rPr lang="en-US">
                    <a:noFill/>
                  </a:rPr>
                  <a:t> </a:t>
                </a:r>
              </a:p>
            </p:txBody>
          </p:sp>
        </mc:Fallback>
      </mc:AlternateContent>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iterate>
                                    <p:tmAbs val="0"/>
                                  </p:iterate>
                                  <p:childTnLst>
                                    <p:set>
                                      <p:cBhvr>
                                        <p:cTn id="6" fill="hold"/>
                                        <p:tgtEl>
                                          <p:spTgt spid="4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8" grpId="1" animBg="1" advAuto="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42" name="Screen Shot 2016-09-13 at 1.26.15 PM.png" descr="Screen Shot 2016-09-13 at 1.26.15 PM.png"/>
          <p:cNvPicPr>
            <a:picLocks noChangeAspect="1"/>
          </p:cNvPicPr>
          <p:nvPr/>
        </p:nvPicPr>
        <p:blipFill>
          <a:blip r:embed="rId2"/>
          <a:stretch>
            <a:fillRect/>
          </a:stretch>
        </p:blipFill>
        <p:spPr>
          <a:xfrm>
            <a:off x="3764260" y="4739178"/>
            <a:ext cx="8858251" cy="7554516"/>
          </a:xfrm>
          <a:prstGeom prst="rect">
            <a:avLst/>
          </a:prstGeom>
          <a:ln w="12700">
            <a:miter lim="400000"/>
          </a:ln>
        </p:spPr>
      </p:pic>
      <p:sp>
        <p:nvSpPr>
          <p:cNvPr id="443" name="Rectangle"/>
          <p:cNvSpPr/>
          <p:nvPr/>
        </p:nvSpPr>
        <p:spPr>
          <a:xfrm>
            <a:off x="3842870" y="11057353"/>
            <a:ext cx="8768954" cy="1251615"/>
          </a:xfrm>
          <a:prstGeom prst="rect">
            <a:avLst/>
          </a:prstGeom>
          <a:ln w="50800">
            <a:solidFill>
              <a:srgbClr val="000000"/>
            </a:solidFill>
            <a:miter lim="400000"/>
          </a:ln>
          <a:effectLst>
            <a:outerShdw blurRad="50800" dist="25400" dir="5400000" rotWithShape="0">
              <a:srgbClr val="000000">
                <a:alpha val="50000"/>
              </a:srgbClr>
            </a:outerShdw>
          </a:effectLst>
        </p:spPr>
        <p:txBody>
          <a:bodyPr lIns="71437" tIns="71437" rIns="71437" bIns="71437" anchor="ctr"/>
          <a:lstStyle/>
          <a:p>
            <a:pPr>
              <a:defRPr>
                <a:solidFill>
                  <a:srgbClr val="FFFFFF"/>
                </a:solidFill>
                <a:latin typeface="+mn-lt"/>
                <a:ea typeface="+mn-ea"/>
                <a:cs typeface="+mn-cs"/>
                <a:sym typeface="Helvetica Light"/>
              </a:defRPr>
            </a:pPr>
            <a:endParaRPr/>
          </a:p>
        </p:txBody>
      </p:sp>
      <p:pic>
        <p:nvPicPr>
          <p:cNvPr id="444" name="Screen Shot 2016-09-13 at 1.27.32 PM.png" descr="Screen Shot 2016-09-13 at 1.27.32 PM.png"/>
          <p:cNvPicPr>
            <a:picLocks noChangeAspect="1"/>
          </p:cNvPicPr>
          <p:nvPr/>
        </p:nvPicPr>
        <p:blipFill>
          <a:blip r:embed="rId3"/>
          <a:stretch>
            <a:fillRect/>
          </a:stretch>
        </p:blipFill>
        <p:spPr>
          <a:xfrm>
            <a:off x="6075164" y="437940"/>
            <a:ext cx="12233672" cy="3143251"/>
          </a:xfrm>
          <a:prstGeom prst="rect">
            <a:avLst/>
          </a:prstGeom>
          <a:ln w="12700">
            <a:miter lim="400000"/>
          </a:ln>
        </p:spPr>
      </p:pic>
      <p:pic>
        <p:nvPicPr>
          <p:cNvPr id="445" name="Screen Shot 2016-09-13 at 1.27.41 PM.png" descr="Screen Shot 2016-09-13 at 1.27.41 PM.png"/>
          <p:cNvPicPr>
            <a:picLocks noChangeAspect="1"/>
          </p:cNvPicPr>
          <p:nvPr/>
        </p:nvPicPr>
        <p:blipFill>
          <a:blip r:embed="rId4"/>
          <a:stretch>
            <a:fillRect/>
          </a:stretch>
        </p:blipFill>
        <p:spPr>
          <a:xfrm>
            <a:off x="14798039" y="11621923"/>
            <a:ext cx="5822157" cy="1589486"/>
          </a:xfrm>
          <a:prstGeom prst="rect">
            <a:avLst/>
          </a:prstGeom>
          <a:ln w="12700">
            <a:miter lim="400000"/>
          </a:ln>
        </p:spPr>
      </p:pic>
      <p:pic>
        <p:nvPicPr>
          <p:cNvPr id="446" name="Image" descr="Image"/>
          <p:cNvPicPr>
            <a:picLocks noChangeAspect="1"/>
          </p:cNvPicPr>
          <p:nvPr/>
        </p:nvPicPr>
        <p:blipFill>
          <a:blip r:embed="rId5"/>
          <a:stretch>
            <a:fillRect/>
          </a:stretch>
        </p:blipFill>
        <p:spPr>
          <a:xfrm>
            <a:off x="15298101" y="3696890"/>
            <a:ext cx="4822033" cy="6322220"/>
          </a:xfrm>
          <a:prstGeom prst="rect">
            <a:avLst/>
          </a:prstGeom>
          <a:ln w="12700">
            <a:miter lim="400000"/>
          </a:ln>
        </p:spPr>
      </p:pic>
      <p:sp>
        <p:nvSpPr>
          <p:cNvPr id="447"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24</a:t>
            </a:fld>
            <a:endParaRP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9" name="Thermodynamic cycles in ΔG○ calculations"/>
          <p:cNvSpPr txBox="1">
            <a:spLocks noGrp="1"/>
          </p:cNvSpPr>
          <p:nvPr>
            <p:ph type="title"/>
          </p:nvPr>
        </p:nvSpPr>
        <p:spPr>
          <a:prstGeom prst="rect">
            <a:avLst/>
          </a:prstGeom>
        </p:spPr>
        <p:txBody>
          <a:bodyPr/>
          <a:lstStyle/>
          <a:p>
            <a:pPr defTabSz="649009">
              <a:defRPr sz="8848"/>
            </a:pPr>
            <a:r>
              <a:t>Thermodynamic cycles in ΔG</a:t>
            </a:r>
            <a:r>
              <a:rPr baseline="31999"/>
              <a:t>○ </a:t>
            </a:r>
            <a:r>
              <a:t>calculations </a:t>
            </a:r>
          </a:p>
        </p:txBody>
      </p:sp>
      <mc:AlternateContent xmlns:mc="http://schemas.openxmlformats.org/markup-compatibility/2006" xmlns:a14="http://schemas.microsoft.com/office/drawing/2010/main">
        <mc:Choice Requires="a14">
          <p:sp>
            <p:nvSpPr>
              <p:cNvPr id="450" name="Most binding free energy calculations use thermodynamic cycles that include alchemical processes where intermediate states do not necessarily model a physical system, e.g.…"/>
              <p:cNvSpPr txBox="1">
                <a:spLocks noGrp="1"/>
              </p:cNvSpPr>
              <p:nvPr>
                <p:ph type="body" idx="1"/>
              </p:nvPr>
            </p:nvSpPr>
            <p:spPr>
              <a:prstGeom prst="rect">
                <a:avLst/>
              </a:prstGeom>
            </p:spPr>
            <p:txBody>
              <a:bodyPr>
                <a:normAutofit lnSpcReduction="10000"/>
              </a:bodyPr>
              <a:lstStyle/>
              <a:p>
                <a:r>
                  <a:rPr dirty="0"/>
                  <a:t>Most binding free energy calculations use thermodynamic cycles that include </a:t>
                </a:r>
                <a:r>
                  <a:rPr i="1" dirty="0">
                    <a:latin typeface="+mj-lt"/>
                    <a:ea typeface="+mj-ea"/>
                    <a:cs typeface="+mj-cs"/>
                    <a:sym typeface="Helvetica"/>
                  </a:rPr>
                  <a:t>alchemical</a:t>
                </a:r>
                <a:r>
                  <a:rPr dirty="0"/>
                  <a:t> processes where intermediate states do not necessarily model a physical system, e.g.</a:t>
                </a:r>
              </a:p>
              <a:p>
                <a:pPr lvl="1"/>
                <a:r>
                  <a:rPr dirty="0"/>
                  <a:t>a drug lead can be morphed into a similar compound (McCammon’s idea)</a:t>
                </a:r>
              </a:p>
              <a:p>
                <a:pPr lvl="1"/>
                <a:r>
                  <a:rPr dirty="0"/>
                  <a:t>harmonic restraints can be added to keep atoms in a certain position</a:t>
                </a:r>
              </a:p>
              <a:p>
                <a:pPr lvl="1"/>
                <a:r>
                  <a:rPr dirty="0"/>
                  <a:t>states whose energy is a linear interpolation between states 0 and 1 can be defined as, </a:t>
                </a:r>
                <a14:m>
                  <m:oMath xmlns:m="http://schemas.openxmlformats.org/officeDocument/2006/math">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𝑈</m:t>
                        </m:r>
                      </m:e>
                      <m:sub>
                        <m:r>
                          <a:rPr sz="6100" i="1">
                            <a:solidFill>
                              <a:srgbClr val="000000"/>
                            </a:solidFill>
                            <a:latin typeface="Cambria Math" panose="02040503050406030204" pitchFamily="18" charset="0"/>
                          </a:rPr>
                          <m:t>𝜆</m:t>
                        </m:r>
                      </m:sub>
                    </m:sSub>
                    <m:r>
                      <a:rPr sz="6100" i="1">
                        <a:solidFill>
                          <a:srgbClr val="000000"/>
                        </a:solidFill>
                        <a:latin typeface="Cambria Math" panose="02040503050406030204" pitchFamily="18" charset="0"/>
                      </a:rPr>
                      <m:t>(</m:t>
                    </m:r>
                    <m:sSup>
                      <m:sSupPr>
                        <m:ctrlPr>
                          <a:rPr sz="6100" i="1">
                            <a:solidFill>
                              <a:srgbClr val="000000"/>
                            </a:solidFill>
                            <a:latin typeface="Cambria Math" panose="02040503050406030204" pitchFamily="18" charset="0"/>
                          </a:rPr>
                        </m:ctrlPr>
                      </m:sSupPr>
                      <m:e>
                        <m:r>
                          <a:rPr sz="6100" i="1">
                            <a:solidFill>
                              <a:srgbClr val="000000"/>
                            </a:solidFill>
                            <a:latin typeface="Cambria Math" panose="02040503050406030204" pitchFamily="18" charset="0"/>
                          </a:rPr>
                          <m:t>𝑟</m:t>
                        </m:r>
                      </m:e>
                      <m:sup>
                        <m:r>
                          <a:rPr sz="6100" i="1">
                            <a:solidFill>
                              <a:srgbClr val="000000"/>
                            </a:solidFill>
                            <a:latin typeface="Cambria Math" panose="02040503050406030204" pitchFamily="18" charset="0"/>
                          </a:rPr>
                          <m:t>𝑁</m:t>
                        </m:r>
                      </m:sup>
                    </m:sSup>
                    <m:r>
                      <a:rPr sz="6100" i="1">
                        <a:solidFill>
                          <a:srgbClr val="000000"/>
                        </a:solidFill>
                        <a:latin typeface="Cambria Math" panose="02040503050406030204" pitchFamily="18" charset="0"/>
                      </a:rPr>
                      <m:t>)=(1−</m:t>
                    </m:r>
                    <m:r>
                      <a:rPr sz="6100" i="1">
                        <a:solidFill>
                          <a:srgbClr val="000000"/>
                        </a:solidFill>
                        <a:latin typeface="Cambria Math" panose="02040503050406030204" pitchFamily="18" charset="0"/>
                      </a:rPr>
                      <m:t>𝜆</m:t>
                    </m:r>
                    <m:r>
                      <a:rPr sz="6100" i="1">
                        <a:solidFill>
                          <a:srgbClr val="000000"/>
                        </a:solidFill>
                        <a:latin typeface="Cambria Math" panose="02040503050406030204" pitchFamily="18" charset="0"/>
                      </a:rPr>
                      <m:t>)</m:t>
                    </m:r>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𝑈</m:t>
                        </m:r>
                      </m:e>
                      <m:sub>
                        <m:r>
                          <a:rPr sz="6100" i="1">
                            <a:solidFill>
                              <a:srgbClr val="000000"/>
                            </a:solidFill>
                            <a:latin typeface="Cambria Math" panose="02040503050406030204" pitchFamily="18" charset="0"/>
                          </a:rPr>
                          <m:t>0</m:t>
                        </m:r>
                      </m:sub>
                    </m:sSub>
                    <m:r>
                      <a:rPr sz="6100" i="1">
                        <a:solidFill>
                          <a:srgbClr val="000000"/>
                        </a:solidFill>
                        <a:latin typeface="Cambria Math" panose="02040503050406030204" pitchFamily="18" charset="0"/>
                      </a:rPr>
                      <m:t>(</m:t>
                    </m:r>
                    <m:sSup>
                      <m:sSupPr>
                        <m:ctrlPr>
                          <a:rPr sz="6100" i="1">
                            <a:solidFill>
                              <a:srgbClr val="000000"/>
                            </a:solidFill>
                            <a:latin typeface="Cambria Math" panose="02040503050406030204" pitchFamily="18" charset="0"/>
                          </a:rPr>
                        </m:ctrlPr>
                      </m:sSupPr>
                      <m:e>
                        <m:r>
                          <a:rPr sz="6100" i="1">
                            <a:solidFill>
                              <a:srgbClr val="000000"/>
                            </a:solidFill>
                            <a:latin typeface="Cambria Math" panose="02040503050406030204" pitchFamily="18" charset="0"/>
                          </a:rPr>
                          <m:t>𝑟</m:t>
                        </m:r>
                      </m:e>
                      <m:sup>
                        <m:r>
                          <a:rPr sz="6100" i="1">
                            <a:solidFill>
                              <a:srgbClr val="000000"/>
                            </a:solidFill>
                            <a:latin typeface="Cambria Math" panose="02040503050406030204" pitchFamily="18" charset="0"/>
                          </a:rPr>
                          <m:t>𝑁</m:t>
                        </m:r>
                      </m:sup>
                    </m:sSup>
                    <m:r>
                      <a:rPr sz="6100" i="1">
                        <a:solidFill>
                          <a:srgbClr val="000000"/>
                        </a:solidFill>
                        <a:latin typeface="Cambria Math" panose="02040503050406030204" pitchFamily="18" charset="0"/>
                      </a:rPr>
                      <m:t>)+</m:t>
                    </m:r>
                    <m:r>
                      <a:rPr sz="6100" i="1">
                        <a:solidFill>
                          <a:srgbClr val="000000"/>
                        </a:solidFill>
                        <a:latin typeface="Cambria Math" panose="02040503050406030204" pitchFamily="18" charset="0"/>
                      </a:rPr>
                      <m:t>𝜆</m:t>
                    </m:r>
                    <m:sSub>
                      <m:sSubPr>
                        <m:ctrlPr>
                          <a:rPr sz="6100" i="1">
                            <a:solidFill>
                              <a:srgbClr val="000000"/>
                            </a:solidFill>
                            <a:latin typeface="Cambria Math" panose="02040503050406030204" pitchFamily="18" charset="0"/>
                          </a:rPr>
                        </m:ctrlPr>
                      </m:sSubPr>
                      <m:e>
                        <m:r>
                          <a:rPr sz="6100" i="1">
                            <a:solidFill>
                              <a:srgbClr val="000000"/>
                            </a:solidFill>
                            <a:latin typeface="Cambria Math" panose="02040503050406030204" pitchFamily="18" charset="0"/>
                          </a:rPr>
                          <m:t>𝑈</m:t>
                        </m:r>
                      </m:e>
                      <m:sub>
                        <m:r>
                          <a:rPr sz="6100" i="1">
                            <a:solidFill>
                              <a:srgbClr val="000000"/>
                            </a:solidFill>
                            <a:latin typeface="Cambria Math" panose="02040503050406030204" pitchFamily="18" charset="0"/>
                          </a:rPr>
                          <m:t>1</m:t>
                        </m:r>
                      </m:sub>
                    </m:sSub>
                    <m:r>
                      <a:rPr sz="6100" i="1">
                        <a:solidFill>
                          <a:srgbClr val="000000"/>
                        </a:solidFill>
                        <a:latin typeface="Cambria Math" panose="02040503050406030204" pitchFamily="18" charset="0"/>
                      </a:rPr>
                      <m:t>(</m:t>
                    </m:r>
                    <m:sSup>
                      <m:sSupPr>
                        <m:ctrlPr>
                          <a:rPr sz="6100" i="1">
                            <a:solidFill>
                              <a:srgbClr val="000000"/>
                            </a:solidFill>
                            <a:latin typeface="Cambria Math" panose="02040503050406030204" pitchFamily="18" charset="0"/>
                          </a:rPr>
                        </m:ctrlPr>
                      </m:sSupPr>
                      <m:e>
                        <m:r>
                          <a:rPr sz="6100" i="1">
                            <a:solidFill>
                              <a:srgbClr val="000000"/>
                            </a:solidFill>
                            <a:latin typeface="Cambria Math" panose="02040503050406030204" pitchFamily="18" charset="0"/>
                          </a:rPr>
                          <m:t>𝑟</m:t>
                        </m:r>
                      </m:e>
                      <m:sup>
                        <m:r>
                          <a:rPr sz="6100" i="1">
                            <a:solidFill>
                              <a:srgbClr val="000000"/>
                            </a:solidFill>
                            <a:latin typeface="Cambria Math" panose="02040503050406030204" pitchFamily="18" charset="0"/>
                          </a:rPr>
                          <m:t>𝑁</m:t>
                        </m:r>
                      </m:sup>
                    </m:sSup>
                    <m:r>
                      <a:rPr sz="6100" i="1">
                        <a:solidFill>
                          <a:srgbClr val="000000"/>
                        </a:solidFill>
                        <a:latin typeface="Cambria Math" panose="02040503050406030204" pitchFamily="18" charset="0"/>
                      </a:rPr>
                      <m:t>)</m:t>
                    </m:r>
                  </m:oMath>
                </a14:m>
                <a:endParaRPr dirty="0"/>
              </a:p>
              <a:p>
                <a:r>
                  <a:rPr i="1" dirty="0">
                    <a:latin typeface="+mj-lt"/>
                    <a:ea typeface="+mj-ea"/>
                    <a:cs typeface="+mj-cs"/>
                    <a:sym typeface="Helvetica"/>
                  </a:rPr>
                  <a:t>Absolute</a:t>
                </a:r>
                <a:r>
                  <a:rPr dirty="0"/>
                  <a:t> ΔG</a:t>
                </a:r>
                <a:r>
                  <a:rPr baseline="31999" dirty="0"/>
                  <a:t>○</a:t>
                </a:r>
                <a:r>
                  <a:rPr dirty="0"/>
                  <a:t> often use</a:t>
                </a:r>
              </a:p>
              <a:p>
                <a:pPr lvl="1"/>
                <a:r>
                  <a:rPr dirty="0"/>
                  <a:t>restraints to physically separate the receptor and ligand</a:t>
                </a:r>
              </a:p>
              <a:p>
                <a:pPr lvl="1"/>
                <a:r>
                  <a:rPr dirty="0"/>
                  <a:t>alchemical transformations to decouple a receptor and ligand</a:t>
                </a:r>
                <a:endParaRPr lang="en-US" dirty="0"/>
              </a:p>
              <a:p>
                <a:r>
                  <a:rPr i="1" dirty="0">
                    <a:latin typeface="+mj-lt"/>
                    <a:ea typeface="+mj-ea"/>
                    <a:cs typeface="+mj-cs"/>
                    <a:sym typeface="Helvetica"/>
                  </a:rPr>
                  <a:t>Relative</a:t>
                </a:r>
                <a:r>
                  <a:rPr dirty="0"/>
                  <a:t> binding free energies, ΔΔG</a:t>
                </a:r>
                <a:r>
                  <a:rPr baseline="31999" dirty="0"/>
                  <a:t>○</a:t>
                </a:r>
                <a:r>
                  <a:rPr dirty="0"/>
                  <a:t>, are usually calculated by transforming one small molecule into another</a:t>
                </a:r>
                <a:r>
                  <a:rPr lang="en-US" dirty="0"/>
                  <a:t>. This is easier.</a:t>
                </a:r>
              </a:p>
              <a:p>
                <a:r>
                  <a:rPr lang="el-GR" dirty="0"/>
                  <a:t>Δ</a:t>
                </a:r>
                <a:r>
                  <a:rPr lang="en-US" dirty="0"/>
                  <a:t>G</a:t>
                </a:r>
                <a:r>
                  <a:rPr lang="en-US" baseline="31999" dirty="0"/>
                  <a:t>○</a:t>
                </a:r>
                <a:r>
                  <a:rPr lang="en-US" dirty="0"/>
                  <a:t> most useful for new targets and </a:t>
                </a:r>
                <a:r>
                  <a:rPr lang="el-GR" dirty="0"/>
                  <a:t>ΔΔ</a:t>
                </a:r>
                <a:r>
                  <a:rPr lang="en-US" dirty="0"/>
                  <a:t>G</a:t>
                </a:r>
                <a:r>
                  <a:rPr lang="en-US" baseline="31999" dirty="0"/>
                  <a:t>○</a:t>
                </a:r>
                <a:r>
                  <a:rPr lang="en-US" dirty="0"/>
                  <a:t> for lead optimization</a:t>
                </a:r>
                <a:endParaRPr dirty="0"/>
              </a:p>
            </p:txBody>
          </p:sp>
        </mc:Choice>
        <mc:Fallback xmlns="">
          <p:sp>
            <p:nvSpPr>
              <p:cNvPr id="450" name="Most binding free energy calculations use thermodynamic cycles that include alchemical processes where intermediate states do not necessarily model a physical system, e.g.…"/>
              <p:cNvSpPr txBox="1">
                <a:spLocks noGrp="1" noRot="1" noChangeAspect="1" noMove="1" noResize="1" noEditPoints="1" noAdjustHandles="1" noChangeArrowheads="1" noChangeShapeType="1" noTextEdit="1"/>
              </p:cNvSpPr>
              <p:nvPr>
                <p:ph type="body" idx="1"/>
              </p:nvPr>
            </p:nvSpPr>
            <p:spPr>
              <a:prstGeom prst="rect">
                <a:avLst/>
              </a:prstGeom>
              <a:blipFill>
                <a:blip r:embed="rId2"/>
                <a:stretch>
                  <a:fillRect l="-714" r="-384"/>
                </a:stretch>
              </a:blipFill>
            </p:spPr>
            <p:txBody>
              <a:bodyPr/>
              <a:lstStyle/>
              <a:p>
                <a:r>
                  <a:rPr lang="en-US">
                    <a:noFill/>
                  </a:rPr>
                  <a:t> </a:t>
                </a:r>
              </a:p>
            </p:txBody>
          </p:sp>
        </mc:Fallback>
      </mc:AlternateContent>
      <p:sp>
        <p:nvSpPr>
          <p:cNvPr id="451"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25</a:t>
            </a:fld>
            <a:endParaRP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3" name="A Thermodynamic Cycle for Absolute ΔG of Binding"/>
          <p:cNvSpPr txBox="1">
            <a:spLocks noGrp="1"/>
          </p:cNvSpPr>
          <p:nvPr>
            <p:ph type="title" idx="4294967295"/>
          </p:nvPr>
        </p:nvSpPr>
        <p:spPr>
          <a:xfrm>
            <a:off x="3958828" y="0"/>
            <a:ext cx="16466344" cy="1446610"/>
          </a:xfrm>
          <a:prstGeom prst="rect">
            <a:avLst/>
          </a:prstGeom>
        </p:spPr>
        <p:txBody>
          <a:bodyPr lIns="53578" tIns="53578" rIns="53578" bIns="53578">
            <a:normAutofit fontScale="90000"/>
          </a:bodyPr>
          <a:lstStyle>
            <a:lvl1pPr defTabSz="1311592">
              <a:defRPr sz="5616" b="0">
                <a:uFill>
                  <a:solidFill>
                    <a:srgbClr val="000000"/>
                  </a:solidFill>
                </a:uFill>
                <a:latin typeface="Arial"/>
                <a:ea typeface="Arial"/>
                <a:cs typeface="Arial"/>
                <a:sym typeface="Arial"/>
              </a:defRPr>
            </a:lvl1pPr>
          </a:lstStyle>
          <a:p>
            <a:pPr>
              <a:defRPr sz="6192"/>
            </a:pPr>
            <a:r>
              <a:rPr sz="5616"/>
              <a:t>A Thermodynamic Cycle for Absolute ΔG of Binding</a:t>
            </a:r>
          </a:p>
        </p:txBody>
      </p:sp>
      <p:sp>
        <p:nvSpPr>
          <p:cNvPr id="454" name="Cycle: Boresch et al., J. Phys. Chem. B 107:9535 (2003)…"/>
          <p:cNvSpPr txBox="1"/>
          <p:nvPr/>
        </p:nvSpPr>
        <p:spPr>
          <a:xfrm>
            <a:off x="3048000" y="7018734"/>
            <a:ext cx="5643563" cy="152995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53578" tIns="53578" rIns="53578" bIns="53578"/>
          <a:lstStyle/>
          <a:p>
            <a:pPr algn="l" defTabSz="1821656">
              <a:defRPr>
                <a:uFill>
                  <a:solidFill>
                    <a:srgbClr val="000000"/>
                  </a:solidFill>
                </a:uFill>
                <a:latin typeface="Arial"/>
                <a:ea typeface="Arial"/>
                <a:cs typeface="Arial"/>
                <a:sym typeface="Arial"/>
              </a:defRPr>
            </a:pPr>
            <a:r>
              <a:rPr sz="2400"/>
              <a:t>Cycle: Boresch et al., J. Phys. Chem. B 107:9535 (2003)</a:t>
            </a:r>
          </a:p>
          <a:p>
            <a:pPr algn="l" defTabSz="1821656">
              <a:defRPr>
                <a:uFill>
                  <a:solidFill>
                    <a:srgbClr val="000000"/>
                  </a:solidFill>
                </a:uFill>
                <a:latin typeface="Arial"/>
                <a:ea typeface="Arial"/>
                <a:cs typeface="Arial"/>
                <a:sym typeface="Arial"/>
              </a:defRPr>
            </a:pPr>
            <a:r>
              <a:rPr sz="2400"/>
              <a:t>See also Gilson, Biophys J. 1997.</a:t>
            </a:r>
          </a:p>
          <a:p>
            <a:pPr algn="l" defTabSz="1821656">
              <a:defRPr>
                <a:uFill>
                  <a:solidFill>
                    <a:srgbClr val="000000"/>
                  </a:solidFill>
                </a:uFill>
                <a:latin typeface="Arial"/>
                <a:ea typeface="Arial"/>
                <a:cs typeface="Arial"/>
                <a:sym typeface="Arial"/>
              </a:defRPr>
            </a:pPr>
            <a:r>
              <a:rPr sz="2400"/>
              <a:t>From [1]</a:t>
            </a:r>
          </a:p>
        </p:txBody>
      </p:sp>
      <p:grpSp>
        <p:nvGrpSpPr>
          <p:cNvPr id="457" name="image43.png"/>
          <p:cNvGrpSpPr/>
          <p:nvPr/>
        </p:nvGrpSpPr>
        <p:grpSpPr>
          <a:xfrm>
            <a:off x="3296443" y="1592659"/>
            <a:ext cx="4124327" cy="3330577"/>
            <a:chOff x="0" y="0"/>
            <a:chExt cx="4124326" cy="3330576"/>
          </a:xfrm>
        </p:grpSpPr>
        <p:pic>
          <p:nvPicPr>
            <p:cNvPr id="456" name="image43.png" descr="image43.png"/>
            <p:cNvPicPr>
              <a:picLocks noChangeAspect="1"/>
            </p:cNvPicPr>
            <p:nvPr/>
          </p:nvPicPr>
          <p:blipFill>
            <a:blip r:embed="rId3"/>
            <a:stretch>
              <a:fillRect/>
            </a:stretch>
          </p:blipFill>
          <p:spPr>
            <a:xfrm>
              <a:off x="215900" y="139700"/>
              <a:ext cx="3692527" cy="2771777"/>
            </a:xfrm>
            <a:prstGeom prst="rect">
              <a:avLst/>
            </a:prstGeom>
            <a:ln>
              <a:noFill/>
            </a:ln>
            <a:effectLst/>
          </p:spPr>
        </p:pic>
        <p:pic>
          <p:nvPicPr>
            <p:cNvPr id="455" name="image43.png" descr="image43.png"/>
            <p:cNvPicPr>
              <a:picLocks/>
            </p:cNvPicPr>
            <p:nvPr/>
          </p:nvPicPr>
          <p:blipFill>
            <a:blip r:embed="rId4"/>
            <a:stretch>
              <a:fillRect/>
            </a:stretch>
          </p:blipFill>
          <p:spPr>
            <a:xfrm>
              <a:off x="0" y="-1"/>
              <a:ext cx="4124327" cy="3330578"/>
            </a:xfrm>
            <a:prstGeom prst="rect">
              <a:avLst/>
            </a:prstGeom>
            <a:effectLst/>
          </p:spPr>
        </p:pic>
      </p:grpSp>
      <p:pic>
        <p:nvPicPr>
          <p:cNvPr id="458" name="image44.pdf" descr="image44.pdf"/>
          <p:cNvPicPr>
            <a:picLocks noChangeAspect="1"/>
          </p:cNvPicPr>
          <p:nvPr/>
        </p:nvPicPr>
        <p:blipFill>
          <a:blip r:embed="rId5"/>
          <a:stretch>
            <a:fillRect/>
          </a:stretch>
        </p:blipFill>
        <p:spPr>
          <a:xfrm>
            <a:off x="7530703" y="2411015"/>
            <a:ext cx="1095377" cy="1155701"/>
          </a:xfrm>
          <a:prstGeom prst="rect">
            <a:avLst/>
          </a:prstGeom>
          <a:ln w="12700">
            <a:miter lim="400000"/>
          </a:ln>
        </p:spPr>
      </p:pic>
      <p:grpSp>
        <p:nvGrpSpPr>
          <p:cNvPr id="461" name="image45.png"/>
          <p:cNvGrpSpPr/>
          <p:nvPr/>
        </p:nvGrpSpPr>
        <p:grpSpPr>
          <a:xfrm>
            <a:off x="8957865" y="1592659"/>
            <a:ext cx="4178301" cy="3336927"/>
            <a:chOff x="0" y="0"/>
            <a:chExt cx="4178300" cy="3336926"/>
          </a:xfrm>
        </p:grpSpPr>
        <p:pic>
          <p:nvPicPr>
            <p:cNvPr id="460" name="image45.png" descr="image45.png"/>
            <p:cNvPicPr>
              <a:picLocks noChangeAspect="1"/>
            </p:cNvPicPr>
            <p:nvPr/>
          </p:nvPicPr>
          <p:blipFill>
            <a:blip r:embed="rId6"/>
            <a:stretch>
              <a:fillRect/>
            </a:stretch>
          </p:blipFill>
          <p:spPr>
            <a:xfrm>
              <a:off x="215900" y="139700"/>
              <a:ext cx="3746500" cy="2778127"/>
            </a:xfrm>
            <a:prstGeom prst="rect">
              <a:avLst/>
            </a:prstGeom>
            <a:ln>
              <a:noFill/>
            </a:ln>
            <a:effectLst/>
          </p:spPr>
        </p:pic>
        <p:pic>
          <p:nvPicPr>
            <p:cNvPr id="459" name="image45.png" descr="image45.png"/>
            <p:cNvPicPr>
              <a:picLocks/>
            </p:cNvPicPr>
            <p:nvPr/>
          </p:nvPicPr>
          <p:blipFill>
            <a:blip r:embed="rId7"/>
            <a:stretch>
              <a:fillRect/>
            </a:stretch>
          </p:blipFill>
          <p:spPr>
            <a:xfrm>
              <a:off x="0" y="0"/>
              <a:ext cx="4178300" cy="3336927"/>
            </a:xfrm>
            <a:prstGeom prst="rect">
              <a:avLst/>
            </a:prstGeom>
            <a:effectLst/>
          </p:spPr>
        </p:pic>
      </p:grpSp>
      <p:pic>
        <p:nvPicPr>
          <p:cNvPr id="462" name="image46.png" descr="image46.png"/>
          <p:cNvPicPr>
            <a:picLocks noChangeAspect="1"/>
          </p:cNvPicPr>
          <p:nvPr/>
        </p:nvPicPr>
        <p:blipFill>
          <a:blip r:embed="rId8"/>
          <a:stretch>
            <a:fillRect/>
          </a:stretch>
        </p:blipFill>
        <p:spPr>
          <a:xfrm>
            <a:off x="13477875" y="2018109"/>
            <a:ext cx="2000131" cy="1910954"/>
          </a:xfrm>
          <a:prstGeom prst="rect">
            <a:avLst/>
          </a:prstGeom>
          <a:ln w="12700">
            <a:miter lim="400000"/>
          </a:ln>
        </p:spPr>
      </p:pic>
      <p:grpSp>
        <p:nvGrpSpPr>
          <p:cNvPr id="465" name="image47.png"/>
          <p:cNvGrpSpPr/>
          <p:nvPr/>
        </p:nvGrpSpPr>
        <p:grpSpPr>
          <a:xfrm>
            <a:off x="15887303" y="1574800"/>
            <a:ext cx="4178301" cy="3375027"/>
            <a:chOff x="0" y="0"/>
            <a:chExt cx="4178300" cy="3375026"/>
          </a:xfrm>
        </p:grpSpPr>
        <p:pic>
          <p:nvPicPr>
            <p:cNvPr id="464" name="image47.png" descr="image47.png"/>
            <p:cNvPicPr>
              <a:picLocks noChangeAspect="1"/>
            </p:cNvPicPr>
            <p:nvPr/>
          </p:nvPicPr>
          <p:blipFill>
            <a:blip r:embed="rId9"/>
            <a:stretch>
              <a:fillRect/>
            </a:stretch>
          </p:blipFill>
          <p:spPr>
            <a:xfrm>
              <a:off x="215900" y="139700"/>
              <a:ext cx="3746500" cy="2816227"/>
            </a:xfrm>
            <a:prstGeom prst="rect">
              <a:avLst/>
            </a:prstGeom>
            <a:ln>
              <a:noFill/>
            </a:ln>
            <a:effectLst/>
          </p:spPr>
        </p:pic>
        <p:pic>
          <p:nvPicPr>
            <p:cNvPr id="463" name="image47.png" descr="image47.png"/>
            <p:cNvPicPr>
              <a:picLocks/>
            </p:cNvPicPr>
            <p:nvPr/>
          </p:nvPicPr>
          <p:blipFill>
            <a:blip r:embed="rId10"/>
            <a:stretch>
              <a:fillRect/>
            </a:stretch>
          </p:blipFill>
          <p:spPr>
            <a:xfrm>
              <a:off x="0" y="0"/>
              <a:ext cx="4178300" cy="3375027"/>
            </a:xfrm>
            <a:prstGeom prst="rect">
              <a:avLst/>
            </a:prstGeom>
            <a:effectLst/>
          </p:spPr>
        </p:pic>
      </p:grpSp>
      <p:pic>
        <p:nvPicPr>
          <p:cNvPr id="466" name="image56-small.png" descr="image56-small.png"/>
          <p:cNvPicPr>
            <a:picLocks noChangeAspect="1"/>
          </p:cNvPicPr>
          <p:nvPr/>
        </p:nvPicPr>
        <p:blipFill>
          <a:blip r:embed="rId11"/>
          <a:stretch>
            <a:fillRect/>
          </a:stretch>
        </p:blipFill>
        <p:spPr>
          <a:xfrm>
            <a:off x="10691812" y="5036343"/>
            <a:ext cx="714376" cy="1002196"/>
          </a:xfrm>
          <a:prstGeom prst="rect">
            <a:avLst/>
          </a:prstGeom>
          <a:ln w="12700">
            <a:miter lim="400000"/>
          </a:ln>
        </p:spPr>
      </p:pic>
      <p:grpSp>
        <p:nvGrpSpPr>
          <p:cNvPr id="469" name="Group"/>
          <p:cNvGrpSpPr/>
          <p:nvPr/>
        </p:nvGrpSpPr>
        <p:grpSpPr>
          <a:xfrm>
            <a:off x="8957865" y="6075362"/>
            <a:ext cx="4190314" cy="4410161"/>
            <a:chOff x="-215900" y="-139700"/>
            <a:chExt cx="4190313" cy="4410160"/>
          </a:xfrm>
        </p:grpSpPr>
        <p:pic>
          <p:nvPicPr>
            <p:cNvPr id="467" name="droppedImage.pdf" descr="droppedImage.pdf"/>
            <p:cNvPicPr>
              <a:picLocks/>
            </p:cNvPicPr>
            <p:nvPr/>
          </p:nvPicPr>
          <p:blipFill>
            <a:blip r:embed="rId12"/>
            <a:stretch>
              <a:fillRect/>
            </a:stretch>
          </p:blipFill>
          <p:spPr>
            <a:xfrm>
              <a:off x="-215900" y="-139700"/>
              <a:ext cx="4190314" cy="3416300"/>
            </a:xfrm>
            <a:prstGeom prst="rect">
              <a:avLst/>
            </a:prstGeom>
            <a:effectLst>
              <a:outerShdw blurRad="101600" dist="88900" dir="5400000" rotWithShape="0">
                <a:srgbClr val="000000">
                  <a:alpha val="45000"/>
                </a:srgbClr>
              </a:outerShdw>
            </a:effectLst>
          </p:spPr>
        </p:pic>
        <p:pic>
          <p:nvPicPr>
            <p:cNvPr id="468" name="image56.png" descr="image56.png"/>
            <p:cNvPicPr>
              <a:picLocks noChangeAspect="1"/>
            </p:cNvPicPr>
            <p:nvPr/>
          </p:nvPicPr>
          <p:blipFill>
            <a:blip r:embed="rId13"/>
            <a:stretch>
              <a:fillRect/>
            </a:stretch>
          </p:blipFill>
          <p:spPr>
            <a:xfrm>
              <a:off x="1518046" y="3268265"/>
              <a:ext cx="714376" cy="1002196"/>
            </a:xfrm>
            <a:prstGeom prst="rect">
              <a:avLst/>
            </a:prstGeom>
            <a:ln w="12700" cap="flat">
              <a:noFill/>
              <a:miter lim="400000"/>
            </a:ln>
            <a:effectLst/>
          </p:spPr>
        </p:pic>
      </p:grpSp>
      <p:grpSp>
        <p:nvGrpSpPr>
          <p:cNvPr id="476" name="Group"/>
          <p:cNvGrpSpPr/>
          <p:nvPr/>
        </p:nvGrpSpPr>
        <p:grpSpPr>
          <a:xfrm>
            <a:off x="3510756" y="10504487"/>
            <a:ext cx="11503026" cy="3330577"/>
            <a:chOff x="-215900" y="-139700"/>
            <a:chExt cx="11503025" cy="3330576"/>
          </a:xfrm>
        </p:grpSpPr>
        <p:pic>
          <p:nvPicPr>
            <p:cNvPr id="470" name="droppedImage.pdf" descr="droppedImage.pdf"/>
            <p:cNvPicPr>
              <a:picLocks/>
            </p:cNvPicPr>
            <p:nvPr/>
          </p:nvPicPr>
          <p:blipFill>
            <a:blip r:embed="rId14"/>
            <a:stretch>
              <a:fillRect/>
            </a:stretch>
          </p:blipFill>
          <p:spPr>
            <a:xfrm>
              <a:off x="5320506" y="-103982"/>
              <a:ext cx="4003676" cy="3277691"/>
            </a:xfrm>
            <a:prstGeom prst="rect">
              <a:avLst/>
            </a:prstGeom>
            <a:effectLst>
              <a:outerShdw blurRad="101600" dist="88900" dir="5400000" rotWithShape="0">
                <a:srgbClr val="000000">
                  <a:alpha val="45000"/>
                </a:srgbClr>
              </a:outerShdw>
            </a:effectLst>
          </p:spPr>
        </p:pic>
        <p:pic>
          <p:nvPicPr>
            <p:cNvPr id="471" name="droppedImage.pdf" descr="droppedImage.pdf"/>
            <p:cNvPicPr>
              <a:picLocks noChangeAspect="1"/>
            </p:cNvPicPr>
            <p:nvPr/>
          </p:nvPicPr>
          <p:blipFill>
            <a:blip r:embed="rId15"/>
            <a:stretch>
              <a:fillRect/>
            </a:stretch>
          </p:blipFill>
          <p:spPr>
            <a:xfrm>
              <a:off x="4375546" y="1143000"/>
              <a:ext cx="803673" cy="839391"/>
            </a:xfrm>
            <a:prstGeom prst="rect">
              <a:avLst/>
            </a:prstGeom>
            <a:ln w="12700" cap="flat">
              <a:noFill/>
              <a:miter lim="400000"/>
            </a:ln>
            <a:effectLst/>
          </p:spPr>
        </p:pic>
        <p:grpSp>
          <p:nvGrpSpPr>
            <p:cNvPr id="474" name="image43.png"/>
            <p:cNvGrpSpPr/>
            <p:nvPr/>
          </p:nvGrpSpPr>
          <p:grpSpPr>
            <a:xfrm>
              <a:off x="-215900" y="-139701"/>
              <a:ext cx="4124327" cy="3330578"/>
              <a:chOff x="0" y="0"/>
              <a:chExt cx="4124326" cy="3330576"/>
            </a:xfrm>
          </p:grpSpPr>
          <p:pic>
            <p:nvPicPr>
              <p:cNvPr id="473" name="image43.png" descr="image43.png"/>
              <p:cNvPicPr>
                <a:picLocks noChangeAspect="1"/>
              </p:cNvPicPr>
              <p:nvPr/>
            </p:nvPicPr>
            <p:blipFill>
              <a:blip r:embed="rId3"/>
              <a:stretch>
                <a:fillRect/>
              </a:stretch>
            </p:blipFill>
            <p:spPr>
              <a:xfrm>
                <a:off x="215900" y="139700"/>
                <a:ext cx="3692527" cy="2771777"/>
              </a:xfrm>
              <a:prstGeom prst="rect">
                <a:avLst/>
              </a:prstGeom>
              <a:ln>
                <a:noFill/>
              </a:ln>
              <a:effectLst/>
            </p:spPr>
          </p:pic>
          <p:pic>
            <p:nvPicPr>
              <p:cNvPr id="472" name="image43.png" descr="image43.png"/>
              <p:cNvPicPr>
                <a:picLocks/>
              </p:cNvPicPr>
              <p:nvPr/>
            </p:nvPicPr>
            <p:blipFill>
              <a:blip r:embed="rId4"/>
              <a:stretch>
                <a:fillRect/>
              </a:stretch>
            </p:blipFill>
            <p:spPr>
              <a:xfrm>
                <a:off x="0" y="-1"/>
                <a:ext cx="4124327" cy="3330578"/>
              </a:xfrm>
              <a:prstGeom prst="rect">
                <a:avLst/>
              </a:prstGeom>
              <a:effectLst/>
            </p:spPr>
          </p:pic>
        </p:grpSp>
        <p:pic>
          <p:nvPicPr>
            <p:cNvPr id="475" name="droppedImage.pdf" descr="droppedImage.pdf"/>
            <p:cNvPicPr>
              <a:picLocks noChangeAspect="1"/>
            </p:cNvPicPr>
            <p:nvPr/>
          </p:nvPicPr>
          <p:blipFill>
            <a:blip r:embed="rId16"/>
            <a:stretch>
              <a:fillRect/>
            </a:stretch>
          </p:blipFill>
          <p:spPr>
            <a:xfrm>
              <a:off x="10215562" y="1268015"/>
              <a:ext cx="1071563" cy="589360"/>
            </a:xfrm>
            <a:prstGeom prst="rect">
              <a:avLst/>
            </a:prstGeom>
            <a:ln w="12700" cap="flat">
              <a:noFill/>
              <a:miter lim="400000"/>
            </a:ln>
            <a:effectLst/>
          </p:spPr>
        </p:pic>
      </p:grpSp>
      <p:grpSp>
        <p:nvGrpSpPr>
          <p:cNvPr id="479" name="Group"/>
          <p:cNvGrpSpPr/>
          <p:nvPr/>
        </p:nvGrpSpPr>
        <p:grpSpPr>
          <a:xfrm>
            <a:off x="15869443" y="5036343"/>
            <a:ext cx="4195624" cy="4616054"/>
            <a:chOff x="-215900" y="0"/>
            <a:chExt cx="4195622" cy="4616053"/>
          </a:xfrm>
        </p:grpSpPr>
        <p:pic>
          <p:nvPicPr>
            <p:cNvPr id="477" name="droppedImage.pdf" descr="droppedImage.pdf"/>
            <p:cNvPicPr>
              <a:picLocks/>
            </p:cNvPicPr>
            <p:nvPr/>
          </p:nvPicPr>
          <p:blipFill>
            <a:blip r:embed="rId17"/>
            <a:stretch>
              <a:fillRect/>
            </a:stretch>
          </p:blipFill>
          <p:spPr>
            <a:xfrm>
              <a:off x="-215900" y="1253331"/>
              <a:ext cx="4195623" cy="3362723"/>
            </a:xfrm>
            <a:prstGeom prst="rect">
              <a:avLst/>
            </a:prstGeom>
            <a:effectLst>
              <a:outerShdw blurRad="101600" dist="88900" dir="5400000" rotWithShape="0">
                <a:srgbClr val="000000">
                  <a:alpha val="45000"/>
                </a:srgbClr>
              </a:outerShdw>
            </a:effectLst>
          </p:spPr>
        </p:pic>
        <p:pic>
          <p:nvPicPr>
            <p:cNvPr id="478" name="image56.png" descr="image56.png"/>
            <p:cNvPicPr>
              <a:picLocks noChangeAspect="1"/>
            </p:cNvPicPr>
            <p:nvPr/>
          </p:nvPicPr>
          <p:blipFill>
            <a:blip r:embed="rId13"/>
            <a:stretch>
              <a:fillRect/>
            </a:stretch>
          </p:blipFill>
          <p:spPr>
            <a:xfrm rot="10800000">
              <a:off x="1535906" y="0"/>
              <a:ext cx="714376" cy="1002195"/>
            </a:xfrm>
            <a:prstGeom prst="rect">
              <a:avLst/>
            </a:prstGeom>
            <a:ln w="12700" cap="flat">
              <a:noFill/>
              <a:miter lim="400000"/>
            </a:ln>
            <a:effectLst/>
          </p:spPr>
        </p:pic>
      </p:grpSp>
      <p:grpSp>
        <p:nvGrpSpPr>
          <p:cNvPr id="482" name="Group"/>
          <p:cNvGrpSpPr/>
          <p:nvPr/>
        </p:nvGrpSpPr>
        <p:grpSpPr>
          <a:xfrm>
            <a:off x="15887303" y="9608343"/>
            <a:ext cx="4166603" cy="4276726"/>
            <a:chOff x="-215900" y="0"/>
            <a:chExt cx="4166602" cy="4276725"/>
          </a:xfrm>
        </p:grpSpPr>
        <p:pic>
          <p:nvPicPr>
            <p:cNvPr id="480" name="droppedImage.pdf" descr="droppedImage.pdf"/>
            <p:cNvPicPr>
              <a:picLocks/>
            </p:cNvPicPr>
            <p:nvPr/>
          </p:nvPicPr>
          <p:blipFill>
            <a:blip r:embed="rId18"/>
            <a:stretch>
              <a:fillRect/>
            </a:stretch>
          </p:blipFill>
          <p:spPr>
            <a:xfrm>
              <a:off x="-215900" y="860425"/>
              <a:ext cx="4166603" cy="3416300"/>
            </a:xfrm>
            <a:prstGeom prst="rect">
              <a:avLst/>
            </a:prstGeom>
            <a:effectLst>
              <a:outerShdw blurRad="101600" dist="88900" dir="5400000" rotWithShape="0">
                <a:srgbClr val="000000">
                  <a:alpha val="45000"/>
                </a:srgbClr>
              </a:outerShdw>
            </a:effectLst>
          </p:spPr>
        </p:pic>
        <p:pic>
          <p:nvPicPr>
            <p:cNvPr id="481" name="image56.png" descr="image56.png"/>
            <p:cNvPicPr>
              <a:picLocks noChangeAspect="1"/>
            </p:cNvPicPr>
            <p:nvPr/>
          </p:nvPicPr>
          <p:blipFill>
            <a:blip r:embed="rId13"/>
            <a:stretch>
              <a:fillRect/>
            </a:stretch>
          </p:blipFill>
          <p:spPr>
            <a:xfrm rot="10800000">
              <a:off x="1518046" y="0"/>
              <a:ext cx="714376" cy="1002195"/>
            </a:xfrm>
            <a:prstGeom prst="rect">
              <a:avLst/>
            </a:prstGeom>
            <a:ln w="12700" cap="flat">
              <a:noFill/>
              <a:miter lim="400000"/>
            </a:ln>
            <a:effectLst/>
          </p:spPr>
        </p:pic>
      </p:grpSp>
      <p:sp>
        <p:nvSpPr>
          <p:cNvPr id="483" name="Slide Number"/>
          <p:cNvSpPr txBox="1">
            <a:spLocks noGrp="1"/>
          </p:cNvSpPr>
          <p:nvPr>
            <p:ph type="sldNum" sz="quarter" idx="2"/>
          </p:nvPr>
        </p:nvSpPr>
        <p:spPr>
          <a:xfrm>
            <a:off x="11923965" y="13001625"/>
            <a:ext cx="518209" cy="535782"/>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lvl1pPr>
              <a:defRPr>
                <a:latin typeface="+mn-lt"/>
                <a:ea typeface="+mn-ea"/>
                <a:cs typeface="+mn-cs"/>
                <a:sym typeface="Helvetica Light"/>
              </a:defRPr>
            </a:lvl1pPr>
          </a:lstStyle>
          <a:p>
            <a:fld id="{86CB4B4D-7CA3-9044-876B-883B54F8677D}" type="slidenum">
              <a:rPr/>
              <a:t>26</a:t>
            </a:fld>
            <a:endParaRPr/>
          </a:p>
        </p:txBody>
      </p:sp>
    </p:spTree>
  </p:cSld>
  <p:clrMapOvr>
    <a:masterClrMapping/>
  </p:clrMapOvr>
  <p:transition spd="med"/>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22" presetClass="entr" presetSubtype="1" fill="hold" grpId="1" nodeType="clickEffect">
                                  <p:stCondLst>
                                    <p:cond delay="0"/>
                                  </p:stCondLst>
                                  <p:iterate>
                                    <p:tmAbs val="0"/>
                                  </p:iterate>
                                  <p:childTnLst>
                                    <p:set>
                                      <p:cBhvr>
                                        <p:cTn id="6" fill="hold"/>
                                        <p:tgtEl>
                                          <p:spTgt spid="479"/>
                                        </p:tgtEl>
                                        <p:attrNameLst>
                                          <p:attrName>style.visibility</p:attrName>
                                        </p:attrNameLst>
                                      </p:cBhvr>
                                      <p:to>
                                        <p:strVal val="visible"/>
                                      </p:to>
                                    </p:set>
                                    <p:animEffect transition="in" filter="wipe(up)">
                                      <p:cBhvr>
                                        <p:cTn id="7" dur="1000"/>
                                        <p:tgtEl>
                                          <p:spTgt spid="47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2" nodeType="clickEffect">
                                  <p:stCondLst>
                                    <p:cond delay="0"/>
                                  </p:stCondLst>
                                  <p:iterate>
                                    <p:tmAbs val="0"/>
                                  </p:iterate>
                                  <p:childTnLst>
                                    <p:set>
                                      <p:cBhvr>
                                        <p:cTn id="11" fill="hold"/>
                                        <p:tgtEl>
                                          <p:spTgt spid="482"/>
                                        </p:tgtEl>
                                        <p:attrNameLst>
                                          <p:attrName>style.visibility</p:attrName>
                                        </p:attrNameLst>
                                      </p:cBhvr>
                                      <p:to>
                                        <p:strVal val="visible"/>
                                      </p:to>
                                    </p:set>
                                    <p:animEffect transition="in" filter="wipe(up)">
                                      <p:cBhvr>
                                        <p:cTn id="12" dur="1000"/>
                                        <p:tgtEl>
                                          <p:spTgt spid="48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2" fill="hold" grpId="3" nodeType="clickEffect">
                                  <p:stCondLst>
                                    <p:cond delay="0"/>
                                  </p:stCondLst>
                                  <p:iterate>
                                    <p:tmAbs val="0"/>
                                  </p:iterate>
                                  <p:childTnLst>
                                    <p:set>
                                      <p:cBhvr>
                                        <p:cTn id="16" fill="hold"/>
                                        <p:tgtEl>
                                          <p:spTgt spid="476"/>
                                        </p:tgtEl>
                                        <p:attrNameLst>
                                          <p:attrName>style.visibility</p:attrName>
                                        </p:attrNameLst>
                                      </p:cBhvr>
                                      <p:to>
                                        <p:strVal val="visible"/>
                                      </p:to>
                                    </p:set>
                                    <p:animEffect transition="in" filter="wipe(right)">
                                      <p:cBhvr>
                                        <p:cTn id="17" dur="1000"/>
                                        <p:tgtEl>
                                          <p:spTgt spid="47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4" nodeType="clickEffect">
                                  <p:stCondLst>
                                    <p:cond delay="0"/>
                                  </p:stCondLst>
                                  <p:iterate>
                                    <p:tmAbs val="0"/>
                                  </p:iterate>
                                  <p:childTnLst>
                                    <p:set>
                                      <p:cBhvr>
                                        <p:cTn id="21" fill="hold"/>
                                        <p:tgtEl>
                                          <p:spTgt spid="469"/>
                                        </p:tgtEl>
                                        <p:attrNameLst>
                                          <p:attrName>style.visibility</p:attrName>
                                        </p:attrNameLst>
                                      </p:cBhvr>
                                      <p:to>
                                        <p:strVal val="visible"/>
                                      </p:to>
                                    </p:set>
                                    <p:animEffect transition="in" filter="wipe(down)">
                                      <p:cBhvr>
                                        <p:cTn id="22" dur="1000"/>
                                        <p:tgtEl>
                                          <p:spTgt spid="469"/>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4" fill="hold" grpId="5" nodeType="clickEffect">
                                  <p:stCondLst>
                                    <p:cond delay="0"/>
                                  </p:stCondLst>
                                  <p:iterate>
                                    <p:tmAbs val="0"/>
                                  </p:iterate>
                                  <p:childTnLst>
                                    <p:set>
                                      <p:cBhvr>
                                        <p:cTn id="26" fill="hold"/>
                                        <p:tgtEl>
                                          <p:spTgt spid="466"/>
                                        </p:tgtEl>
                                        <p:attrNameLst>
                                          <p:attrName>style.visibility</p:attrName>
                                        </p:attrNameLst>
                                      </p:cBhvr>
                                      <p:to>
                                        <p:strVal val="visible"/>
                                      </p:to>
                                    </p:set>
                                    <p:animEffect transition="in" filter="wipe(down)">
                                      <p:cBhvr>
                                        <p:cTn id="27" dur="1000"/>
                                        <p:tgtEl>
                                          <p:spTgt spid="4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6" grpId="5" animBg="1" advAuto="0"/>
      <p:bldP spid="469" grpId="4" animBg="1" advAuto="0"/>
      <p:bldP spid="476" grpId="3" animBg="1" advAuto="0"/>
      <p:bldP spid="479" grpId="1" animBg="1" advAuto="0"/>
      <p:bldP spid="482" grpId="2" animBg="1" advAuto="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7" name="Alchemical methods can accurately calculate small ΔΔG○"/>
          <p:cNvSpPr txBox="1">
            <a:spLocks noGrp="1"/>
          </p:cNvSpPr>
          <p:nvPr>
            <p:ph type="title"/>
          </p:nvPr>
        </p:nvSpPr>
        <p:spPr>
          <a:xfrm>
            <a:off x="3302000" y="464292"/>
            <a:ext cx="17780000" cy="1964532"/>
          </a:xfrm>
          <a:prstGeom prst="rect">
            <a:avLst/>
          </a:prstGeom>
        </p:spPr>
        <p:txBody>
          <a:bodyPr/>
          <a:lstStyle/>
          <a:p>
            <a:pPr algn="ctr"/>
            <a:r>
              <a:rPr dirty="0"/>
              <a:t>Alchemical methods can accurately calculate small </a:t>
            </a:r>
            <a:r>
              <a:rPr dirty="0">
                <a:latin typeface="+mj-lt"/>
              </a:rPr>
              <a:t>ΔΔ</a:t>
            </a:r>
            <a:r>
              <a:rPr dirty="0"/>
              <a:t>G</a:t>
            </a:r>
            <a:r>
              <a:rPr baseline="31999" dirty="0"/>
              <a:t>○</a:t>
            </a:r>
          </a:p>
        </p:txBody>
      </p:sp>
      <p:pic>
        <p:nvPicPr>
          <p:cNvPr id="488" name="Image" descr="Image"/>
          <p:cNvPicPr>
            <a:picLocks noChangeAspect="1"/>
          </p:cNvPicPr>
          <p:nvPr/>
        </p:nvPicPr>
        <p:blipFill>
          <a:blip r:embed="rId2"/>
          <a:stretch>
            <a:fillRect/>
          </a:stretch>
        </p:blipFill>
        <p:spPr>
          <a:xfrm>
            <a:off x="3762719" y="3107709"/>
            <a:ext cx="8663110" cy="9255810"/>
          </a:xfrm>
          <a:prstGeom prst="rect">
            <a:avLst/>
          </a:prstGeom>
          <a:ln w="12700">
            <a:miter lim="400000"/>
          </a:ln>
        </p:spPr>
      </p:pic>
      <p:sp>
        <p:nvSpPr>
          <p:cNvPr id="489" name="Slide Number"/>
          <p:cNvSpPr txBox="1">
            <a:spLocks noGrp="1"/>
          </p:cNvSpPr>
          <p:nvPr>
            <p:ph type="sldNum" sz="quarter" idx="4294967295"/>
          </p:nvPr>
        </p:nvSpPr>
        <p:spPr>
          <a:xfrm>
            <a:off x="20534035" y="12930187"/>
            <a:ext cx="409779" cy="428345"/>
          </a:xfrm>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spAutoFit/>
          </a:bodyPr>
          <a:lstStyle>
            <a:lvl1pPr>
              <a:defRPr sz="1800" b="1">
                <a:latin typeface="Helvetica Neue"/>
                <a:ea typeface="Helvetica Neue"/>
                <a:cs typeface="Helvetica Neue"/>
                <a:sym typeface="Helvetica Neue"/>
              </a:defRPr>
            </a:lvl1pPr>
          </a:lstStyle>
          <a:p>
            <a:fld id="{86CB4B4D-7CA3-9044-876B-883B54F8677D}" type="slidenum">
              <a:rPr/>
              <a:t>27</a:t>
            </a:fld>
            <a:endParaRPr/>
          </a:p>
        </p:txBody>
      </p:sp>
      <p:pic>
        <p:nvPicPr>
          <p:cNvPr id="490" name="Image" descr="Image"/>
          <p:cNvPicPr>
            <a:picLocks noChangeAspect="1"/>
          </p:cNvPicPr>
          <p:nvPr/>
        </p:nvPicPr>
        <p:blipFill>
          <a:blip r:embed="rId3"/>
          <a:stretch>
            <a:fillRect/>
          </a:stretch>
        </p:blipFill>
        <p:spPr>
          <a:xfrm>
            <a:off x="13411210" y="2982589"/>
            <a:ext cx="6971174" cy="9255810"/>
          </a:xfrm>
          <a:prstGeom prst="rect">
            <a:avLst/>
          </a:prstGeom>
          <a:ln w="12700">
            <a:miter lim="400000"/>
          </a:ln>
        </p:spPr>
      </p:pic>
      <p:sp>
        <p:nvSpPr>
          <p:cNvPr id="491" name="Figure 3. Prospective FEP+ results from 12 targets and 19 chemical series. From Schindler et al. [Merck] J. Chem. Inf. Model. 60:5457-5474 (2020)"/>
          <p:cNvSpPr txBox="1"/>
          <p:nvPr/>
        </p:nvSpPr>
        <p:spPr>
          <a:xfrm>
            <a:off x="13320466" y="12265302"/>
            <a:ext cx="7152663" cy="9744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spAutoFit/>
          </a:bodyPr>
          <a:lstStyle>
            <a:lvl1pPr>
              <a:defRPr sz="1800">
                <a:latin typeface="Helvetica Neue Light"/>
                <a:ea typeface="Helvetica Neue Light"/>
                <a:cs typeface="Helvetica Neue Light"/>
                <a:sym typeface="Helvetica Neue Light"/>
              </a:defRPr>
            </a:lvl1pPr>
          </a:lstStyle>
          <a:p>
            <a:r>
              <a:t>Figure 3. Prospective FEP+ results from 12 targets and 19 chemical series. From Schindler et al. [Merck] J. Chem. Inf. Model. 60:5457-5474 (2020)</a:t>
            </a:r>
          </a:p>
        </p:txBody>
      </p:sp>
      <p:sp>
        <p:nvSpPr>
          <p:cNvPr id="492" name="from Wang et al. [Schrodinger], J. Am. Chem. Soc. 137:2695-2703 (2015)"/>
          <p:cNvSpPr txBox="1"/>
          <p:nvPr/>
        </p:nvSpPr>
        <p:spPr>
          <a:xfrm>
            <a:off x="4336088" y="12405002"/>
            <a:ext cx="7152663" cy="69504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71437" tIns="71437" rIns="71437" bIns="71437" anchor="ctr">
            <a:spAutoFit/>
          </a:bodyPr>
          <a:lstStyle>
            <a:lvl1pPr>
              <a:defRPr sz="1800">
                <a:latin typeface="Helvetica Neue Light"/>
                <a:ea typeface="Helvetica Neue Light"/>
                <a:cs typeface="Helvetica Neue Light"/>
                <a:sym typeface="Helvetica Neue Light"/>
              </a:defRPr>
            </a:lvl1pPr>
          </a:lstStyle>
          <a:p>
            <a:r>
              <a:t>from Wang et al. [Schrodinger], J. Am. Chem. Soc. 137:2695-2703 (2015)</a:t>
            </a:r>
          </a:p>
        </p:txBody>
      </p:sp>
    </p:spTree>
  </p:cSld>
  <p:clrMapOvr>
    <a:masterClrMapping/>
  </p:clrMapOvr>
  <p:transition spd="slow"/>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5626CF-40FD-04C7-CB2D-8A1B0CA63E63}"/>
              </a:ext>
            </a:extLst>
          </p:cNvPr>
          <p:cNvSpPr>
            <a:spLocks noGrp="1"/>
          </p:cNvSpPr>
          <p:nvPr>
            <p:ph type="title"/>
          </p:nvPr>
        </p:nvSpPr>
        <p:spPr/>
        <p:txBody>
          <a:bodyPr/>
          <a:lstStyle/>
          <a:p>
            <a:r>
              <a:rPr lang="en-US" dirty="0"/>
              <a:t>Docking versus Free Energy</a:t>
            </a:r>
          </a:p>
        </p:txBody>
      </p:sp>
      <p:graphicFrame>
        <p:nvGraphicFramePr>
          <p:cNvPr id="5" name="Table 4">
            <a:extLst>
              <a:ext uri="{FF2B5EF4-FFF2-40B4-BE49-F238E27FC236}">
                <a16:creationId xmlns:a16="http://schemas.microsoft.com/office/drawing/2014/main" id="{BD1F35B8-9BCC-0280-1B3B-5A07DFB0394B}"/>
              </a:ext>
            </a:extLst>
          </p:cNvPr>
          <p:cNvGraphicFramePr>
            <a:graphicFrameLocks noGrp="1"/>
          </p:cNvGraphicFramePr>
          <p:nvPr>
            <p:extLst>
              <p:ext uri="{D42A27DB-BD31-4B8C-83A1-F6EECF244321}">
                <p14:modId xmlns:p14="http://schemas.microsoft.com/office/powerpoint/2010/main" val="2984890510"/>
              </p:ext>
            </p:extLst>
          </p:nvPr>
        </p:nvGraphicFramePr>
        <p:xfrm>
          <a:off x="4064000" y="5410200"/>
          <a:ext cx="16256000" cy="2895600"/>
        </p:xfrm>
        <a:graphic>
          <a:graphicData uri="http://schemas.openxmlformats.org/drawingml/2006/table">
            <a:tbl>
              <a:tblPr firstRow="1" bandRow="1">
                <a:tableStyleId>{35758FB7-9AC5-4552-8A53-C91805E547FA}</a:tableStyleId>
              </a:tblPr>
              <a:tblGrid>
                <a:gridCol w="8128000">
                  <a:extLst>
                    <a:ext uri="{9D8B030D-6E8A-4147-A177-3AD203B41FA5}">
                      <a16:colId xmlns:a16="http://schemas.microsoft.com/office/drawing/2014/main" val="510656844"/>
                    </a:ext>
                  </a:extLst>
                </a:gridCol>
                <a:gridCol w="8128000">
                  <a:extLst>
                    <a:ext uri="{9D8B030D-6E8A-4147-A177-3AD203B41FA5}">
                      <a16:colId xmlns:a16="http://schemas.microsoft.com/office/drawing/2014/main" val="3296008957"/>
                    </a:ext>
                  </a:extLst>
                </a:gridCol>
              </a:tblGrid>
              <a:tr h="370840">
                <a:tc>
                  <a:txBody>
                    <a:bodyPr/>
                    <a:lstStyle/>
                    <a:p>
                      <a:pPr>
                        <a:buNone/>
                      </a:pPr>
                      <a:r>
                        <a:rPr lang="en-US" sz="3200" b="1" dirty="0">
                          <a:effectLst/>
                        </a:rPr>
                        <a:t>Docking</a:t>
                      </a:r>
                    </a:p>
                  </a:txBody>
                  <a:tcPr anchor="ctr"/>
                </a:tc>
                <a:tc>
                  <a:txBody>
                    <a:bodyPr/>
                    <a:lstStyle/>
                    <a:p>
                      <a:pPr>
                        <a:buNone/>
                      </a:pPr>
                      <a:r>
                        <a:rPr lang="en-US" sz="3200" b="1" dirty="0">
                          <a:effectLst/>
                        </a:rPr>
                        <a:t>Free Energy</a:t>
                      </a:r>
                    </a:p>
                  </a:txBody>
                  <a:tcPr anchor="ctr"/>
                </a:tc>
                <a:extLst>
                  <a:ext uri="{0D108BD9-81ED-4DB2-BD59-A6C34878D82A}">
                    <a16:rowId xmlns:a16="http://schemas.microsoft.com/office/drawing/2014/main" val="2986378099"/>
                  </a:ext>
                </a:extLst>
              </a:tr>
              <a:tr h="370840">
                <a:tc>
                  <a:txBody>
                    <a:bodyPr/>
                    <a:lstStyle/>
                    <a:p>
                      <a:pPr>
                        <a:buNone/>
                      </a:pPr>
                      <a:r>
                        <a:rPr lang="en-US" sz="3200" dirty="0">
                          <a:effectLst/>
                        </a:rPr>
                        <a:t>Fast</a:t>
                      </a:r>
                    </a:p>
                  </a:txBody>
                  <a:tcPr anchor="ctr"/>
                </a:tc>
                <a:tc>
                  <a:txBody>
                    <a:bodyPr/>
                    <a:lstStyle/>
                    <a:p>
                      <a:pPr>
                        <a:buNone/>
                      </a:pPr>
                      <a:r>
                        <a:rPr lang="en-US" sz="3200" dirty="0">
                          <a:effectLst/>
                        </a:rPr>
                        <a:t>Expensive</a:t>
                      </a:r>
                    </a:p>
                  </a:txBody>
                  <a:tcPr anchor="ctr"/>
                </a:tc>
                <a:extLst>
                  <a:ext uri="{0D108BD9-81ED-4DB2-BD59-A6C34878D82A}">
                    <a16:rowId xmlns:a16="http://schemas.microsoft.com/office/drawing/2014/main" val="3309872981"/>
                  </a:ext>
                </a:extLst>
              </a:tr>
              <a:tr h="370840">
                <a:tc>
                  <a:txBody>
                    <a:bodyPr/>
                    <a:lstStyle/>
                    <a:p>
                      <a:pPr>
                        <a:buNone/>
                      </a:pPr>
                      <a:r>
                        <a:rPr lang="en-US" sz="3200" dirty="0">
                          <a:effectLst/>
                        </a:rPr>
                        <a:t>Optimized structures</a:t>
                      </a:r>
                    </a:p>
                  </a:txBody>
                  <a:tcPr anchor="ctr"/>
                </a:tc>
                <a:tc>
                  <a:txBody>
                    <a:bodyPr/>
                    <a:lstStyle/>
                    <a:p>
                      <a:pPr>
                        <a:buNone/>
                      </a:pPr>
                      <a:r>
                        <a:rPr lang="en-US" sz="3200" dirty="0">
                          <a:effectLst/>
                        </a:rPr>
                        <a:t>Ensemble averages</a:t>
                      </a:r>
                    </a:p>
                  </a:txBody>
                  <a:tcPr anchor="ctr"/>
                </a:tc>
                <a:extLst>
                  <a:ext uri="{0D108BD9-81ED-4DB2-BD59-A6C34878D82A}">
                    <a16:rowId xmlns:a16="http://schemas.microsoft.com/office/drawing/2014/main" val="1274057951"/>
                  </a:ext>
                </a:extLst>
              </a:tr>
              <a:tr h="370840">
                <a:tc>
                  <a:txBody>
                    <a:bodyPr/>
                    <a:lstStyle/>
                    <a:p>
                      <a:pPr>
                        <a:buNone/>
                      </a:pPr>
                      <a:r>
                        <a:rPr lang="en-US" sz="3200">
                          <a:effectLst/>
                        </a:rPr>
                        <a:t>Poor absolute </a:t>
                      </a:r>
                      <a:r>
                        <a:rPr lang="el-GR" sz="3200">
                          <a:effectLst/>
                        </a:rPr>
                        <a:t>Δ</a:t>
                      </a:r>
                      <a:r>
                        <a:rPr lang="en-US" sz="3200">
                          <a:effectLst/>
                        </a:rPr>
                        <a:t>G</a:t>
                      </a:r>
                    </a:p>
                  </a:txBody>
                  <a:tcPr anchor="ctr"/>
                </a:tc>
                <a:tc>
                  <a:txBody>
                    <a:bodyPr/>
                    <a:lstStyle/>
                    <a:p>
                      <a:pPr>
                        <a:buNone/>
                      </a:pPr>
                      <a:r>
                        <a:rPr lang="en-US" sz="3200" dirty="0">
                          <a:effectLst/>
                        </a:rPr>
                        <a:t>Quantitative </a:t>
                      </a:r>
                      <a:r>
                        <a:rPr lang="el-GR" sz="3200" dirty="0">
                          <a:effectLst/>
                        </a:rPr>
                        <a:t>Δ</a:t>
                      </a:r>
                      <a:r>
                        <a:rPr lang="en-US" sz="3200" dirty="0">
                          <a:effectLst/>
                        </a:rPr>
                        <a:t>G or </a:t>
                      </a:r>
                      <a:r>
                        <a:rPr lang="el-GR" sz="3200" dirty="0">
                          <a:effectLst/>
                        </a:rPr>
                        <a:t>ΔΔ</a:t>
                      </a:r>
                      <a:r>
                        <a:rPr lang="en-US" sz="3200" dirty="0">
                          <a:effectLst/>
                        </a:rPr>
                        <a:t>G</a:t>
                      </a:r>
                    </a:p>
                  </a:txBody>
                  <a:tcPr anchor="ctr"/>
                </a:tc>
                <a:extLst>
                  <a:ext uri="{0D108BD9-81ED-4DB2-BD59-A6C34878D82A}">
                    <a16:rowId xmlns:a16="http://schemas.microsoft.com/office/drawing/2014/main" val="98795100"/>
                  </a:ext>
                </a:extLst>
              </a:tr>
              <a:tr h="370840">
                <a:tc>
                  <a:txBody>
                    <a:bodyPr/>
                    <a:lstStyle/>
                    <a:p>
                      <a:pPr>
                        <a:buNone/>
                      </a:pPr>
                      <a:r>
                        <a:rPr lang="en-US" sz="3200">
                          <a:effectLst/>
                        </a:rPr>
                        <a:t>Heuristic entropy</a:t>
                      </a:r>
                    </a:p>
                  </a:txBody>
                  <a:tcPr anchor="ctr"/>
                </a:tc>
                <a:tc>
                  <a:txBody>
                    <a:bodyPr/>
                    <a:lstStyle/>
                    <a:p>
                      <a:pPr>
                        <a:buNone/>
                      </a:pPr>
                      <a:r>
                        <a:rPr lang="en-US" sz="3200" dirty="0">
                          <a:effectLst/>
                        </a:rPr>
                        <a:t>Statistical mechanics</a:t>
                      </a:r>
                    </a:p>
                  </a:txBody>
                  <a:tcPr anchor="ctr"/>
                </a:tc>
                <a:extLst>
                  <a:ext uri="{0D108BD9-81ED-4DB2-BD59-A6C34878D82A}">
                    <a16:rowId xmlns:a16="http://schemas.microsoft.com/office/drawing/2014/main" val="3250424778"/>
                  </a:ext>
                </a:extLst>
              </a:tr>
            </a:tbl>
          </a:graphicData>
        </a:graphic>
      </p:graphicFrame>
    </p:spTree>
    <p:extLst>
      <p:ext uri="{BB962C8B-B14F-4D97-AF65-F5344CB8AC3E}">
        <p14:creationId xmlns:p14="http://schemas.microsoft.com/office/powerpoint/2010/main" val="3845237112"/>
      </p:ext>
    </p:extLst>
  </p:cSld>
  <p:clrMapOvr>
    <a:masterClrMapping/>
  </p:clrMapOvr>
  <p:transition spd="me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4" name="Review"/>
          <p:cNvSpPr txBox="1">
            <a:spLocks noGrp="1"/>
          </p:cNvSpPr>
          <p:nvPr>
            <p:ph type="title"/>
          </p:nvPr>
        </p:nvSpPr>
        <p:spPr>
          <a:prstGeom prst="rect">
            <a:avLst/>
          </a:prstGeom>
        </p:spPr>
        <p:txBody>
          <a:bodyPr/>
          <a:lstStyle/>
          <a:p>
            <a:r>
              <a:t>Review</a:t>
            </a:r>
          </a:p>
        </p:txBody>
      </p:sp>
      <p:sp>
        <p:nvSpPr>
          <p:cNvPr id="495" name="How do binding free energy calculations differ from molecular docking?…"/>
          <p:cNvSpPr txBox="1">
            <a:spLocks noGrp="1"/>
          </p:cNvSpPr>
          <p:nvPr>
            <p:ph type="body" idx="1"/>
          </p:nvPr>
        </p:nvSpPr>
        <p:spPr>
          <a:prstGeom prst="rect">
            <a:avLst/>
          </a:prstGeom>
        </p:spPr>
        <p:txBody>
          <a:bodyPr/>
          <a:lstStyle/>
          <a:p>
            <a:r>
              <a:t>How do binding free energy calculations differ from molecular docking?</a:t>
            </a:r>
          </a:p>
          <a:p>
            <a:r>
              <a:t>What is a thermodynamic cycle? What types of thermodynamic cycles are used in binding free energy calculations?</a:t>
            </a:r>
          </a:p>
          <a:p>
            <a:r>
              <a:t>What is an alchemical transformation?</a:t>
            </a:r>
          </a:p>
        </p:txBody>
      </p:sp>
      <p:sp>
        <p:nvSpPr>
          <p:cNvPr id="496"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29</a:t>
            </a:fld>
            <a:endParaRPr/>
          </a:p>
        </p:txBody>
      </p:sp>
    </p:spTree>
  </p:cSld>
  <p:clrMapOvr>
    <a:masterClrMapping/>
  </p:clrMapOvr>
  <p:transition spd="me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8" name="Additional Resources"/>
          <p:cNvSpPr txBox="1">
            <a:spLocks noGrp="1"/>
          </p:cNvSpPr>
          <p:nvPr>
            <p:ph type="title"/>
          </p:nvPr>
        </p:nvSpPr>
        <p:spPr>
          <a:prstGeom prst="rect">
            <a:avLst/>
          </a:prstGeom>
        </p:spPr>
        <p:txBody>
          <a:bodyPr/>
          <a:lstStyle/>
          <a:p>
            <a:pPr lvl="1"/>
            <a:r>
              <a:t>Additional Resources</a:t>
            </a:r>
          </a:p>
        </p:txBody>
      </p:sp>
      <p:sp>
        <p:nvSpPr>
          <p:cNvPr id="499" name="Resource for alchemical binding free energy calculations (http://www.alchemistry.org/wiki/Main_Page)"/>
          <p:cNvSpPr txBox="1">
            <a:spLocks noGrp="1"/>
          </p:cNvSpPr>
          <p:nvPr>
            <p:ph type="body" idx="1"/>
          </p:nvPr>
        </p:nvSpPr>
        <p:spPr>
          <a:prstGeom prst="rect">
            <a:avLst/>
          </a:prstGeom>
        </p:spPr>
        <p:txBody>
          <a:bodyPr/>
          <a:lstStyle/>
          <a:p>
            <a:r>
              <a:t>Resource for alchemical binding free energy calculations (</a:t>
            </a:r>
            <a:r>
              <a:rPr u="sng">
                <a:hlinkClick r:id="rId2"/>
              </a:rPr>
              <a:t>http://www.alchemistry.org/wiki/Main_Page</a:t>
            </a:r>
            <a:r>
              <a:t>)</a:t>
            </a:r>
          </a:p>
        </p:txBody>
      </p:sp>
      <p:sp>
        <p:nvSpPr>
          <p:cNvPr id="500" name="Slide Number"/>
          <p:cNvSpPr txBox="1">
            <a:spLocks noGrp="1"/>
          </p:cNvSpPr>
          <p:nvPr>
            <p:ph type="sldNum" sz="quarter" idx="2"/>
          </p:nvPr>
        </p:nvSpPr>
        <p:spPr>
          <a:prstGeom prst="rect">
            <a:avLst/>
          </a:prstGeom>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a:lstStyle/>
          <a:p>
            <a:fld id="{86CB4B4D-7CA3-9044-876B-883B54F8677D}" type="slidenum">
              <a:rPr/>
              <a:t>30</a:t>
            </a:fld>
            <a:endParaRPr/>
          </a:p>
        </p:txBody>
      </p:sp>
    </p:spTree>
  </p:cSld>
  <p:clrMapOvr>
    <a:masterClrMapping/>
  </p:clrMapOvr>
  <p:transition spd="med"/>
</p:sld>
</file>

<file path=ppt/theme/_rels/theme1.xml.rels><?xml version="1.0" encoding="UTF-8" standalone="yes"?>
<Relationships xmlns="http://schemas.openxmlformats.org/package/2006/relationships"><Relationship Id="rId1" Type="http://schemas.openxmlformats.org/officeDocument/2006/relationships/image" Target="../media/image1.png"/></Relationships>
</file>

<file path=ppt/theme/_rels/theme2.xml.rels><?xml version="1.0" encoding="UTF-8" standalone="yes"?>
<Relationships xmlns="http://schemas.openxmlformats.org/package/2006/relationships"><Relationship Id="rId1" Type="http://schemas.openxmlformats.org/officeDocument/2006/relationships/image" Target="../media/image1.png"/></Relationships>
</file>

<file path=ppt/theme/theme1.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Helvetica"/>
        <a:ea typeface="Helvetica"/>
        <a:cs typeface="Helvetica"/>
      </a:majorFont>
      <a:minorFont>
        <a:latin typeface="Helvetica Light"/>
        <a:ea typeface="Helvetica Light"/>
        <a:cs typeface="Helvetica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0800" dist="25400" dir="5400000" rotWithShape="0">
              <a:srgbClr val="000000">
                <a:alpha val="50000"/>
              </a:srgbClr>
            </a:outerShdw>
          </a:effectLst>
        </a:effectStyle>
        <a:effectStyle>
          <a:effectLst>
            <a:outerShdw blurRad="63500" dist="12700" rotWithShape="0">
              <a:srgbClr val="000000">
                <a:alpha val="50000"/>
              </a:srgbClr>
            </a:outerShdw>
          </a:effectLst>
        </a:effectStyle>
        <a:effectStyle>
          <a:effectLst>
            <a:outerShdw blurRad="508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50800" dist="25400" dir="5400000" rotWithShape="0">
            <a:srgbClr val="000000">
              <a:alpha val="50000"/>
            </a:srgbClr>
          </a:outerShdw>
        </a:effectLst>
        <a:sp3d/>
      </a:spPr>
      <a:bodyPr rot="0" spcFirstLastPara="1" vertOverflow="overflow" horzOverflow="overflow" vert="horz" wrap="square" lIns="71437" tIns="71437" rIns="71437" bIns="71437" numCol="1" spcCol="38100" rtlCol="0" anchor="ctr">
        <a:spAutoFit/>
      </a:bodyPr>
      <a:lstStyle>
        <a:defPPr marL="0" marR="0" indent="0" algn="r" defTabSz="821531"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000000"/>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ppt/theme/theme2.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Helvetica"/>
        <a:ea typeface="Helvetica"/>
        <a:cs typeface="Helvetica"/>
      </a:majorFont>
      <a:minorFont>
        <a:latin typeface="Helvetica Light"/>
        <a:ea typeface="Helvetica Light"/>
        <a:cs typeface="Helvetica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50800" dist="25400" dir="5400000" rotWithShape="0">
              <a:srgbClr val="000000">
                <a:alpha val="50000"/>
              </a:srgbClr>
            </a:outerShdw>
          </a:effectLst>
        </a:effectStyle>
        <a:effectStyle>
          <a:effectLst>
            <a:outerShdw blurRad="63500" dist="12700" rotWithShape="0">
              <a:srgbClr val="000000">
                <a:alpha val="50000"/>
              </a:srgbClr>
            </a:outerShdw>
          </a:effectLst>
        </a:effectStyle>
        <a:effectStyle>
          <a:effectLst>
            <a:outerShdw blurRad="508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12700" cap="flat">
          <a:noFill/>
          <a:miter lim="400000"/>
        </a:ln>
        <a:effectLst>
          <a:outerShdw blurRad="50800" dist="25400" dir="5400000" rotWithShape="0">
            <a:srgbClr val="000000">
              <a:alpha val="50000"/>
            </a:srgbClr>
          </a:outerShdw>
        </a:effectLst>
        <a:sp3d/>
      </a:spPr>
      <a:bodyPr rot="0" spcFirstLastPara="1" vertOverflow="overflow" horzOverflow="overflow" vert="horz" wrap="square" lIns="71437" tIns="71437" rIns="71437" bIns="71437" numCol="1" spcCol="38100" rtlCol="0" anchor="ctr">
        <a:spAutoFit/>
      </a:bodyPr>
      <a:lstStyle>
        <a:defPPr marL="0" marR="0" indent="0" algn="r" defTabSz="821531"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000000"/>
            </a:solidFill>
            <a:effectLst/>
            <a:uFillTx/>
            <a:latin typeface="+mn-lt"/>
            <a:ea typeface="+mn-ea"/>
            <a:cs typeface="+mn-cs"/>
            <a:sym typeface="Helvetica Light"/>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71437" tIns="71437" rIns="71437" bIns="71437" numCol="1" spcCol="38100" rtlCol="0" anchor="ctr">
        <a:spAutoFit/>
      </a:bodyPr>
      <a:lstStyle>
        <a:defPPr marL="0" marR="0" indent="0" algn="ctr" defTabSz="821531"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000000"/>
            </a:solidFill>
            <a:effectLst/>
            <a:uFillTx/>
            <a:latin typeface="+mj-lt"/>
            <a:ea typeface="+mj-ea"/>
            <a:cs typeface="+mj-cs"/>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Props/app.xml><?xml version="1.0" encoding="utf-8"?>
<Properties xmlns="http://schemas.openxmlformats.org/officeDocument/2006/extended-properties" xmlns:vt="http://schemas.openxmlformats.org/officeDocument/2006/docPropsVTypes">
  <TotalTime>36</TotalTime>
  <Words>2129</Words>
  <Application>Microsoft Macintosh PowerPoint</Application>
  <PresentationFormat>Custom</PresentationFormat>
  <Paragraphs>264</Paragraphs>
  <Slides>30</Slides>
  <Notes>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30</vt:i4>
      </vt:variant>
    </vt:vector>
  </HeadingPairs>
  <TitlesOfParts>
    <vt:vector size="40" baseType="lpstr">
      <vt:lpstr>Arial</vt:lpstr>
      <vt:lpstr>Avenir</vt:lpstr>
      <vt:lpstr>Cambria Math</vt:lpstr>
      <vt:lpstr>Gill Sans</vt:lpstr>
      <vt:lpstr>Helvetica</vt:lpstr>
      <vt:lpstr>Helvetica Light</vt:lpstr>
      <vt:lpstr>Helvetica Neue</vt:lpstr>
      <vt:lpstr>Helvetica Neue Bold Condensed</vt:lpstr>
      <vt:lpstr>Helvetica Neue Light</vt:lpstr>
      <vt:lpstr>White</vt:lpstr>
      <vt:lpstr>4/8/2026 Free Energy Calculations</vt:lpstr>
      <vt:lpstr>Free energy calculations</vt:lpstr>
      <vt:lpstr>Estimating Thermodynamic Properties</vt:lpstr>
      <vt:lpstr>What is ΔG?</vt:lpstr>
      <vt:lpstr>What is ΔA?</vt:lpstr>
      <vt:lpstr>What is the free energy of a reaction?</vt:lpstr>
      <vt:lpstr>How are free energy calculations useful?</vt:lpstr>
      <vt:lpstr>How are ΔG/ΔA calculated from molecular simulations?</vt:lpstr>
      <vt:lpstr>PowerPoint Presentation</vt:lpstr>
      <vt:lpstr>Basic Statistical Mechanics</vt:lpstr>
      <vt:lpstr>The Zwanzig Relation: Derivation</vt:lpstr>
      <vt:lpstr>The Zwanzig Relation: In Practice</vt:lpstr>
      <vt:lpstr>The Zwanzig Relation: Limitations</vt:lpstr>
      <vt:lpstr>Configuration Space Overlap</vt:lpstr>
      <vt:lpstr>Other ways to calculate ΔG</vt:lpstr>
      <vt:lpstr>Binding Free Energy Calculations</vt:lpstr>
      <vt:lpstr>ΔG○ quantifies binding strength</vt:lpstr>
      <vt:lpstr>Modestly accurate ΔG○ predictions can aid drug discovery</vt:lpstr>
      <vt:lpstr>Docking scores do not correlate with ΔG○</vt:lpstr>
      <vt:lpstr>Docking approximates ΔS</vt:lpstr>
      <vt:lpstr>Binding free energies can be determined from long simulations</vt:lpstr>
      <vt:lpstr>Faster ΔG○ methods are based on thermodynamic cycles</vt:lpstr>
      <vt:lpstr>PowerPoint Presentation</vt:lpstr>
      <vt:lpstr>PowerPoint Presentation</vt:lpstr>
      <vt:lpstr>Thermodynamic cycles in ΔG○ calculations </vt:lpstr>
      <vt:lpstr>A Thermodynamic Cycle for Absolute ΔG of Binding</vt:lpstr>
      <vt:lpstr>Alchemical methods can accurately calculate small ΔΔG○</vt:lpstr>
      <vt:lpstr>Docking versus Free Energy</vt:lpstr>
      <vt:lpstr>Review</vt:lpstr>
      <vt:lpstr>Additional Resources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David Minh</cp:lastModifiedBy>
  <cp:revision>4</cp:revision>
  <dcterms:modified xsi:type="dcterms:W3CDTF">2026-04-08T13:29:01Z</dcterms:modified>
</cp:coreProperties>
</file>