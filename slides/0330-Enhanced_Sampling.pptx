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7"/>
    <p:restoredTop sz="94649"/>
  </p:normalViewPr>
  <p:slideViewPr>
    <p:cSldViewPr snapToGrid="0">
      <p:cViewPr varScale="1">
        <p:scale>
          <a:sx n="79" d="100"/>
          <a:sy n="79" d="100"/>
        </p:scale>
        <p:origin x="2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3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tif"/><Relationship Id="rId4" Type="http://schemas.openxmlformats.org/officeDocument/2006/relationships/hyperlink" Target="http://fiona-naughton.github.io/blog/2016/05/25/What-is-this-MD-thing-anywa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fiona-naughton.github.io/blog/2016/05/25/What-is-this-MD-thing-anywa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t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hyperlink" Target="http://fiona-naughton.github.io/blog/2016/05/25/What-is-this-MD-thing-anyway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fiona-naughton.github.io/blog/2016/05/25/What-is-this-MD-thing-anyway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/11/2024 Enhanced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3/30/2026</a:t>
            </a:r>
            <a:r>
              <a:rPr dirty="0"/>
              <a:t> Enhanced Sampling</a:t>
            </a:r>
          </a:p>
        </p:txBody>
      </p:sp>
      <p:sp>
        <p:nvSpPr>
          <p:cNvPr id="173" name="The lecture will cov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lecture will cover</a:t>
            </a:r>
          </a:p>
          <a:p>
            <a:pPr lvl="1"/>
            <a:r>
              <a:rPr dirty="0"/>
              <a:t>importance sampling</a:t>
            </a:r>
          </a:p>
          <a:p>
            <a:pPr lvl="1"/>
            <a:r>
              <a:rPr dirty="0"/>
              <a:t>thermodynamic processes</a:t>
            </a:r>
          </a:p>
          <a:p>
            <a:pPr lvl="1"/>
            <a:r>
              <a:rPr dirty="0"/>
              <a:t>umbrella sampling</a:t>
            </a:r>
          </a:p>
          <a:p>
            <a:pPr lvl="1"/>
            <a:r>
              <a:rPr dirty="0"/>
              <a:t>statistical estimators for thermodynamic properties</a:t>
            </a:r>
          </a:p>
          <a:p>
            <a:r>
              <a:rPr dirty="0"/>
              <a:t>Today’s lecture is a key step towards the following learning objective: Explain key concepts related to binding free energy calculations. Compare and contrast molecular docking and binding free energy calculations. </a:t>
            </a:r>
          </a:p>
          <a:p>
            <a:r>
              <a:rPr dirty="0"/>
              <a:t>At the end of this lecture, you should be able to answer the following questions:</a:t>
            </a:r>
          </a:p>
          <a:p>
            <a:pPr lvl="1"/>
            <a:r>
              <a:rPr dirty="0"/>
              <a:t>What is a thermodynamic process?</a:t>
            </a:r>
          </a:p>
          <a:p>
            <a:pPr lvl="1"/>
            <a:r>
              <a:rPr dirty="0"/>
              <a:t>What are the benefits of umbrella sampling?</a:t>
            </a:r>
          </a:p>
        </p:txBody>
      </p:sp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mportance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Estimating Thermodynamic Proper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22947">
              <a:defRPr sz="9856"/>
            </a:lvl1pPr>
          </a:lstStyle>
          <a:p>
            <a:r>
              <a:t>Estimating Thermodynamic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Molecular simulations are used to calculate thermodynamic and kinetic propertie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Molecular simulations are used to calculate thermodynamic and kinetic properties</a:t>
                </a:r>
              </a:p>
              <a:p>
                <a:r>
                  <a:rPr lang="en-US" dirty="0"/>
                  <a:t>In general, the thermodynamic properties are</a:t>
                </a:r>
              </a:p>
              <a:p>
                <a:pPr lvl="2"/>
                <a:r>
                  <a:rPr lang="en-US" dirty="0"/>
                  <a:t>expectation values of an observable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ar-AE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5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 sz="5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∫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ar-AE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5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54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including</a:t>
                </a:r>
              </a:p>
              <a:p>
                <a:pPr lvl="3"/>
                <a:r>
                  <a:rPr lang="en-US" dirty="0"/>
                  <a:t>probability of the observable having a certain range of values</a:t>
                </a:r>
              </a:p>
              <a:p>
                <a:pPr lvl="3"/>
                <a:r>
                  <a:rPr lang="en-US" dirty="0"/>
                  <a:t>potential of mean force with respect to the observable</a:t>
                </a:r>
              </a:p>
              <a:p>
                <a:pPr lvl="2"/>
                <a:r>
                  <a:rPr lang="en-US" dirty="0"/>
                  <a:t>free energy differences between thermodynamic states</a:t>
                </a:r>
              </a:p>
              <a:p>
                <a:pPr lvl="3"/>
                <a:r>
                  <a:rPr lang="en-US" dirty="0"/>
                  <a:t>in biomolecular systems, </a:t>
                </a:r>
                <a:r>
                  <a:rPr lang="el-GR" dirty="0"/>
                  <a:t>Δ</a:t>
                </a:r>
                <a:r>
                  <a:rPr lang="en-US" dirty="0"/>
                  <a:t>G ~ </a:t>
                </a:r>
                <a:r>
                  <a:rPr lang="el-GR" dirty="0"/>
                  <a:t>Δ</a:t>
                </a:r>
                <a:r>
                  <a:rPr lang="en-US" dirty="0"/>
                  <a:t>A</a:t>
                </a:r>
                <a:endParaRPr dirty="0"/>
              </a:p>
            </p:txBody>
          </p:sp>
        </mc:Choice>
        <mc:Fallback>
          <p:sp>
            <p:nvSpPr>
              <p:cNvPr id="209" name="Molecular simulations are used to calculate thermodynamic and kinetic properti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Importance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Sampling from one distribution and estimating quantities in another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Sampling from one distribution and estimating quantities in another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ar-AE" sz="6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 sz="6100" i="1">
                        <a:latin typeface="Cambria Math" panose="02040503050406030204" pitchFamily="18" charset="0"/>
                      </a:rPr>
                      <m:t>=∫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ar-AE" sz="6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 sz="6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=∫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ar-AE" sz="6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6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6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61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61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ar-AE" sz="6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61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61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sz="6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ar-AE" sz="6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ar-AE" sz="6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sz="6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6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𝑤𝐴</m:t>
                        </m:r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lang="ar-AE" sz="61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sz="6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the probability density in the target 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sz="6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the probability density in the sampled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sz="6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dirty="0"/>
                  <a:t> is the ratio of weights in the two distributions</a:t>
                </a:r>
              </a:p>
            </p:txBody>
          </p:sp>
        </mc:Choice>
        <mc:Fallback>
          <p:sp>
            <p:nvSpPr>
              <p:cNvPr id="180" name="Sampling from one distribution and estimating quantities in another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1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Why do importance sampl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do importance sampling?</a:t>
            </a:r>
          </a:p>
        </p:txBody>
      </p:sp>
      <p:sp>
        <p:nvSpPr>
          <p:cNvPr id="184" name="Use one simulation to estimate quantities in multiple thermodynamic states, e.g. different temperatur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 one simulation to estimate quantities in multiple thermodynamic states, e.g. different temperatures</a:t>
            </a:r>
          </a:p>
          <a:p>
            <a:r>
              <a:t>Less computational expense to sample from one distribution, e.g. sample with molecular mechanics and calculate quantities in QM/MM distribution</a:t>
            </a:r>
          </a:p>
          <a:p>
            <a:r>
              <a:t>Sample from distribution with smaller configuration space, e.g. harmonic restraint towards a crystal structure</a:t>
            </a:r>
          </a:p>
        </p:txBody>
      </p:sp>
      <p:sp>
        <p:nvSpPr>
          <p:cNvPr id="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1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aveat: Importance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Caveat: Importance sampling</a:t>
            </a:r>
          </a:p>
        </p:txBody>
      </p:sp>
      <p:sp>
        <p:nvSpPr>
          <p:cNvPr id="188" name="The target and sampled distribution should be similar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15242332" cy="9842500"/>
          </a:xfrm>
          <a:prstGeom prst="rect">
            <a:avLst/>
          </a:prstGeom>
        </p:spPr>
        <p:txBody>
          <a:bodyPr/>
          <a:lstStyle/>
          <a:p>
            <a:r>
              <a:rPr dirty="0"/>
              <a:t>The target and sampled distribution should be similar</a:t>
            </a:r>
          </a:p>
          <a:p>
            <a:pPr lvl="1"/>
            <a:r>
              <a:rPr dirty="0"/>
              <a:t>If the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support</a:t>
            </a:r>
            <a:r>
              <a:rPr dirty="0"/>
              <a:t> differs, important configurations may be missed</a:t>
            </a:r>
          </a:p>
          <a:p>
            <a:pPr lvl="1"/>
            <a:r>
              <a:rPr dirty="0"/>
              <a:t>If the probability density significantly differs</a:t>
            </a:r>
          </a:p>
          <a:p>
            <a:pPr lvl="2"/>
            <a:r>
              <a:rPr dirty="0"/>
              <a:t>the reweighing term can be noisy</a:t>
            </a:r>
          </a:p>
          <a:p>
            <a:pPr lvl="2"/>
            <a:r>
              <a:rPr dirty="0"/>
              <a:t>thermodynamic expectations will require more samples to converge</a:t>
            </a:r>
          </a:p>
        </p:txBody>
      </p:sp>
      <p:sp>
        <p:nvSpPr>
          <p:cNvPr id="1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192" name="Group"/>
          <p:cNvGrpSpPr/>
          <p:nvPr/>
        </p:nvGrpSpPr>
        <p:grpSpPr>
          <a:xfrm>
            <a:off x="16827500" y="3029352"/>
            <a:ext cx="6604000" cy="10133796"/>
            <a:chOff x="0" y="0"/>
            <a:chExt cx="6604000" cy="10133795"/>
          </a:xfrm>
        </p:grpSpPr>
        <p:pic>
          <p:nvPicPr>
            <p:cNvPr id="19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29" y="0"/>
              <a:ext cx="6576541" cy="508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1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53795"/>
              <a:ext cx="6604000" cy="5080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Idealized importance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Idealized importance sampling</a:t>
            </a:r>
          </a:p>
        </p:txBody>
      </p:sp>
      <p:sp>
        <p:nvSpPr>
          <p:cNvPr id="195" name="Covers the entire relevant configuration space along an order parameter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1368865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</a:pPr>
            <a:r>
              <a:rPr dirty="0"/>
              <a:t>Covers the entire relevant configuration space along an order parameter</a:t>
            </a:r>
          </a:p>
        </p:txBody>
      </p:sp>
      <p:pic>
        <p:nvPicPr>
          <p:cNvPr id="1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70" y="4656406"/>
            <a:ext cx="10160000" cy="762515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1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hermodynamic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Thermodynamic processes</a:t>
            </a:r>
          </a:p>
        </p:txBody>
      </p:sp>
      <p:sp>
        <p:nvSpPr>
          <p:cNvPr id="200" name="A thermodynamic process involves a change in one or more variables that specify a thermodynamic stat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55625" indent="-555625" defTabSz="739378">
              <a:defRPr sz="4500"/>
            </a:pPr>
            <a:r>
              <a:t>A thermodynamic process involves a change in one or more variables that specify a thermodynamic state</a:t>
            </a:r>
          </a:p>
          <a:p>
            <a:pPr marL="555625" indent="-555625" defTabSz="739378">
              <a:defRPr sz="4500"/>
            </a:pPr>
            <a:r>
              <a:t>In general and physical chemistry, you learn about specifying a state with</a:t>
            </a:r>
          </a:p>
          <a:p>
            <a:pPr marL="955675" lvl="1" indent="-555625" defTabSz="739378">
              <a:defRPr sz="4500"/>
            </a:pPr>
            <a:r>
              <a:t>temperature</a:t>
            </a:r>
          </a:p>
          <a:p>
            <a:pPr marL="955675" lvl="1" indent="-555625" defTabSz="739378">
              <a:defRPr sz="4500"/>
            </a:pPr>
            <a:r>
              <a:t>pressure/volume</a:t>
            </a:r>
          </a:p>
          <a:p>
            <a:pPr marL="955675" lvl="1" indent="-555625" defTabSz="739378">
              <a:defRPr sz="4500"/>
            </a:pPr>
            <a:r>
              <a:t>number of particles/chemical potential</a:t>
            </a:r>
          </a:p>
          <a:p>
            <a:pPr marL="555625" indent="-555625" defTabSz="739378">
              <a:defRPr sz="4500"/>
            </a:pPr>
            <a:r>
              <a:t>Processes include</a:t>
            </a:r>
          </a:p>
          <a:p>
            <a:pPr marL="955675" lvl="1" indent="-555625" defTabSz="739378">
              <a:defRPr sz="4500"/>
            </a:pPr>
            <a:r>
              <a:t>isothermal expansion - a change in volume but not temperature</a:t>
            </a:r>
          </a:p>
          <a:p>
            <a:pPr marL="955675" lvl="1" indent="-555625" defTabSz="739378">
              <a:defRPr sz="4500"/>
            </a:pPr>
            <a:r>
              <a:t>adiabatic expansion - a change in volume without heat transfer in and out of a system</a:t>
            </a:r>
          </a:p>
          <a:p>
            <a:pPr marL="555625" indent="-555625" defTabSz="739378">
              <a:defRPr sz="4500"/>
            </a:pPr>
            <a:r>
              <a:t>In molecular simulations, additional variables can define the potential energy</a:t>
            </a:r>
          </a:p>
          <a:p>
            <a:pPr marL="955675" lvl="1" indent="-555625" defTabSz="739378">
              <a:defRPr sz="4500"/>
            </a:pPr>
            <a:r>
              <a:t>harmonic spring constant and center</a:t>
            </a:r>
          </a:p>
          <a:p>
            <a:pPr marL="955675" lvl="1" indent="-555625" defTabSz="739378">
              <a:defRPr sz="4500"/>
            </a:pPr>
            <a:r>
              <a:t>alchemical parameter for </a:t>
            </a:r>
          </a:p>
          <a:p>
            <a:pPr marL="1355725" lvl="2" indent="-555625" defTabSz="739378">
              <a:defRPr sz="4500"/>
            </a:pPr>
            <a:r>
              <a:t>transforming one substituent into another</a:t>
            </a:r>
          </a:p>
          <a:p>
            <a:pPr marL="1355725" lvl="2" indent="-555625" defTabSz="739378">
              <a:defRPr sz="4500"/>
            </a:pPr>
            <a:r>
              <a:t>decoupling a molecule from solvent</a:t>
            </a:r>
          </a:p>
        </p:txBody>
      </p:sp>
      <p:sp>
        <p:nvSpPr>
          <p:cNvPr id="2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1" build="p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Umbrella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Umbrella Sampling</a:t>
            </a:r>
          </a:p>
        </p:txBody>
      </p:sp>
      <p:sp>
        <p:nvSpPr>
          <p:cNvPr id="2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Harmonic umbrella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Harmonic umbrella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Sampling that covers the entire relevant configuration space along an order parameter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35000" y="3175000"/>
                <a:ext cx="16512580" cy="98425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Sampling that </a:t>
                </a:r>
                <a:r>
                  <a:rPr i="1">
                    <a:latin typeface="+mj-lt"/>
                    <a:ea typeface="+mj-ea"/>
                    <a:cs typeface="+mj-cs"/>
                    <a:sym typeface="Helvetica"/>
                  </a:rPr>
                  <a:t>covers</a:t>
                </a:r>
                <a:r>
                  <a:t> the entire relevant configuration space along an order parameter</a:t>
                </a:r>
              </a:p>
              <a:p>
                <a:r>
                  <a:t>Typically involves </a:t>
                </a:r>
              </a:p>
              <a:p>
                <a:pPr lvl="1"/>
                <a:r>
                  <a:t>a harmonic restraint towards a specific value of the order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]−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is the spring constant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t> is the value of the order parameter for configuration </a:t>
                </a:r>
                <a14:m>
                  <m:oMath xmlns:m="http://schemas.openxmlformats.org/officeDocument/2006/math"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/>
              </a:p>
              <a:p>
                <a:pPr lvl="1"/>
                <a:r>
                  <a:t>multiple simulations with different spring centers</a:t>
                </a:r>
              </a:p>
              <a:p>
                <a:pPr lvl="2"/>
                <a:r>
                  <a:t>the observed probability distributions should overlap</a:t>
                </a:r>
              </a:p>
            </p:txBody>
          </p:sp>
        </mc:Choice>
        <mc:Fallback>
          <p:sp>
            <p:nvSpPr>
              <p:cNvPr id="207" name="Sampling that covers the entire relevant configuration space along an order parameter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5000" y="3175000"/>
                <a:ext cx="16512580" cy="9842500"/>
              </a:xfrm>
              <a:prstGeom prst="rect">
                <a:avLst/>
              </a:prstGeom>
              <a:blipFill>
                <a:blip r:embed="rId2"/>
                <a:stretch>
                  <a:fillRect l="-998" b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211" name="Group"/>
          <p:cNvGrpSpPr/>
          <p:nvPr/>
        </p:nvGrpSpPr>
        <p:grpSpPr>
          <a:xfrm>
            <a:off x="17148175" y="2730499"/>
            <a:ext cx="6983525" cy="6140985"/>
            <a:chOff x="0" y="0"/>
            <a:chExt cx="6983524" cy="6140983"/>
          </a:xfrm>
        </p:grpSpPr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262" y="0"/>
              <a:ext cx="5715001" cy="381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Used with permission from Fiona Naughton: http://fiona-naughton.github.io/blog/2016/05/25/What-is-this-MD-thing-anyway"/>
            <p:cNvSpPr txBox="1"/>
            <p:nvPr/>
          </p:nvSpPr>
          <p:spPr>
            <a:xfrm>
              <a:off x="0" y="4067708"/>
              <a:ext cx="6983525" cy="2073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/>
            <a:p>
              <a:pPr>
                <a:spcBef>
                  <a:spcPts val="2000"/>
                </a:spcBef>
              </a:pPr>
              <a:r>
                <a:t>Used with permission from Fiona Naughton: </a:t>
              </a:r>
              <a:r>
                <a:rPr u="sng">
                  <a:hlinkClick r:id="rId4"/>
                </a:rPr>
                <a:t>http://fiona-naughton.github.io/blog/2016/05/25/What-is-this-MD-thing-anyway</a:t>
              </a:r>
            </a:p>
          </p:txBody>
        </p:sp>
      </p:grpSp>
      <p:pic>
        <p:nvPicPr>
          <p:cNvPr id="21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8287" y="8759899"/>
            <a:ext cx="6083301" cy="4699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1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A cat analogy of umbrella sampling"/>
          <p:cNvSpPr txBox="1">
            <a:spLocks noGrp="1"/>
          </p:cNvSpPr>
          <p:nvPr>
            <p:ph type="title"/>
          </p:nvPr>
        </p:nvSpPr>
        <p:spPr>
          <a:xfrm>
            <a:off x="647700" y="635000"/>
            <a:ext cx="23114000" cy="2540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788669">
              <a:defRPr sz="10752"/>
            </a:lvl1pPr>
          </a:lstStyle>
          <a:p>
            <a:r>
              <a:t>A cat analogy of umbrella sampling</a:t>
            </a:r>
          </a:p>
        </p:txBody>
      </p:sp>
      <p:sp>
        <p:nvSpPr>
          <p:cNvPr id="215" name="Which toy does the cat like best?  To quantify this, we can look at the fraction of time they spend near a specific to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r>
              <a:rPr dirty="0"/>
              <a:t>Which toy does the cat like best? </a:t>
            </a:r>
            <a:br>
              <a:rPr dirty="0"/>
            </a:br>
            <a:r>
              <a:rPr dirty="0"/>
              <a:t>To quantify this, we can look at the fraction of time they spend near a specific toy.</a:t>
            </a:r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lang="en-US"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endParaRPr dirty="0"/>
          </a:p>
          <a:p>
            <a:pPr marL="0" indent="0" algn="ctr" defTabSz="649009">
              <a:spcBef>
                <a:spcPts val="1500"/>
              </a:spcBef>
              <a:buSzTx/>
              <a:buNone/>
              <a:defRPr sz="3950"/>
            </a:pPr>
            <a:r>
              <a:rPr dirty="0"/>
              <a:t>But we can be watching the cat for a </a:t>
            </a:r>
            <a:r>
              <a:rPr u="sng" dirty="0"/>
              <a:t>long</a:t>
            </a:r>
            <a:r>
              <a:rPr dirty="0"/>
              <a:t> time…</a:t>
            </a:r>
          </a:p>
          <a:p>
            <a:pPr marL="0" indent="0" algn="ctr" defTabSz="649009">
              <a:spcBef>
                <a:spcPts val="1500"/>
              </a:spcBef>
              <a:buSzTx/>
              <a:buNone/>
              <a:defRPr sz="2528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Used with permission from Fiona Naughton: </a:t>
            </a:r>
            <a:r>
              <a:rPr u="sng" dirty="0">
                <a:hlinkClick r:id="rId3"/>
              </a:rPr>
              <a:t>http://fiona-naughton.github.io/blog/2016/05/25/What-is-this-MD-thing-anyway</a:t>
            </a:r>
          </a:p>
        </p:txBody>
      </p:sp>
      <p:pic>
        <p:nvPicPr>
          <p:cNvPr id="21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070" y="4706110"/>
            <a:ext cx="12700000" cy="6773334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Umbrella sampling with a ca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Umbrella sampling with a cat</a:t>
            </a:r>
          </a:p>
        </p:txBody>
      </p:sp>
      <p:sp>
        <p:nvSpPr>
          <p:cNvPr id="220" name="If we put a restraint on the cat, we can determine what they prefer in a smaller area. Overall, we don’t need to watch as long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spcBef>
                <a:spcPts val="2000"/>
              </a:spcBef>
              <a:buSzTx/>
              <a:buNone/>
            </a:pPr>
            <a:r>
              <a:rPr dirty="0"/>
              <a:t>If we put a restraint on the cat, we can determine what they prefer in a smaller area. Overall, we don’t need to watch as long.</a:t>
            </a: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lang="en-US"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dirty="0"/>
          </a:p>
          <a:p>
            <a:pPr marL="0" indent="0" algn="ctr">
              <a:spcBef>
                <a:spcPts val="2000"/>
              </a:spcBef>
              <a:buSzTx/>
              <a:buNone/>
            </a:pPr>
            <a:endParaRPr dirty="0"/>
          </a:p>
          <a:p>
            <a:pPr marL="0" indent="0" algn="ctr">
              <a:spcBef>
                <a:spcPts val="20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Used with permission from Fiona Naughton: </a:t>
            </a:r>
            <a:r>
              <a:rPr u="sng" dirty="0">
                <a:hlinkClick r:id="rId2"/>
              </a:rPr>
              <a:t>http://fiona-naughton.github.io/blog/2016/05/25/What-is-this-MD-thing-anyway</a:t>
            </a:r>
          </a:p>
        </p:txBody>
      </p:sp>
      <p:pic>
        <p:nvPicPr>
          <p:cNvPr id="2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814" y="5716194"/>
            <a:ext cx="19050000" cy="602436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Analysis of umbrella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Analysis of umbrella sampling</a:t>
            </a:r>
          </a:p>
        </p:txBody>
      </p:sp>
      <p:sp>
        <p:nvSpPr>
          <p:cNvPr id="225" name="Umbrella sampling yields biased samples from multiple statistical distribu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49451" indent="-549451" defTabSz="731162">
              <a:defRPr sz="4450"/>
            </a:pPr>
            <a:r>
              <a:rPr dirty="0"/>
              <a:t>Umbrella sampling yields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biased</a:t>
            </a:r>
            <a:r>
              <a:rPr dirty="0"/>
              <a:t> samples from multiple statistical distributions</a:t>
            </a:r>
          </a:p>
          <a:p>
            <a:pPr marL="549451" indent="-549451" defTabSz="731162">
              <a:defRPr sz="4450"/>
            </a:pPr>
            <a:r>
              <a:rPr dirty="0"/>
              <a:t>What we usually want is an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unbiased</a:t>
            </a:r>
            <a:r>
              <a:rPr dirty="0"/>
              <a:t> free energy landscape</a:t>
            </a: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lang="en-US" dirty="0"/>
          </a:p>
          <a:p>
            <a:pPr marL="549451" indent="-549451" defTabSz="731162">
              <a:defRPr sz="4450"/>
            </a:pPr>
            <a:endParaRPr dirty="0"/>
          </a:p>
          <a:p>
            <a:pPr marL="0" indent="0" algn="ctr" defTabSz="731162">
              <a:buSzTx/>
              <a:buNone/>
              <a:defRPr sz="2848">
                <a:latin typeface="+mj-lt"/>
                <a:ea typeface="+mj-ea"/>
                <a:cs typeface="+mj-cs"/>
                <a:sym typeface="Helvetica"/>
              </a:defRPr>
            </a:pPr>
            <a:br>
              <a:rPr dirty="0"/>
            </a:br>
            <a:r>
              <a:rPr dirty="0"/>
              <a:t>Used with permission from Fiona Naughton: </a:t>
            </a:r>
            <a:r>
              <a:rPr u="sng" dirty="0">
                <a:hlinkClick r:id="rId2"/>
              </a:rPr>
              <a:t>http://fiona-naughton.github.io/blog/2016/05/25/What-is-this-MD-thing-anyway</a:t>
            </a:r>
          </a:p>
          <a:p>
            <a:pPr marL="549451" indent="-549451" defTabSz="731162">
              <a:defRPr sz="4450"/>
            </a:pPr>
            <a:r>
              <a:rPr dirty="0"/>
              <a:t>Samples from individual distributions are reweighed to remove bias</a:t>
            </a:r>
          </a:p>
          <a:p>
            <a:pPr marL="549451" indent="-549451" defTabSz="731162">
              <a:defRPr sz="4450"/>
            </a:pPr>
            <a:r>
              <a:rPr dirty="0"/>
              <a:t>Samples from multiple distributions are joined </a:t>
            </a:r>
          </a:p>
          <a:p>
            <a:pPr marL="945056" lvl="1" indent="-549451" defTabSz="731162">
              <a:defRPr sz="4450"/>
            </a:pPr>
            <a:r>
              <a:rPr dirty="0"/>
              <a:t>to recover a landscape (WHAM, Weighted Histogram Analysis Method)</a:t>
            </a:r>
          </a:p>
          <a:p>
            <a:pPr marL="945056" lvl="1" indent="-549451" defTabSz="731162">
              <a:defRPr sz="4450"/>
            </a:pPr>
            <a:r>
              <a:rPr dirty="0"/>
              <a:t>to estimate arbitrary expectation values (MBAR, Multi-state Bennett Acceptance Ratio)</a:t>
            </a:r>
          </a:p>
        </p:txBody>
      </p:sp>
      <p:pic>
        <p:nvPicPr>
          <p:cNvPr id="226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538" y="4807856"/>
            <a:ext cx="10800924" cy="4909511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Exercise 9: Umbrella Samp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 9: Umbrella Sampling</a:t>
            </a:r>
          </a:p>
        </p:txBody>
      </p:sp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Review</a:t>
            </a:r>
          </a:p>
        </p:txBody>
      </p:sp>
      <p:sp>
        <p:nvSpPr>
          <p:cNvPr id="234" name="What is a thermodynamic process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a thermodynamic process?</a:t>
            </a:r>
          </a:p>
          <a:p>
            <a:r>
              <a:t>What are the benefits of umbrella sampling?</a:t>
            </a:r>
          </a:p>
          <a:p>
            <a:r>
              <a:t>How are umbrella sampling simulations analyzed?</a:t>
            </a:r>
          </a:p>
        </p:txBody>
      </p:sp>
      <p:sp>
        <p:nvSpPr>
          <p:cNvPr id="2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789</Words>
  <Application>Microsoft Macintosh PowerPoint</Application>
  <PresentationFormat>Custom</PresentationFormat>
  <Paragraphs>120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Avenir</vt:lpstr>
      <vt:lpstr>Cambria Math</vt:lpstr>
      <vt:lpstr>Gill Sans</vt:lpstr>
      <vt:lpstr>Helvetica</vt:lpstr>
      <vt:lpstr>Helvetica Light</vt:lpstr>
      <vt:lpstr>Helvetica Neue</vt:lpstr>
      <vt:lpstr>Helvetica Neue Light</vt:lpstr>
      <vt:lpstr>White</vt:lpstr>
      <vt:lpstr>3/30/2026 Enhanced Sampling</vt:lpstr>
      <vt:lpstr>Importance Sampling</vt:lpstr>
      <vt:lpstr>Estimating Thermodynamic Properties</vt:lpstr>
      <vt:lpstr>Importance sampling</vt:lpstr>
      <vt:lpstr>Why do importance sampling?</vt:lpstr>
      <vt:lpstr>Caveat: Importance sampling</vt:lpstr>
      <vt:lpstr>Idealized importance sampling</vt:lpstr>
      <vt:lpstr>Thermodynamic processes</vt:lpstr>
      <vt:lpstr>Umbrella Sampling</vt:lpstr>
      <vt:lpstr>Harmonic umbrella sampling</vt:lpstr>
      <vt:lpstr>A cat analogy of umbrella sampling</vt:lpstr>
      <vt:lpstr>Umbrella sampling with a cat</vt:lpstr>
      <vt:lpstr>Analysis of umbrella sampling</vt:lpstr>
      <vt:lpstr>Exercise 9: Umbrella Sampling</vt:lpstr>
      <vt:lpstr>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2</cp:revision>
  <dcterms:modified xsi:type="dcterms:W3CDTF">2026-03-28T17:55:46Z</dcterms:modified>
</cp:coreProperties>
</file>