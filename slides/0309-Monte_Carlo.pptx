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lvl1pPr>
    <a:lvl2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lvl2pPr>
    <a:lvl3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lvl3pPr>
    <a:lvl4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lvl4pPr>
    <a:lvl5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lvl5pPr>
    <a:lvl6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lvl6pPr>
    <a:lvl7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lvl7pPr>
    <a:lvl8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lvl8pPr>
    <a:lvl9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Light"/>
          <a:ea typeface="Helvetica Light"/>
          <a:cs typeface="Helvetica Light"/>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a:tcStyle>
        <a:tcBdr/>
        <a:fill>
          <a:solidFill>
            <a:srgbClr val="FFFFFF"/>
          </a:solidFill>
        </a:fill>
      </a:tcStyle>
    </a:band2H>
    <a:firstCol>
      <a:tcTxStyle b="off" i="off">
        <a:font>
          <a:latin typeface="Helvetica Light"/>
          <a:ea typeface="Helvetica Light"/>
          <a:cs typeface="Helvetica Light"/>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
          <a:latin typeface="Helvetica Light"/>
          <a:ea typeface="Helvetica Light"/>
          <a:cs typeface="Helvetica Light"/>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
          <a:latin typeface="Helvetica Light"/>
          <a:ea typeface="Helvetica Light"/>
          <a:cs typeface="Helvetica Light"/>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noFill/>
              <a:miter lim="400000"/>
            </a:ln>
          </a:left>
          <a:right>
            <a:ln w="25400" cap="flat">
              <a:solidFill>
                <a:srgbClr val="FFFFFF"/>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A8A8A8"/>
          </a:solidFill>
        </a:fill>
      </a:tcStyle>
    </a:firstCol>
    <a:la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FFFFFF"/>
              </a:solidFill>
              <a:prstDash val="solid"/>
              <a:round/>
            </a:ln>
          </a:top>
          <a:bottom>
            <a:ln w="12700" cap="flat">
              <a:noFill/>
              <a:miter lim="400000"/>
            </a:ln>
          </a:bottom>
          <a:insideH>
            <a:ln w="12700" cap="flat">
              <a:noFill/>
              <a:miter lim="400000"/>
            </a:ln>
          </a:insideH>
          <a:insideV>
            <a:ln w="12700" cap="flat">
              <a:noFill/>
              <a:miter lim="400000"/>
            </a:ln>
          </a:insideV>
        </a:tcBdr>
        <a:fill>
          <a:solidFill>
            <a:srgbClr val="A8A8A8"/>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25400" cap="flat">
              <a:solidFill>
                <a:srgbClr val="FFFFFF"/>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Helvetica Light"/>
          <a:ea typeface="Helvetica Light"/>
          <a:cs typeface="Helvetica Light"/>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2E8"/>
          </a:solidFill>
        </a:fill>
      </a:tcStyle>
    </a:wholeTbl>
    <a:band2H>
      <a:tcTxStyle/>
      <a:tcStyle>
        <a:tcBdr/>
        <a:fill>
          <a:solidFill>
            <a:srgbClr val="E6EA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F821DB8-F4EB-4A41-A1BA-3FCAFE7338EE}" styleName="">
    <a:tblBg/>
    <a:wholeTbl>
      <a:tcTxStyle b="off" i="off">
        <a:font>
          <a:latin typeface="Helvetica Light"/>
          <a:ea typeface="Helvetica Light"/>
          <a:cs typeface="Helvetica Light"/>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2E7CB"/>
          </a:solidFill>
        </a:fill>
      </a:tcStyle>
    </a:wholeTbl>
    <a:band2H>
      <a:tcTxStyle/>
      <a:tcStyle>
        <a:tcBdr/>
        <a:fill>
          <a:solidFill>
            <a:srgbClr val="F8F4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33BA23B1-9221-436E-865A-0063620EA4FD}" styleName="">
    <a:tblBg/>
    <a:wholeTbl>
      <a:tcTxStyle b="off" i="off">
        <a:font>
          <a:latin typeface="Helvetica Light"/>
          <a:ea typeface="Helvetica Light"/>
          <a:cs typeface="Helvetica Light"/>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CDDE"/>
          </a:solidFill>
        </a:fill>
      </a:tcStyle>
    </a:wholeTbl>
    <a:band2H>
      <a:tcTxStyle/>
      <a:tcStyle>
        <a:tcBdr/>
        <a:fill>
          <a:solidFill>
            <a:srgbClr val="EBE8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2708684C-4D16-4618-839F-0558EEFCDFE6}" styleName="">
    <a:tblBg/>
    <a:wholeTbl>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97"/>
    <p:restoredTop sz="94726"/>
  </p:normalViewPr>
  <p:slideViewPr>
    <p:cSldViewPr snapToGrid="0">
      <p:cViewPr varScale="1">
        <p:scale>
          <a:sx n="60" d="100"/>
          <a:sy n="60" d="100"/>
        </p:scale>
        <p:origin x="9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7" name="Shape 127"/>
          <p:cNvSpPr>
            <a:spLocks noGrp="1" noRot="1" noChangeAspect="1"/>
          </p:cNvSpPr>
          <p:nvPr>
            <p:ph type="sldImg"/>
          </p:nvPr>
        </p:nvSpPr>
        <p:spPr>
          <a:xfrm>
            <a:off x="1143000" y="685800"/>
            <a:ext cx="4572000" cy="3429000"/>
          </a:xfrm>
          <a:prstGeom prst="rect">
            <a:avLst/>
          </a:prstGeom>
        </p:spPr>
        <p:txBody>
          <a:bodyPr/>
          <a:lstStyle/>
          <a:p>
            <a:endParaRPr/>
          </a:p>
        </p:txBody>
      </p:sp>
      <p:sp>
        <p:nvSpPr>
          <p:cNvPr id="128" name="Shape 1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400">
        <a:latin typeface="+mn-lt"/>
        <a:ea typeface="+mn-ea"/>
        <a:cs typeface="+mn-cs"/>
        <a:sym typeface="Avenir Roman"/>
      </a:defRPr>
    </a:lvl1pPr>
    <a:lvl2pPr indent="228600" defTabSz="457200" latinLnBrk="0">
      <a:lnSpc>
        <a:spcPct val="125000"/>
      </a:lnSpc>
      <a:defRPr sz="2400">
        <a:latin typeface="+mn-lt"/>
        <a:ea typeface="+mn-ea"/>
        <a:cs typeface="+mn-cs"/>
        <a:sym typeface="Avenir Roman"/>
      </a:defRPr>
    </a:lvl2pPr>
    <a:lvl3pPr indent="457200" defTabSz="457200" latinLnBrk="0">
      <a:lnSpc>
        <a:spcPct val="125000"/>
      </a:lnSpc>
      <a:defRPr sz="2400">
        <a:latin typeface="+mn-lt"/>
        <a:ea typeface="+mn-ea"/>
        <a:cs typeface="+mn-cs"/>
        <a:sym typeface="Avenir Roman"/>
      </a:defRPr>
    </a:lvl3pPr>
    <a:lvl4pPr indent="685800" defTabSz="457200" latinLnBrk="0">
      <a:lnSpc>
        <a:spcPct val="125000"/>
      </a:lnSpc>
      <a:defRPr sz="2400">
        <a:latin typeface="+mn-lt"/>
        <a:ea typeface="+mn-ea"/>
        <a:cs typeface="+mn-cs"/>
        <a:sym typeface="Avenir Roman"/>
      </a:defRPr>
    </a:lvl4pPr>
    <a:lvl5pPr indent="914400" defTabSz="457200" latinLnBrk="0">
      <a:lnSpc>
        <a:spcPct val="125000"/>
      </a:lnSpc>
      <a:defRPr sz="2400">
        <a:latin typeface="+mn-lt"/>
        <a:ea typeface="+mn-ea"/>
        <a:cs typeface="+mn-cs"/>
        <a:sym typeface="Avenir Roman"/>
      </a:defRPr>
    </a:lvl5pPr>
    <a:lvl6pPr indent="1143000" defTabSz="457200" latinLnBrk="0">
      <a:lnSpc>
        <a:spcPct val="125000"/>
      </a:lnSpc>
      <a:defRPr sz="2400">
        <a:latin typeface="+mn-lt"/>
        <a:ea typeface="+mn-ea"/>
        <a:cs typeface="+mn-cs"/>
        <a:sym typeface="Avenir Roman"/>
      </a:defRPr>
    </a:lvl6pPr>
    <a:lvl7pPr indent="1371600" defTabSz="457200" latinLnBrk="0">
      <a:lnSpc>
        <a:spcPct val="125000"/>
      </a:lnSpc>
      <a:defRPr sz="2400">
        <a:latin typeface="+mn-lt"/>
        <a:ea typeface="+mn-ea"/>
        <a:cs typeface="+mn-cs"/>
        <a:sym typeface="Avenir Roman"/>
      </a:defRPr>
    </a:lvl7pPr>
    <a:lvl8pPr indent="1600200" defTabSz="457200" latinLnBrk="0">
      <a:lnSpc>
        <a:spcPct val="125000"/>
      </a:lnSpc>
      <a:defRPr sz="2400">
        <a:latin typeface="+mn-lt"/>
        <a:ea typeface="+mn-ea"/>
        <a:cs typeface="+mn-cs"/>
        <a:sym typeface="Avenir Roman"/>
      </a:defRPr>
    </a:lvl8pPr>
    <a:lvl9pPr indent="1828800" defTabSz="457200" latinLnBrk="0">
      <a:lnSpc>
        <a:spcPct val="125000"/>
      </a:lnSpc>
      <a:defRPr sz="2400">
        <a:latin typeface="+mn-lt"/>
        <a:ea typeface="+mn-ea"/>
        <a:cs typeface="+mn-cs"/>
        <a:sym typeface="Avenir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35000" y="2303858"/>
            <a:ext cx="23114000" cy="4643439"/>
          </a:xfrm>
          <a:prstGeom prst="rect">
            <a:avLst/>
          </a:prstGeom>
        </p:spPr>
        <p:txBody>
          <a:bodyPr anchor="b"/>
          <a:lstStyle/>
          <a:p>
            <a:r>
              <a:t>Title Text</a:t>
            </a:r>
          </a:p>
        </p:txBody>
      </p:sp>
      <p:sp>
        <p:nvSpPr>
          <p:cNvPr id="12" name="Body Level One…"/>
          <p:cNvSpPr txBox="1">
            <a:spLocks noGrp="1"/>
          </p:cNvSpPr>
          <p:nvPr>
            <p:ph type="body" sz="quarter" idx="1"/>
          </p:nvPr>
        </p:nvSpPr>
        <p:spPr>
          <a:xfrm>
            <a:off x="4833937" y="7072311"/>
            <a:ext cx="14716127" cy="1589486"/>
          </a:xfrm>
          <a:prstGeom prst="rect">
            <a:avLst/>
          </a:prstGeom>
        </p:spPr>
        <p:txBody>
          <a:bodyPr anchor="t"/>
          <a:lstStyle>
            <a:lvl1pPr marL="0" indent="0" algn="ctr">
              <a:buSzTx/>
              <a:buNone/>
              <a:defRPr sz="4400"/>
            </a:lvl1pPr>
            <a:lvl2pPr marL="0" indent="0" algn="ctr">
              <a:buSzTx/>
              <a:buNone/>
              <a:defRPr sz="4400"/>
            </a:lvl2pPr>
            <a:lvl3pPr marL="0" indent="0" algn="ctr">
              <a:buSzTx/>
              <a:buNone/>
              <a:defRPr sz="4400"/>
            </a:lvl3pPr>
            <a:lvl4pPr marL="0" indent="0" algn="ctr">
              <a:buSzTx/>
              <a:buNone/>
              <a:defRPr sz="4400"/>
            </a:lvl4pPr>
            <a:lvl5pPr marL="0" indent="0" algn="ctr">
              <a:buSzTx/>
              <a:buNone/>
              <a:defRPr sz="4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 Left">
    <p:spTree>
      <p:nvGrpSpPr>
        <p:cNvPr id="1" name=""/>
        <p:cNvGrpSpPr/>
        <p:nvPr/>
      </p:nvGrpSpPr>
      <p:grpSpPr>
        <a:xfrm>
          <a:off x="0" y="0"/>
          <a:ext cx="0" cy="0"/>
          <a:chOff x="0" y="0"/>
          <a:chExt cx="0" cy="0"/>
        </a:xfrm>
      </p:grpSpPr>
      <p:sp>
        <p:nvSpPr>
          <p:cNvPr id="37" name="Line"/>
          <p:cNvSpPr/>
          <p:nvPr/>
        </p:nvSpPr>
        <p:spPr>
          <a:xfrm>
            <a:off x="3958828" y="2768201"/>
            <a:ext cx="16466344" cy="132"/>
          </a:xfrm>
          <a:prstGeom prst="line">
            <a:avLst/>
          </a:prstGeom>
          <a:ln w="12700">
            <a:solidFill>
              <a:srgbClr val="9A9A9A"/>
            </a:solidFill>
            <a:miter lim="400000"/>
          </a:ln>
        </p:spPr>
        <p:txBody>
          <a:bodyPr lIns="45718" tIns="45718" rIns="45718" bIns="45718"/>
          <a:lstStyle/>
          <a:p>
            <a:endParaRPr/>
          </a:p>
        </p:txBody>
      </p:sp>
      <p:sp>
        <p:nvSpPr>
          <p:cNvPr id="38" name="Title Text"/>
          <p:cNvSpPr txBox="1">
            <a:spLocks noGrp="1"/>
          </p:cNvSpPr>
          <p:nvPr>
            <p:ph type="title"/>
          </p:nvPr>
        </p:nvSpPr>
        <p:spPr>
          <a:xfrm>
            <a:off x="635000" y="464343"/>
            <a:ext cx="23114000" cy="1964533"/>
          </a:xfrm>
          <a:prstGeom prst="rect">
            <a:avLst/>
          </a:prstGeom>
        </p:spPr>
        <p:txBody>
          <a:bodyPr anchor="b"/>
          <a:lstStyle/>
          <a:p>
            <a:r>
              <a:t>Title Text</a:t>
            </a:r>
          </a:p>
        </p:txBody>
      </p:sp>
      <p:sp>
        <p:nvSpPr>
          <p:cNvPr id="39" name="Body Level One…"/>
          <p:cNvSpPr txBox="1">
            <a:spLocks noGrp="1"/>
          </p:cNvSpPr>
          <p:nvPr>
            <p:ph type="body" sz="half" idx="1"/>
          </p:nvPr>
        </p:nvSpPr>
        <p:spPr>
          <a:xfrm>
            <a:off x="635000" y="3268264"/>
            <a:ext cx="12700000" cy="9525002"/>
          </a:xfrm>
          <a:prstGeom prst="rect">
            <a:avLst/>
          </a:prstGeom>
        </p:spPr>
        <p:txBody>
          <a:bodyPr anchor="t"/>
          <a:lstStyle>
            <a:lvl1pPr marL="369276" indent="-369276">
              <a:buSzPct val="100000"/>
              <a:defRPr sz="3600">
                <a:solidFill>
                  <a:srgbClr val="747474"/>
                </a:solidFill>
                <a:latin typeface="Helvetica Neue"/>
                <a:ea typeface="Helvetica Neue"/>
                <a:cs typeface="Helvetica Neue"/>
                <a:sym typeface="Helvetica Neue"/>
              </a:defRPr>
            </a:lvl1pPr>
            <a:lvl2pPr marL="813776" indent="-369276">
              <a:buSzPct val="100000"/>
              <a:defRPr sz="3600">
                <a:solidFill>
                  <a:srgbClr val="747474"/>
                </a:solidFill>
                <a:latin typeface="Helvetica Neue"/>
                <a:ea typeface="Helvetica Neue"/>
                <a:cs typeface="Helvetica Neue"/>
                <a:sym typeface="Helvetica Neue"/>
              </a:defRPr>
            </a:lvl2pPr>
            <a:lvl3pPr marL="1258276" indent="-369276">
              <a:buSzPct val="100000"/>
              <a:defRPr sz="3600">
                <a:solidFill>
                  <a:srgbClr val="747474"/>
                </a:solidFill>
                <a:latin typeface="Helvetica Neue"/>
                <a:ea typeface="Helvetica Neue"/>
                <a:cs typeface="Helvetica Neue"/>
                <a:sym typeface="Helvetica Neue"/>
              </a:defRPr>
            </a:lvl3pPr>
            <a:lvl4pPr marL="1702775" indent="-369276">
              <a:buSzPct val="100000"/>
              <a:defRPr sz="3600">
                <a:solidFill>
                  <a:srgbClr val="747474"/>
                </a:solidFill>
                <a:latin typeface="Helvetica Neue"/>
                <a:ea typeface="Helvetica Neue"/>
                <a:cs typeface="Helvetica Neue"/>
                <a:sym typeface="Helvetica Neue"/>
              </a:defRPr>
            </a:lvl4pPr>
            <a:lvl5pPr marL="2147275" indent="-369275">
              <a:buSzPct val="100000"/>
              <a:defRPr sz="3600">
                <a:solidFill>
                  <a:srgbClr val="747474"/>
                </a:solidFill>
                <a:latin typeface="Helvetica Neue"/>
                <a:ea typeface="Helvetica Neue"/>
                <a:cs typeface="Helvetica Neue"/>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xfrm>
            <a:off x="12014201" y="13004800"/>
            <a:ext cx="409778" cy="415874"/>
          </a:xfrm>
          <a:prstGeom prst="rect">
            <a:avLst/>
          </a:prstGeom>
        </p:spPr>
        <p:txBody>
          <a:bodyPr>
            <a:spAutoFit/>
          </a:bodyPr>
          <a:lstStyle>
            <a:lvl1pPr algn="r">
              <a:defRPr sz="1800">
                <a:latin typeface="Helvetica Neue"/>
                <a:ea typeface="Helvetica Neue"/>
                <a:cs typeface="Helvetica Neue"/>
                <a:sym typeface="Helvetica Neue"/>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47" name="Image"/>
          <p:cNvSpPr>
            <a:spLocks noGrp="1"/>
          </p:cNvSpPr>
          <p:nvPr>
            <p:ph type="pic" sz="half" idx="21"/>
          </p:nvPr>
        </p:nvSpPr>
        <p:spPr>
          <a:xfrm>
            <a:off x="5307210" y="892967"/>
            <a:ext cx="13751721" cy="9172590"/>
          </a:xfrm>
          <a:prstGeom prst="rect">
            <a:avLst/>
          </a:prstGeom>
        </p:spPr>
        <p:txBody>
          <a:bodyPr lIns="91439" tIns="45719" rIns="91439" bIns="45719" anchor="t">
            <a:noAutofit/>
          </a:bodyPr>
          <a:lstStyle/>
          <a:p>
            <a:endParaRPr/>
          </a:p>
        </p:txBody>
      </p:sp>
      <p:sp>
        <p:nvSpPr>
          <p:cNvPr id="48" name="Title Text"/>
          <p:cNvSpPr txBox="1">
            <a:spLocks noGrp="1"/>
          </p:cNvSpPr>
          <p:nvPr>
            <p:ph type="title"/>
          </p:nvPr>
        </p:nvSpPr>
        <p:spPr>
          <a:xfrm>
            <a:off x="4833937" y="9447609"/>
            <a:ext cx="14716127" cy="2000252"/>
          </a:xfrm>
          <a:prstGeom prst="rect">
            <a:avLst/>
          </a:prstGeom>
        </p:spPr>
        <p:txBody>
          <a:bodyPr anchor="b"/>
          <a:lstStyle/>
          <a:p>
            <a:r>
              <a:t>Title Text</a:t>
            </a:r>
          </a:p>
        </p:txBody>
      </p:sp>
      <p:sp>
        <p:nvSpPr>
          <p:cNvPr id="49" name="Body Level One…"/>
          <p:cNvSpPr txBox="1">
            <a:spLocks noGrp="1"/>
          </p:cNvSpPr>
          <p:nvPr>
            <p:ph type="body" sz="quarter" idx="1"/>
          </p:nvPr>
        </p:nvSpPr>
        <p:spPr>
          <a:xfrm>
            <a:off x="4833937" y="11519296"/>
            <a:ext cx="14716127" cy="1589487"/>
          </a:xfrm>
          <a:prstGeom prst="rect">
            <a:avLst/>
          </a:prstGeom>
        </p:spPr>
        <p:txBody>
          <a:bodyPr anchor="t"/>
          <a:lstStyle>
            <a:lvl1pPr marL="0" indent="0" algn="ctr">
              <a:buSzTx/>
              <a:buNone/>
              <a:defRPr sz="4400"/>
            </a:lvl1pPr>
            <a:lvl2pPr marL="0" indent="0" algn="ctr">
              <a:buSzTx/>
              <a:buNone/>
              <a:defRPr sz="4400"/>
            </a:lvl2pPr>
            <a:lvl3pPr marL="0" indent="0" algn="ctr">
              <a:buSzTx/>
              <a:buNone/>
              <a:defRPr sz="4400"/>
            </a:lvl3pPr>
            <a:lvl4pPr marL="0" indent="0" algn="ctr">
              <a:buSzTx/>
              <a:buNone/>
              <a:defRPr sz="4400"/>
            </a:lvl4pPr>
            <a:lvl5pPr marL="0" indent="0" algn="ctr">
              <a:buSzTx/>
              <a:buNone/>
              <a:defRPr sz="4400"/>
            </a:lvl5pPr>
          </a:lstStyle>
          <a:p>
            <a:r>
              <a:t>Body Level One</a:t>
            </a:r>
          </a:p>
          <a:p>
            <a:pPr lvl="1"/>
            <a:r>
              <a:t>Body Level Two</a:t>
            </a:r>
          </a:p>
          <a:p>
            <a:pPr lvl="2"/>
            <a:r>
              <a:t>Body Level Three</a:t>
            </a:r>
          </a:p>
          <a:p>
            <a:pPr lvl="3"/>
            <a:r>
              <a:t>Body Level Four</a:t>
            </a:r>
          </a:p>
          <a:p>
            <a:pPr lvl="4"/>
            <a:r>
              <a:t>Body Level Five</a:t>
            </a:r>
          </a:p>
        </p:txBody>
      </p:sp>
      <p:sp>
        <p:nvSpPr>
          <p:cNvPr id="50" name="Slide Number"/>
          <p:cNvSpPr txBox="1">
            <a:spLocks noGrp="1"/>
          </p:cNvSpPr>
          <p:nvPr>
            <p:ph type="sldNum" sz="quarter" idx="2"/>
          </p:nvPr>
        </p:nvSpPr>
        <p:spPr>
          <a:xfrm>
            <a:off x="11935814" y="13001625"/>
            <a:ext cx="494513" cy="511174"/>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57" name="Image"/>
          <p:cNvSpPr>
            <a:spLocks noGrp="1"/>
          </p:cNvSpPr>
          <p:nvPr>
            <p:ph type="pic" idx="21"/>
          </p:nvPr>
        </p:nvSpPr>
        <p:spPr>
          <a:xfrm>
            <a:off x="6869906" y="892967"/>
            <a:ext cx="17377174" cy="11584783"/>
          </a:xfrm>
          <a:prstGeom prst="rect">
            <a:avLst/>
          </a:prstGeom>
        </p:spPr>
        <p:txBody>
          <a:bodyPr lIns="91439" tIns="45719" rIns="91439" bIns="45719" anchor="t">
            <a:noAutofit/>
          </a:bodyPr>
          <a:lstStyle/>
          <a:p>
            <a:endParaRPr/>
          </a:p>
        </p:txBody>
      </p:sp>
      <p:sp>
        <p:nvSpPr>
          <p:cNvPr id="58" name="Title Text"/>
          <p:cNvSpPr txBox="1">
            <a:spLocks noGrp="1"/>
          </p:cNvSpPr>
          <p:nvPr>
            <p:ph type="title"/>
          </p:nvPr>
        </p:nvSpPr>
        <p:spPr>
          <a:xfrm>
            <a:off x="4387453" y="892967"/>
            <a:ext cx="7500939" cy="5607846"/>
          </a:xfrm>
          <a:prstGeom prst="rect">
            <a:avLst/>
          </a:prstGeom>
        </p:spPr>
        <p:txBody>
          <a:bodyPr anchor="b"/>
          <a:lstStyle>
            <a:lvl1pPr>
              <a:defRPr sz="8400" b="0">
                <a:latin typeface="Helvetica Light"/>
                <a:ea typeface="Helvetica Light"/>
                <a:cs typeface="Helvetica Light"/>
                <a:sym typeface="Helvetica Light"/>
              </a:defRPr>
            </a:lvl1pPr>
          </a:lstStyle>
          <a:p>
            <a:r>
              <a:t>Title Text</a:t>
            </a:r>
          </a:p>
        </p:txBody>
      </p:sp>
      <p:sp>
        <p:nvSpPr>
          <p:cNvPr id="59" name="Body Level One…"/>
          <p:cNvSpPr txBox="1">
            <a:spLocks noGrp="1"/>
          </p:cNvSpPr>
          <p:nvPr>
            <p:ph type="body" sz="quarter" idx="1"/>
          </p:nvPr>
        </p:nvSpPr>
        <p:spPr>
          <a:xfrm>
            <a:off x="4387453" y="6697264"/>
            <a:ext cx="7500939" cy="5768580"/>
          </a:xfrm>
          <a:prstGeom prst="rect">
            <a:avLst/>
          </a:prstGeom>
        </p:spPr>
        <p:txBody>
          <a:bodyPr anchor="t"/>
          <a:lstStyle>
            <a:lvl1pPr marL="0" indent="0" algn="ctr">
              <a:buSzTx/>
              <a:buNone/>
              <a:defRPr sz="4400"/>
            </a:lvl1pPr>
            <a:lvl2pPr marL="0" indent="0" algn="ctr">
              <a:buSzTx/>
              <a:buNone/>
              <a:defRPr sz="4400"/>
            </a:lvl2pPr>
            <a:lvl3pPr marL="0" indent="0" algn="ctr">
              <a:buSzTx/>
              <a:buNone/>
              <a:defRPr sz="4400"/>
            </a:lvl3pPr>
            <a:lvl4pPr marL="0" indent="0" algn="ctr">
              <a:buSzTx/>
              <a:buNone/>
              <a:defRPr sz="4400"/>
            </a:lvl4pPr>
            <a:lvl5pPr marL="0" indent="0" algn="ctr">
              <a:buSzTx/>
              <a:buNone/>
              <a:defRPr sz="4400"/>
            </a:lvl5pPr>
          </a:lstStyle>
          <a:p>
            <a:r>
              <a:t>Body Level One</a:t>
            </a:r>
          </a:p>
          <a:p>
            <a:pPr lvl="1"/>
            <a:r>
              <a:t>Body Level Two</a:t>
            </a:r>
          </a:p>
          <a:p>
            <a:pPr lvl="2"/>
            <a:r>
              <a:t>Body Level Three</a:t>
            </a:r>
          </a:p>
          <a:p>
            <a:pPr lvl="3"/>
            <a:r>
              <a:t>Body Level Four</a:t>
            </a:r>
          </a:p>
          <a:p>
            <a:pPr lvl="4"/>
            <a:r>
              <a:t>Body Level Five</a:t>
            </a:r>
          </a:p>
        </p:txBody>
      </p:sp>
      <p:sp>
        <p:nvSpPr>
          <p:cNvPr id="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7" name="Image"/>
          <p:cNvSpPr>
            <a:spLocks noGrp="1"/>
          </p:cNvSpPr>
          <p:nvPr>
            <p:ph type="pic" sz="half" idx="21"/>
          </p:nvPr>
        </p:nvSpPr>
        <p:spPr>
          <a:xfrm>
            <a:off x="9423796" y="3661171"/>
            <a:ext cx="13260588" cy="8840393"/>
          </a:xfrm>
          <a:prstGeom prst="rect">
            <a:avLst/>
          </a:prstGeom>
        </p:spPr>
        <p:txBody>
          <a:bodyPr lIns="91439" tIns="45719" rIns="91439" bIns="45719" anchor="t">
            <a:noAutofit/>
          </a:bodyPr>
          <a:lstStyle/>
          <a:p>
            <a:endParaRPr/>
          </a:p>
        </p:txBody>
      </p:sp>
      <p:sp>
        <p:nvSpPr>
          <p:cNvPr id="68" name="Title Text"/>
          <p:cNvSpPr txBox="1">
            <a:spLocks noGrp="1"/>
          </p:cNvSpPr>
          <p:nvPr>
            <p:ph type="title"/>
          </p:nvPr>
        </p:nvSpPr>
        <p:spPr>
          <a:prstGeom prst="rect">
            <a:avLst/>
          </a:prstGeom>
        </p:spPr>
        <p:txBody>
          <a:bodyPr/>
          <a:lstStyle/>
          <a:p>
            <a:r>
              <a:t>Title Text</a:t>
            </a:r>
          </a:p>
        </p:txBody>
      </p:sp>
      <p:sp>
        <p:nvSpPr>
          <p:cNvPr id="69" name="Body Level One…"/>
          <p:cNvSpPr txBox="1">
            <a:spLocks noGrp="1"/>
          </p:cNvSpPr>
          <p:nvPr>
            <p:ph type="body" sz="quarter" idx="1"/>
          </p:nvPr>
        </p:nvSpPr>
        <p:spPr>
          <a:xfrm>
            <a:off x="4387453" y="3661171"/>
            <a:ext cx="7500939" cy="8840393"/>
          </a:xfrm>
          <a:prstGeom prst="rect">
            <a:avLst/>
          </a:prstGeom>
        </p:spPr>
        <p:txBody>
          <a:bodyPr/>
          <a:lstStyle>
            <a:lvl1pPr marL="465363" indent="-465363">
              <a:spcBef>
                <a:spcPts val="4500"/>
              </a:spcBef>
              <a:defRPr sz="3800"/>
            </a:lvl1pPr>
            <a:lvl2pPr marL="808263" indent="-465363">
              <a:spcBef>
                <a:spcPts val="4500"/>
              </a:spcBef>
              <a:defRPr sz="3800"/>
            </a:lvl2pPr>
            <a:lvl3pPr marL="1151164" indent="-465363">
              <a:spcBef>
                <a:spcPts val="4500"/>
              </a:spcBef>
              <a:defRPr sz="3800"/>
            </a:lvl3pPr>
            <a:lvl4pPr marL="1494064" indent="-465364">
              <a:spcBef>
                <a:spcPts val="4500"/>
              </a:spcBef>
              <a:defRPr sz="3800"/>
            </a:lvl4pPr>
            <a:lvl5pPr marL="1836964" indent="-465364">
              <a:spcBef>
                <a:spcPts val="4500"/>
              </a:spcBef>
              <a:defRPr sz="3800"/>
            </a:lvl5pPr>
          </a:lstStyle>
          <a:p>
            <a:r>
              <a:t>Body Level One</a:t>
            </a:r>
          </a:p>
          <a:p>
            <a:pPr lvl="1"/>
            <a:r>
              <a:t>Body Level Two</a:t>
            </a:r>
          </a:p>
          <a:p>
            <a:pPr lvl="2"/>
            <a:r>
              <a:t>Body Level Three</a:t>
            </a:r>
          </a:p>
          <a:p>
            <a:pPr lvl="3"/>
            <a:r>
              <a:t>Body Level Four</a:t>
            </a:r>
          </a:p>
          <a:p>
            <a:pPr lvl="4"/>
            <a:r>
              <a:t>Body Level Five</a:t>
            </a:r>
          </a:p>
        </p:txBody>
      </p:sp>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7" name="Body Level One…"/>
          <p:cNvSpPr txBox="1">
            <a:spLocks noGrp="1"/>
          </p:cNvSpPr>
          <p:nvPr>
            <p:ph type="body" sz="half" idx="1"/>
          </p:nvPr>
        </p:nvSpPr>
        <p:spPr>
          <a:xfrm>
            <a:off x="635000" y="635000"/>
            <a:ext cx="10160000" cy="124460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5" name="Image"/>
          <p:cNvSpPr>
            <a:spLocks noGrp="1"/>
          </p:cNvSpPr>
          <p:nvPr>
            <p:ph type="pic" idx="21"/>
          </p:nvPr>
        </p:nvSpPr>
        <p:spPr>
          <a:xfrm>
            <a:off x="-291704" y="1250155"/>
            <a:ext cx="16841393" cy="11227595"/>
          </a:xfrm>
          <a:prstGeom prst="rect">
            <a:avLst/>
          </a:prstGeom>
        </p:spPr>
        <p:txBody>
          <a:bodyPr lIns="91439" tIns="45719" rIns="91439" bIns="45719" anchor="t">
            <a:noAutofit/>
          </a:bodyPr>
          <a:lstStyle/>
          <a:p>
            <a:endParaRPr/>
          </a:p>
        </p:txBody>
      </p:sp>
      <p:sp>
        <p:nvSpPr>
          <p:cNvPr id="86" name="Image"/>
          <p:cNvSpPr>
            <a:spLocks noGrp="1"/>
          </p:cNvSpPr>
          <p:nvPr>
            <p:ph type="pic" sz="quarter" idx="22"/>
          </p:nvPr>
        </p:nvSpPr>
        <p:spPr>
          <a:xfrm>
            <a:off x="12442031" y="7069143"/>
            <a:ext cx="8518923" cy="5682242"/>
          </a:xfrm>
          <a:prstGeom prst="rect">
            <a:avLst/>
          </a:prstGeom>
        </p:spPr>
        <p:txBody>
          <a:bodyPr lIns="91439" tIns="45719" rIns="91439" bIns="45719" anchor="t">
            <a:noAutofit/>
          </a:bodyPr>
          <a:lstStyle/>
          <a:p>
            <a:endParaRPr/>
          </a:p>
        </p:txBody>
      </p:sp>
      <p:sp>
        <p:nvSpPr>
          <p:cNvPr id="87" name="Image"/>
          <p:cNvSpPr>
            <a:spLocks noGrp="1"/>
          </p:cNvSpPr>
          <p:nvPr>
            <p:ph type="pic" sz="quarter" idx="23"/>
          </p:nvPr>
        </p:nvSpPr>
        <p:spPr>
          <a:xfrm>
            <a:off x="12192000" y="1246988"/>
            <a:ext cx="8251033" cy="5500690"/>
          </a:xfrm>
          <a:prstGeom prst="rect">
            <a:avLst/>
          </a:prstGeom>
        </p:spPr>
        <p:txBody>
          <a:bodyPr lIns="91439" tIns="45719" rIns="91439" bIns="45719" anchor="t">
            <a:noAutofit/>
          </a:bodyPr>
          <a:lstStyle/>
          <a:p>
            <a:endParaRP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5" name="Body Level One…"/>
          <p:cNvSpPr txBox="1">
            <a:spLocks noGrp="1"/>
          </p:cNvSpPr>
          <p:nvPr>
            <p:ph type="body" sz="quarter" idx="1"/>
          </p:nvPr>
        </p:nvSpPr>
        <p:spPr>
          <a:xfrm>
            <a:off x="4833937" y="8947546"/>
            <a:ext cx="14716127" cy="660799"/>
          </a:xfrm>
          <a:prstGeom prst="rect">
            <a:avLst/>
          </a:prstGeom>
        </p:spPr>
        <p:txBody>
          <a:bodyPr anchor="t"/>
          <a:lstStyle>
            <a:lvl1pPr marL="0" indent="0" algn="ctr">
              <a:buSzTx/>
              <a:buNone/>
              <a:defRPr sz="3200">
                <a:latin typeface="+mj-lt"/>
                <a:ea typeface="+mj-ea"/>
                <a:cs typeface="+mj-cs"/>
                <a:sym typeface="Helvetica"/>
              </a:defRPr>
            </a:lvl1pPr>
            <a:lvl2pPr marL="839610" indent="-395111" algn="ctr">
              <a:defRPr sz="3200">
                <a:latin typeface="+mj-lt"/>
                <a:ea typeface="+mj-ea"/>
                <a:cs typeface="+mj-cs"/>
                <a:sym typeface="Helvetica"/>
              </a:defRPr>
            </a:lvl2pPr>
            <a:lvl3pPr marL="1284110" indent="-395110" algn="ctr">
              <a:defRPr sz="3200">
                <a:latin typeface="+mj-lt"/>
                <a:ea typeface="+mj-ea"/>
                <a:cs typeface="+mj-cs"/>
                <a:sym typeface="Helvetica"/>
              </a:defRPr>
            </a:lvl3pPr>
            <a:lvl4pPr marL="1728610" indent="-395110" algn="ctr">
              <a:defRPr sz="3200">
                <a:latin typeface="+mj-lt"/>
                <a:ea typeface="+mj-ea"/>
                <a:cs typeface="+mj-cs"/>
                <a:sym typeface="Helvetica"/>
              </a:defRPr>
            </a:lvl4pPr>
            <a:lvl5pPr marL="2173110" indent="-395110" algn="ctr">
              <a:defRPr sz="3200">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96" name="“Type a quote here.”"/>
          <p:cNvSpPr txBox="1">
            <a:spLocks noGrp="1"/>
          </p:cNvSpPr>
          <p:nvPr>
            <p:ph type="body" sz="quarter" idx="21"/>
          </p:nvPr>
        </p:nvSpPr>
        <p:spPr>
          <a:xfrm>
            <a:off x="4833937" y="6000353"/>
            <a:ext cx="14716128" cy="965202"/>
          </a:xfrm>
          <a:prstGeom prst="rect">
            <a:avLst/>
          </a:prstGeom>
        </p:spPr>
        <p:txBody>
          <a:bodyPr/>
          <a:lstStyle/>
          <a:p>
            <a:pPr marL="0" indent="0" algn="ctr">
              <a:buSzTx/>
              <a:buNone/>
              <a:defRPr sz="5200"/>
            </a:pPr>
            <a:endParaRPr/>
          </a:p>
        </p:txBody>
      </p:sp>
      <p:sp>
        <p:nvSpPr>
          <p:cNvPr id="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4" name="Image"/>
          <p:cNvSpPr>
            <a:spLocks noGrp="1"/>
          </p:cNvSpPr>
          <p:nvPr>
            <p:ph type="pic" idx="21"/>
          </p:nvPr>
        </p:nvSpPr>
        <p:spPr>
          <a:xfrm>
            <a:off x="1905000" y="0"/>
            <a:ext cx="20563291" cy="13716000"/>
          </a:xfrm>
          <a:prstGeom prst="rect">
            <a:avLst/>
          </a:prstGeom>
        </p:spPr>
        <p:txBody>
          <a:bodyPr lIns="91439" tIns="45719" rIns="91439" bIns="45719" anchor="t">
            <a:noAutofit/>
          </a:bodyPr>
          <a:lstStyle/>
          <a:p>
            <a:endParaRPr/>
          </a:p>
        </p:txBody>
      </p:sp>
      <p:sp>
        <p:nvSpPr>
          <p:cNvPr id="10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u și conținut">
    <p:spTree>
      <p:nvGrpSpPr>
        <p:cNvPr id="1" name=""/>
        <p:cNvGrpSpPr/>
        <p:nvPr/>
      </p:nvGrpSpPr>
      <p:grpSpPr>
        <a:xfrm>
          <a:off x="0" y="0"/>
          <a:ext cx="0" cy="0"/>
          <a:chOff x="0" y="0"/>
          <a:chExt cx="0" cy="0"/>
        </a:xfrm>
      </p:grpSpPr>
      <p:sp>
        <p:nvSpPr>
          <p:cNvPr id="119" name="Title Text"/>
          <p:cNvSpPr txBox="1">
            <a:spLocks noGrp="1"/>
          </p:cNvSpPr>
          <p:nvPr>
            <p:ph type="title"/>
          </p:nvPr>
        </p:nvSpPr>
        <p:spPr>
          <a:prstGeom prst="rect">
            <a:avLst/>
          </a:prstGeom>
        </p:spPr>
        <p:txBody>
          <a:bodyPr/>
          <a:lstStyle/>
          <a:p>
            <a:r>
              <a:t>Title Text</a:t>
            </a:r>
          </a:p>
        </p:txBody>
      </p:sp>
      <p:sp>
        <p:nvSpPr>
          <p:cNvPr id="120"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35000" y="635000"/>
            <a:ext cx="23114000" cy="254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normAutofit/>
          </a:bodyPr>
          <a:lstStyle/>
          <a:p>
            <a:r>
              <a:t>Title Text</a:t>
            </a:r>
          </a:p>
        </p:txBody>
      </p:sp>
      <p:sp>
        <p:nvSpPr>
          <p:cNvPr id="3" name="Body Level One…"/>
          <p:cNvSpPr txBox="1">
            <a:spLocks noGrp="1"/>
          </p:cNvSpPr>
          <p:nvPr>
            <p:ph type="body" idx="1"/>
          </p:nvPr>
        </p:nvSpPr>
        <p:spPr>
          <a:xfrm>
            <a:off x="635000" y="3175000"/>
            <a:ext cx="23114000" cy="9842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935814" y="13010554"/>
            <a:ext cx="494513" cy="511175"/>
          </a:xfrm>
          <a:prstGeom prst="rect">
            <a:avLst/>
          </a:prstGeom>
          <a:ln w="12700">
            <a:miter lim="400000"/>
          </a:ln>
        </p:spPr>
        <p:txBody>
          <a:bodyPr wrap="none" lIns="71436" tIns="71436" rIns="71436" bIns="71436">
            <a:normAutofit/>
          </a:bodyPr>
          <a:lstStyle>
            <a:lvl1pPr>
              <a:defRPr sz="24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txStyles>
    <p:titleStyle>
      <a:lvl1pPr marL="0" marR="0" indent="0" algn="ctr" defTabSz="821530"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1pPr>
      <a:lvl2pPr marL="0" marR="0" indent="0" algn="ctr" defTabSz="821530"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2pPr>
      <a:lvl3pPr marL="0" marR="0" indent="0" algn="ctr" defTabSz="821530"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3pPr>
      <a:lvl4pPr marL="0" marR="0" indent="0" algn="ctr" defTabSz="821530"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4pPr>
      <a:lvl5pPr marL="0" marR="0" indent="0" algn="ctr" defTabSz="821530"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5pPr>
      <a:lvl6pPr marL="0" marR="0" indent="0" algn="ctr" defTabSz="821530"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6pPr>
      <a:lvl7pPr marL="0" marR="0" indent="0" algn="ctr" defTabSz="821530"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7pPr>
      <a:lvl8pPr marL="0" marR="0" indent="0" algn="ctr" defTabSz="821530"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8pPr>
      <a:lvl9pPr marL="0" marR="0" indent="0" algn="ctr" defTabSz="821530"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9pPr>
    </p:titleStyle>
    <p:bodyStyle>
      <a:lvl1pPr marL="617361" marR="0" indent="-617361" algn="l" defTabSz="821530" rtl="0"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Light"/>
          <a:ea typeface="Helvetica Light"/>
          <a:cs typeface="Helvetica Light"/>
          <a:sym typeface="Helvetica Light"/>
        </a:defRPr>
      </a:lvl1pPr>
      <a:lvl2pPr marL="1061860" marR="0" indent="-617361" algn="l" defTabSz="821530" rtl="0"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Light"/>
          <a:ea typeface="Helvetica Light"/>
          <a:cs typeface="Helvetica Light"/>
          <a:sym typeface="Helvetica Light"/>
        </a:defRPr>
      </a:lvl2pPr>
      <a:lvl3pPr marL="1506360" marR="0" indent="-617360" algn="l" defTabSz="821530" rtl="0"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Light"/>
          <a:ea typeface="Helvetica Light"/>
          <a:cs typeface="Helvetica Light"/>
          <a:sym typeface="Helvetica Light"/>
        </a:defRPr>
      </a:lvl3pPr>
      <a:lvl4pPr marL="1950860" marR="0" indent="-617360" algn="l" defTabSz="821530" rtl="0"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Light"/>
          <a:ea typeface="Helvetica Light"/>
          <a:cs typeface="Helvetica Light"/>
          <a:sym typeface="Helvetica Light"/>
        </a:defRPr>
      </a:lvl4pPr>
      <a:lvl5pPr marL="2395360" marR="0" indent="-617360" algn="l" defTabSz="821530" rtl="0"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Light"/>
          <a:ea typeface="Helvetica Light"/>
          <a:cs typeface="Helvetica Light"/>
          <a:sym typeface="Helvetica Light"/>
        </a:defRPr>
      </a:lvl5pPr>
      <a:lvl6pPr marL="2839860" marR="0" indent="-617360" algn="l" defTabSz="821530" rtl="0"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Light"/>
          <a:ea typeface="Helvetica Light"/>
          <a:cs typeface="Helvetica Light"/>
          <a:sym typeface="Helvetica Light"/>
        </a:defRPr>
      </a:lvl6pPr>
      <a:lvl7pPr marL="3284361" marR="0" indent="-617360" algn="l" defTabSz="821530" rtl="0"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Light"/>
          <a:ea typeface="Helvetica Light"/>
          <a:cs typeface="Helvetica Light"/>
          <a:sym typeface="Helvetica Light"/>
        </a:defRPr>
      </a:lvl7pPr>
      <a:lvl8pPr marL="3728861" marR="0" indent="-617360" algn="l" defTabSz="821530" rtl="0"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Light"/>
          <a:ea typeface="Helvetica Light"/>
          <a:cs typeface="Helvetica Light"/>
          <a:sym typeface="Helvetica Light"/>
        </a:defRPr>
      </a:lvl8pPr>
      <a:lvl9pPr marL="4173361" marR="0" indent="-617361" algn="l" defTabSz="821530" rtl="0"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Light"/>
          <a:ea typeface="Helvetica Light"/>
          <a:cs typeface="Helvetica Light"/>
          <a:sym typeface="Helvetica Light"/>
        </a:defRPr>
      </a:lvl9pPr>
    </p:bodyStyle>
    <p:otherStyle>
      <a:lvl1pPr marL="0" marR="0" indent="0" algn="ctr" defTabSz="82153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1pPr>
      <a:lvl2pPr marL="0" marR="0" indent="0" algn="ctr" defTabSz="82153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2pPr>
      <a:lvl3pPr marL="0" marR="0" indent="0" algn="ctr" defTabSz="82153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3pPr>
      <a:lvl4pPr marL="0" marR="0" indent="0" algn="ctr" defTabSz="82153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4pPr>
      <a:lvl5pPr marL="0" marR="0" indent="0" algn="ctr" defTabSz="82153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5pPr>
      <a:lvl6pPr marL="0" marR="0" indent="0" algn="ctr" defTabSz="82153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6pPr>
      <a:lvl7pPr marL="0" marR="0" indent="0" algn="ctr" defTabSz="82153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7pPr>
      <a:lvl8pPr marL="0" marR="0" indent="0" algn="ctr" defTabSz="82153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8pPr>
      <a:lvl9pPr marL="0" marR="0" indent="0" algn="ctr" defTabSz="82153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tif"/><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2/11/2020 Week 5 Module 1…"/>
          <p:cNvSpPr txBox="1">
            <a:spLocks noGrp="1"/>
          </p:cNvSpPr>
          <p:nvPr>
            <p:ph type="title"/>
          </p:nvPr>
        </p:nvSpPr>
        <p:spPr>
          <a:xfrm>
            <a:off x="635000" y="317500"/>
            <a:ext cx="23114000" cy="2540000"/>
          </a:xfrm>
          <a:prstGeom prst="rect">
            <a:avLst/>
          </a:prstGeom>
        </p:spPr>
        <p:txBody>
          <a:bodyPr anchor="t"/>
          <a:lstStyle/>
          <a:p>
            <a:r>
              <a:rPr lang="en-US" dirty="0"/>
              <a:t>3/09/2026</a:t>
            </a:r>
            <a:endParaRPr dirty="0"/>
          </a:p>
        </p:txBody>
      </p:sp>
      <p:sp>
        <p:nvSpPr>
          <p:cNvPr id="131" name="This module will consist of a…"/>
          <p:cNvSpPr txBox="1">
            <a:spLocks noGrp="1"/>
          </p:cNvSpPr>
          <p:nvPr>
            <p:ph type="body" idx="1"/>
          </p:nvPr>
        </p:nvSpPr>
        <p:spPr>
          <a:prstGeom prst="rect">
            <a:avLst/>
          </a:prstGeom>
        </p:spPr>
        <p:txBody>
          <a:bodyPr/>
          <a:lstStyle/>
          <a:p>
            <a:r>
              <a:rPr dirty="0"/>
              <a:t>Monte Carlo Integration</a:t>
            </a:r>
          </a:p>
          <a:p>
            <a:r>
              <a:rPr dirty="0"/>
              <a:t>Markov chain Monte Carlo</a:t>
            </a:r>
          </a:p>
        </p:txBody>
      </p:sp>
      <p:sp>
        <p:nvSpPr>
          <p:cNvPr id="132" name="Slide Number"/>
          <p:cNvSpPr txBox="1">
            <a:spLocks noGrp="1"/>
          </p:cNvSpPr>
          <p:nvPr>
            <p:ph type="sldNum" sz="quarter" idx="4294967295"/>
          </p:nvPr>
        </p:nvSpPr>
        <p:spPr>
          <a:xfrm>
            <a:off x="12020547" y="13010554"/>
            <a:ext cx="325044" cy="5111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2/11/2020 Week 5 Module 1…"/>
          <p:cNvSpPr txBox="1">
            <a:spLocks noGrp="1"/>
          </p:cNvSpPr>
          <p:nvPr>
            <p:ph type="title"/>
          </p:nvPr>
        </p:nvSpPr>
        <p:spPr>
          <a:xfrm>
            <a:off x="635000" y="317500"/>
            <a:ext cx="23114000" cy="2540000"/>
          </a:xfrm>
          <a:prstGeom prst="rect">
            <a:avLst/>
          </a:prstGeom>
        </p:spPr>
        <p:txBody>
          <a:bodyPr anchor="t"/>
          <a:lstStyle/>
          <a:p>
            <a:r>
              <a:t>Monte Carlo</a:t>
            </a:r>
          </a:p>
        </p:txBody>
      </p:sp>
      <p:sp>
        <p:nvSpPr>
          <p:cNvPr id="135" name="This module will consist of a…"/>
          <p:cNvSpPr txBox="1">
            <a:spLocks noGrp="1"/>
          </p:cNvSpPr>
          <p:nvPr>
            <p:ph type="body" idx="1"/>
          </p:nvPr>
        </p:nvSpPr>
        <p:spPr>
          <a:prstGeom prst="rect">
            <a:avLst/>
          </a:prstGeom>
        </p:spPr>
        <p:txBody>
          <a:bodyPr/>
          <a:lstStyle/>
          <a:p>
            <a:r>
              <a:t>Today’s lecture is intended to help you achieve the following learning objective: Explain the key objectives of molecular simulation</a:t>
            </a:r>
          </a:p>
          <a:p>
            <a:endParaRPr/>
          </a:p>
          <a:p>
            <a:r>
              <a:t>Monte Carlo Integration</a:t>
            </a:r>
          </a:p>
          <a:p>
            <a:r>
              <a:t>Markov Chain Monte Carlo</a:t>
            </a:r>
          </a:p>
        </p:txBody>
      </p:sp>
      <p:sp>
        <p:nvSpPr>
          <p:cNvPr id="136" name="Slide Number"/>
          <p:cNvSpPr txBox="1">
            <a:spLocks noGrp="1"/>
          </p:cNvSpPr>
          <p:nvPr>
            <p:ph type="sldNum" sz="quarter" idx="4294967295"/>
          </p:nvPr>
        </p:nvSpPr>
        <p:spPr>
          <a:xfrm>
            <a:off x="12020547" y="13010554"/>
            <a:ext cx="325044" cy="5111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 name="sea-coast-architecture-skyline-town-cityscape-886020-pxhere.com.jpg" descr="sea-coast-architecture-skyline-town-cityscape-886020-pxhere.com.jpg"/>
          <p:cNvPicPr>
            <a:picLocks noChangeAspect="1"/>
          </p:cNvPicPr>
          <p:nvPr/>
        </p:nvPicPr>
        <p:blipFill>
          <a:blip r:embed="rId2"/>
          <a:srcRect t="6885" b="18114"/>
          <a:stretch>
            <a:fillRect/>
          </a:stretch>
        </p:blipFill>
        <p:spPr>
          <a:xfrm>
            <a:off x="0" y="0"/>
            <a:ext cx="24384002" cy="13716000"/>
          </a:xfrm>
          <a:prstGeom prst="rect">
            <a:avLst/>
          </a:prstGeom>
          <a:ln w="12700">
            <a:miter lim="400000"/>
          </a:ln>
        </p:spPr>
      </p:pic>
      <p:sp>
        <p:nvSpPr>
          <p:cNvPr id="139" name="Monte Carlo Integration"/>
          <p:cNvSpPr txBox="1">
            <a:spLocks noGrp="1"/>
          </p:cNvSpPr>
          <p:nvPr>
            <p:ph type="ctrTitle"/>
          </p:nvPr>
        </p:nvSpPr>
        <p:spPr>
          <a:prstGeom prst="rect">
            <a:avLst/>
          </a:prstGeom>
        </p:spPr>
        <p:txBody>
          <a:bodyPr/>
          <a:lstStyle>
            <a:lvl1pPr>
              <a:defRPr>
                <a:solidFill>
                  <a:srgbClr val="FFFFFF"/>
                </a:solidFill>
              </a:defRPr>
            </a:lvl1pPr>
          </a:lstStyle>
          <a:p>
            <a:r>
              <a:t>Monte Carlo Integration</a:t>
            </a:r>
          </a:p>
        </p:txBody>
      </p:sp>
      <p:sp>
        <p:nvSpPr>
          <p:cNvPr id="140" name="If you keep guessing, you may eventually get it"/>
          <p:cNvSpPr txBox="1">
            <a:spLocks noGrp="1"/>
          </p:cNvSpPr>
          <p:nvPr>
            <p:ph type="subTitle" sz="quarter" idx="1"/>
          </p:nvPr>
        </p:nvSpPr>
        <p:spPr>
          <a:prstGeom prst="rect">
            <a:avLst/>
          </a:prstGeom>
        </p:spPr>
        <p:txBody>
          <a:bodyPr/>
          <a:lstStyle>
            <a:lvl1pPr>
              <a:defRPr>
                <a:solidFill>
                  <a:srgbClr val="FFFFFF"/>
                </a:solidFill>
              </a:defRPr>
            </a:lvl1pPr>
          </a:lstStyle>
          <a:p>
            <a:r>
              <a:t>If you keep guessing, you may eventually get it</a:t>
            </a:r>
          </a:p>
        </p:txBody>
      </p:sp>
      <p:sp>
        <p:nvSpPr>
          <p:cNvPr id="141" name="Slide Number"/>
          <p:cNvSpPr txBox="1">
            <a:spLocks noGrp="1"/>
          </p:cNvSpPr>
          <p:nvPr>
            <p:ph type="sldNum" sz="quarter" idx="4294967295"/>
          </p:nvPr>
        </p:nvSpPr>
        <p:spPr>
          <a:xfrm>
            <a:off x="12020548" y="13010554"/>
            <a:ext cx="325044" cy="5111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 name="pasted-movie.heic" descr="pasted-movie.heic"/>
          <p:cNvPicPr>
            <a:picLocks noChangeAspect="1"/>
          </p:cNvPicPr>
          <p:nvPr/>
        </p:nvPicPr>
        <p:blipFill>
          <a:blip r:embed="rId2"/>
          <a:stretch>
            <a:fillRect/>
          </a:stretch>
        </p:blipFill>
        <p:spPr>
          <a:xfrm>
            <a:off x="7447395" y="0"/>
            <a:ext cx="9489210" cy="13716000"/>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Expectation Values"/>
          <p:cNvSpPr txBox="1">
            <a:spLocks noGrp="1"/>
          </p:cNvSpPr>
          <p:nvPr>
            <p:ph type="title"/>
          </p:nvPr>
        </p:nvSpPr>
        <p:spPr>
          <a:prstGeom prst="rect">
            <a:avLst/>
          </a:prstGeom>
        </p:spPr>
        <p:txBody>
          <a:bodyPr/>
          <a:lstStyle/>
          <a:p>
            <a:r>
              <a:t>Expectation Values</a:t>
            </a:r>
          </a:p>
        </p:txBody>
      </p:sp>
      <mc:AlternateContent xmlns:mc="http://schemas.openxmlformats.org/markup-compatibility/2006" xmlns:a14="http://schemas.microsoft.com/office/drawing/2010/main">
        <mc:Choice Requires="a14">
          <p:sp>
            <p:nvSpPr>
              <p:cNvPr id="146" name="Expectation values are  .…"/>
              <p:cNvSpPr txBox="1">
                <a:spLocks noGrp="1"/>
              </p:cNvSpPr>
              <p:nvPr>
                <p:ph type="body" idx="1"/>
              </p:nvPr>
            </p:nvSpPr>
            <p:spPr>
              <a:prstGeom prst="rect">
                <a:avLst/>
              </a:prstGeom>
            </p:spPr>
            <p:txBody>
              <a:bodyPr/>
              <a:lstStyle/>
              <a:p>
                <a:pPr marL="1001606" lvl="1" indent="-574886" defTabSz="765009">
                  <a:defRPr sz="4608"/>
                </a:pPr>
                <a:r>
                  <a:t>Expectation values are </a:t>
                </a:r>
                <a14:m>
                  <m:oMath xmlns:m="http://schemas.openxmlformats.org/officeDocument/2006/math">
                    <m:r>
                      <a:rPr sz="5600" i="1">
                        <a:solidFill>
                          <a:srgbClr val="000000"/>
                        </a:solidFill>
                        <a:latin typeface="Cambria Math" panose="02040503050406030204" pitchFamily="18" charset="0"/>
                      </a:rPr>
                      <m:t>⟨</m:t>
                    </m:r>
                    <m:r>
                      <a:rPr sz="5600" i="1">
                        <a:solidFill>
                          <a:srgbClr val="000000"/>
                        </a:solidFill>
                        <a:latin typeface="Cambria Math" panose="02040503050406030204" pitchFamily="18" charset="0"/>
                      </a:rPr>
                      <m:t>𝐴</m:t>
                    </m:r>
                    <m:r>
                      <a:rPr sz="5600" i="1">
                        <a:solidFill>
                          <a:srgbClr val="000000"/>
                        </a:solidFill>
                        <a:latin typeface="Cambria Math" panose="02040503050406030204" pitchFamily="18" charset="0"/>
                      </a:rPr>
                      <m:t>⟩=</m:t>
                    </m:r>
                    <m:f>
                      <m:fPr>
                        <m:ctrlPr>
                          <a:rPr sz="5600" i="1">
                            <a:solidFill>
                              <a:srgbClr val="000000"/>
                            </a:solidFill>
                            <a:latin typeface="Cambria Math" panose="02040503050406030204" pitchFamily="18" charset="0"/>
                          </a:rPr>
                        </m:ctrlPr>
                      </m:fPr>
                      <m:num>
                        <m:sSub>
                          <m:sSubPr>
                            <m:ctrlPr>
                              <a:rPr sz="5600" i="1">
                                <a:solidFill>
                                  <a:srgbClr val="000000"/>
                                </a:solidFill>
                                <a:latin typeface="Cambria Math" panose="02040503050406030204" pitchFamily="18" charset="0"/>
                              </a:rPr>
                            </m:ctrlPr>
                          </m:sSubPr>
                          <m:e>
                            <m:r>
                              <a:rPr sz="5600" i="1">
                                <a:solidFill>
                                  <a:srgbClr val="000000"/>
                                </a:solidFill>
                                <a:latin typeface="Cambria Math" panose="02040503050406030204" pitchFamily="18" charset="0"/>
                              </a:rPr>
                              <m:t>∑</m:t>
                            </m:r>
                          </m:e>
                          <m:sub>
                            <m:r>
                              <a:rPr sz="5600" i="1">
                                <a:solidFill>
                                  <a:srgbClr val="000000"/>
                                </a:solidFill>
                                <a:latin typeface="Cambria Math" panose="02040503050406030204" pitchFamily="18" charset="0"/>
                              </a:rPr>
                              <m:t>𝑗</m:t>
                            </m:r>
                          </m:sub>
                        </m:sSub>
                        <m:r>
                          <a:rPr sz="5600" i="1">
                            <a:solidFill>
                              <a:srgbClr val="000000"/>
                            </a:solidFill>
                            <a:latin typeface="Cambria Math" panose="02040503050406030204" pitchFamily="18" charset="0"/>
                          </a:rPr>
                          <m:t>𝐴</m:t>
                        </m:r>
                        <m:r>
                          <a:rPr sz="5600" i="1">
                            <a:solidFill>
                              <a:srgbClr val="000000"/>
                            </a:solidFill>
                            <a:latin typeface="Cambria Math" panose="02040503050406030204" pitchFamily="18" charset="0"/>
                          </a:rPr>
                          <m:t>(</m:t>
                        </m:r>
                        <m:sSub>
                          <m:sSubPr>
                            <m:ctrlPr>
                              <a:rPr sz="5600" i="1">
                                <a:solidFill>
                                  <a:srgbClr val="000000"/>
                                </a:solidFill>
                                <a:latin typeface="Cambria Math" panose="02040503050406030204" pitchFamily="18" charset="0"/>
                              </a:rPr>
                            </m:ctrlPr>
                          </m:sSubPr>
                          <m:e>
                            <m:r>
                              <a:rPr sz="5600" i="1">
                                <a:solidFill>
                                  <a:srgbClr val="000000"/>
                                </a:solidFill>
                                <a:latin typeface="Cambria Math" panose="02040503050406030204" pitchFamily="18" charset="0"/>
                              </a:rPr>
                              <m:t>𝑥</m:t>
                            </m:r>
                          </m:e>
                          <m:sub>
                            <m:r>
                              <a:rPr sz="5600" i="1">
                                <a:solidFill>
                                  <a:srgbClr val="000000"/>
                                </a:solidFill>
                                <a:latin typeface="Cambria Math" panose="02040503050406030204" pitchFamily="18" charset="0"/>
                              </a:rPr>
                              <m:t>𝑗</m:t>
                            </m:r>
                          </m:sub>
                        </m:sSub>
                        <m:r>
                          <a:rPr sz="5600" i="1">
                            <a:solidFill>
                              <a:srgbClr val="000000"/>
                            </a:solidFill>
                            <a:latin typeface="Cambria Math" panose="02040503050406030204" pitchFamily="18" charset="0"/>
                          </a:rPr>
                          <m:t>)</m:t>
                        </m:r>
                        <m:r>
                          <a:rPr sz="5600" i="1">
                            <a:solidFill>
                              <a:srgbClr val="000000"/>
                            </a:solidFill>
                            <a:latin typeface="Cambria Math" panose="02040503050406030204" pitchFamily="18" charset="0"/>
                          </a:rPr>
                          <m:t>𝑝</m:t>
                        </m:r>
                        <m:r>
                          <a:rPr sz="5600" i="1">
                            <a:solidFill>
                              <a:srgbClr val="000000"/>
                            </a:solidFill>
                            <a:latin typeface="Cambria Math" panose="02040503050406030204" pitchFamily="18" charset="0"/>
                          </a:rPr>
                          <m:t>(</m:t>
                        </m:r>
                        <m:sSub>
                          <m:sSubPr>
                            <m:ctrlPr>
                              <a:rPr sz="5600" i="1">
                                <a:solidFill>
                                  <a:srgbClr val="000000"/>
                                </a:solidFill>
                                <a:latin typeface="Cambria Math" panose="02040503050406030204" pitchFamily="18" charset="0"/>
                              </a:rPr>
                            </m:ctrlPr>
                          </m:sSubPr>
                          <m:e>
                            <m:r>
                              <a:rPr sz="5600" i="1">
                                <a:solidFill>
                                  <a:srgbClr val="000000"/>
                                </a:solidFill>
                                <a:latin typeface="Cambria Math" panose="02040503050406030204" pitchFamily="18" charset="0"/>
                              </a:rPr>
                              <m:t>𝑥</m:t>
                            </m:r>
                          </m:e>
                          <m:sub>
                            <m:r>
                              <a:rPr sz="5600" i="1">
                                <a:solidFill>
                                  <a:srgbClr val="000000"/>
                                </a:solidFill>
                                <a:latin typeface="Cambria Math" panose="02040503050406030204" pitchFamily="18" charset="0"/>
                              </a:rPr>
                              <m:t>𝑗</m:t>
                            </m:r>
                          </m:sub>
                        </m:sSub>
                        <m:r>
                          <a:rPr sz="5600" i="1">
                            <a:solidFill>
                              <a:srgbClr val="000000"/>
                            </a:solidFill>
                            <a:latin typeface="Cambria Math" panose="02040503050406030204" pitchFamily="18" charset="0"/>
                          </a:rPr>
                          <m:t>)</m:t>
                        </m:r>
                      </m:num>
                      <m:den>
                        <m:sSub>
                          <m:sSubPr>
                            <m:ctrlPr>
                              <a:rPr sz="5600" i="1">
                                <a:solidFill>
                                  <a:srgbClr val="000000"/>
                                </a:solidFill>
                                <a:latin typeface="Cambria Math" panose="02040503050406030204" pitchFamily="18" charset="0"/>
                              </a:rPr>
                            </m:ctrlPr>
                          </m:sSubPr>
                          <m:e>
                            <m:r>
                              <a:rPr sz="5600" i="1">
                                <a:solidFill>
                                  <a:srgbClr val="000000"/>
                                </a:solidFill>
                                <a:latin typeface="Cambria Math" panose="02040503050406030204" pitchFamily="18" charset="0"/>
                              </a:rPr>
                              <m:t>∑</m:t>
                            </m:r>
                          </m:e>
                          <m:sub>
                            <m:r>
                              <a:rPr sz="5600" i="1">
                                <a:solidFill>
                                  <a:srgbClr val="000000"/>
                                </a:solidFill>
                                <a:latin typeface="Cambria Math" panose="02040503050406030204" pitchFamily="18" charset="0"/>
                              </a:rPr>
                              <m:t>𝑗</m:t>
                            </m:r>
                          </m:sub>
                        </m:sSub>
                        <m:r>
                          <a:rPr sz="5600" i="1">
                            <a:solidFill>
                              <a:srgbClr val="000000"/>
                            </a:solidFill>
                            <a:latin typeface="Cambria Math" panose="02040503050406030204" pitchFamily="18" charset="0"/>
                          </a:rPr>
                          <m:t>𝑝</m:t>
                        </m:r>
                        <m:r>
                          <a:rPr sz="5600" i="1">
                            <a:solidFill>
                              <a:srgbClr val="000000"/>
                            </a:solidFill>
                            <a:latin typeface="Cambria Math" panose="02040503050406030204" pitchFamily="18" charset="0"/>
                          </a:rPr>
                          <m:t>(</m:t>
                        </m:r>
                        <m:sSub>
                          <m:sSubPr>
                            <m:ctrlPr>
                              <a:rPr sz="5600" i="1">
                                <a:solidFill>
                                  <a:srgbClr val="000000"/>
                                </a:solidFill>
                                <a:latin typeface="Cambria Math" panose="02040503050406030204" pitchFamily="18" charset="0"/>
                              </a:rPr>
                            </m:ctrlPr>
                          </m:sSubPr>
                          <m:e>
                            <m:r>
                              <a:rPr sz="5600" i="1">
                                <a:solidFill>
                                  <a:srgbClr val="000000"/>
                                </a:solidFill>
                                <a:latin typeface="Cambria Math" panose="02040503050406030204" pitchFamily="18" charset="0"/>
                              </a:rPr>
                              <m:t>𝑥</m:t>
                            </m:r>
                          </m:e>
                          <m:sub>
                            <m:r>
                              <a:rPr sz="5600" i="1">
                                <a:solidFill>
                                  <a:srgbClr val="000000"/>
                                </a:solidFill>
                                <a:latin typeface="Cambria Math" panose="02040503050406030204" pitchFamily="18" charset="0"/>
                              </a:rPr>
                              <m:t>𝑗</m:t>
                            </m:r>
                          </m:sub>
                        </m:sSub>
                        <m:r>
                          <a:rPr sz="5600" i="1">
                            <a:solidFill>
                              <a:srgbClr val="000000"/>
                            </a:solidFill>
                            <a:latin typeface="Cambria Math" panose="02040503050406030204" pitchFamily="18" charset="0"/>
                          </a:rPr>
                          <m:t>)</m:t>
                        </m:r>
                      </m:den>
                    </m:f>
                  </m:oMath>
                </a14:m>
                <a:r>
                  <a:t>.</a:t>
                </a:r>
              </a:p>
              <a:p>
                <a:pPr marL="1428326" lvl="2" indent="-574886" defTabSz="765009">
                  <a:defRPr sz="4608"/>
                </a:pPr>
                <a:r>
                  <a:t>A(x) is any observable. For molecular systems, useful observables include,</a:t>
                </a:r>
              </a:p>
              <a:p>
                <a:pPr marL="1855046" lvl="3" indent="-574886" defTabSz="765009">
                  <a:defRPr sz="4608"/>
                </a:pPr>
                <a:r>
                  <a:t>distance between two atoms (e.g. hydrogen bond)</a:t>
                </a:r>
              </a:p>
              <a:p>
                <a:pPr marL="1855046" lvl="3" indent="-574886" defTabSz="765009">
                  <a:defRPr sz="4608"/>
                </a:pPr>
                <a:r>
                  <a:t>collective variable, e.g. angle between three domains</a:t>
                </a:r>
              </a:p>
              <a:p>
                <a:pPr marL="1855046" lvl="3" indent="-574886" defTabSz="765009">
                  <a:defRPr sz="4608"/>
                </a:pPr>
                <a:r>
                  <a:t>probability that a collective variable is within a bin</a:t>
                </a:r>
              </a:p>
              <a:p>
                <a:pPr marL="1855046" lvl="3" indent="-574886" defTabSz="765009">
                  <a:defRPr sz="4608"/>
                </a:pPr>
                <a:r>
                  <a:t>energies or moments of energy, yielding free energy differences</a:t>
                </a:r>
              </a:p>
              <a:p>
                <a:pPr marL="1428326" lvl="2" indent="-574886" defTabSz="765009">
                  <a:defRPr sz="4608"/>
                </a:pPr>
                <a:r>
                  <a:t>p(x) is a normalized probability density, e.g. uniform</a:t>
                </a:r>
              </a:p>
              <a:p>
                <a:pPr marL="1428326" lvl="2" indent="-574886" defTabSz="765009">
                  <a:defRPr sz="4608"/>
                </a:pPr>
                <a14:m>
                  <m:oMath xmlns:m="http://schemas.openxmlformats.org/officeDocument/2006/math">
                    <m:sSub>
                      <m:sSubPr>
                        <m:ctrlPr>
                          <a:rPr sz="5600" i="1">
                            <a:solidFill>
                              <a:srgbClr val="000000"/>
                            </a:solidFill>
                            <a:latin typeface="Cambria Math" panose="02040503050406030204" pitchFamily="18" charset="0"/>
                          </a:rPr>
                        </m:ctrlPr>
                      </m:sSubPr>
                      <m:e>
                        <m:r>
                          <a:rPr sz="5600" i="1">
                            <a:solidFill>
                              <a:srgbClr val="000000"/>
                            </a:solidFill>
                            <a:latin typeface="Cambria Math" panose="02040503050406030204" pitchFamily="18" charset="0"/>
                          </a:rPr>
                          <m:t>𝑥</m:t>
                        </m:r>
                      </m:e>
                      <m:sub>
                        <m:r>
                          <a:rPr sz="5600" i="1">
                            <a:solidFill>
                              <a:srgbClr val="000000"/>
                            </a:solidFill>
                            <a:latin typeface="Cambria Math" panose="02040503050406030204" pitchFamily="18" charset="0"/>
                          </a:rPr>
                          <m:t>𝑗</m:t>
                        </m:r>
                      </m:sub>
                    </m:sSub>
                  </m:oMath>
                </a14:m>
                <a:r>
                  <a:t> is a vector, indexed by j</a:t>
                </a:r>
              </a:p>
              <a:p>
                <a:pPr marL="1428326" lvl="2" indent="-574886" defTabSz="765009">
                  <a:defRPr sz="4608"/>
                </a:pPr>
                <a:r>
                  <a:t>the sum is over all possible states</a:t>
                </a:r>
              </a:p>
              <a:p>
                <a:pPr marL="1001606" lvl="1" indent="-574886" defTabSz="765009">
                  <a:defRPr sz="4608"/>
                </a:pPr>
                <a:r>
                  <a:t>For a continuous state space, e.g. molecular mechanics, </a:t>
                </a:r>
                <a14:m>
                  <m:oMath xmlns:m="http://schemas.openxmlformats.org/officeDocument/2006/math">
                    <m:r>
                      <a:rPr sz="5600" i="1">
                        <a:solidFill>
                          <a:srgbClr val="000000"/>
                        </a:solidFill>
                        <a:latin typeface="Cambria Math" panose="02040503050406030204" pitchFamily="18" charset="0"/>
                      </a:rPr>
                      <m:t>⟨</m:t>
                    </m:r>
                    <m:r>
                      <a:rPr sz="5600" i="1">
                        <a:solidFill>
                          <a:srgbClr val="000000"/>
                        </a:solidFill>
                        <a:latin typeface="Cambria Math" panose="02040503050406030204" pitchFamily="18" charset="0"/>
                      </a:rPr>
                      <m:t>𝐴</m:t>
                    </m:r>
                    <m:r>
                      <a:rPr sz="5600" i="1">
                        <a:solidFill>
                          <a:srgbClr val="000000"/>
                        </a:solidFill>
                        <a:latin typeface="Cambria Math" panose="02040503050406030204" pitchFamily="18" charset="0"/>
                      </a:rPr>
                      <m:t>⟩=∫</m:t>
                    </m:r>
                    <m:r>
                      <a:rPr sz="5600" i="1">
                        <a:solidFill>
                          <a:srgbClr val="000000"/>
                        </a:solidFill>
                        <a:latin typeface="Cambria Math" panose="02040503050406030204" pitchFamily="18" charset="0"/>
                      </a:rPr>
                      <m:t>𝐴</m:t>
                    </m:r>
                    <m:r>
                      <a:rPr sz="5600" i="1">
                        <a:solidFill>
                          <a:srgbClr val="000000"/>
                        </a:solidFill>
                        <a:latin typeface="Cambria Math" panose="02040503050406030204" pitchFamily="18" charset="0"/>
                      </a:rPr>
                      <m:t>(</m:t>
                    </m:r>
                    <m:r>
                      <a:rPr sz="5600" i="1">
                        <a:solidFill>
                          <a:srgbClr val="000000"/>
                        </a:solidFill>
                        <a:latin typeface="Cambria Math" panose="02040503050406030204" pitchFamily="18" charset="0"/>
                      </a:rPr>
                      <m:t>𝑥</m:t>
                    </m:r>
                    <m:r>
                      <a:rPr sz="5600" i="1">
                        <a:solidFill>
                          <a:srgbClr val="000000"/>
                        </a:solidFill>
                        <a:latin typeface="Cambria Math" panose="02040503050406030204" pitchFamily="18" charset="0"/>
                      </a:rPr>
                      <m:t>)</m:t>
                    </m:r>
                    <m:r>
                      <a:rPr sz="5600" i="1">
                        <a:solidFill>
                          <a:srgbClr val="000000"/>
                        </a:solidFill>
                        <a:latin typeface="Cambria Math" panose="02040503050406030204" pitchFamily="18" charset="0"/>
                      </a:rPr>
                      <m:t>𝑝</m:t>
                    </m:r>
                    <m:r>
                      <a:rPr sz="5600" i="1">
                        <a:solidFill>
                          <a:srgbClr val="000000"/>
                        </a:solidFill>
                        <a:latin typeface="Cambria Math" panose="02040503050406030204" pitchFamily="18" charset="0"/>
                      </a:rPr>
                      <m:t>(</m:t>
                    </m:r>
                    <m:r>
                      <a:rPr sz="5600" i="1">
                        <a:solidFill>
                          <a:srgbClr val="000000"/>
                        </a:solidFill>
                        <a:latin typeface="Cambria Math" panose="02040503050406030204" pitchFamily="18" charset="0"/>
                      </a:rPr>
                      <m:t>𝑥</m:t>
                    </m:r>
                    <m:r>
                      <a:rPr sz="5600" i="1">
                        <a:solidFill>
                          <a:srgbClr val="000000"/>
                        </a:solidFill>
                        <a:latin typeface="Cambria Math" panose="02040503050406030204" pitchFamily="18" charset="0"/>
                      </a:rPr>
                      <m:t>)</m:t>
                    </m:r>
                    <m:r>
                      <a:rPr sz="5600" i="1">
                        <a:solidFill>
                          <a:srgbClr val="000000"/>
                        </a:solidFill>
                        <a:latin typeface="Cambria Math" panose="02040503050406030204" pitchFamily="18" charset="0"/>
                      </a:rPr>
                      <m:t>𝑑𝑥</m:t>
                    </m:r>
                  </m:oMath>
                </a14:m>
                <a:r>
                  <a:t>.</a:t>
                </a:r>
                <a:endParaRPr sz="4800"/>
              </a:p>
            </p:txBody>
          </p:sp>
        </mc:Choice>
        <mc:Fallback xmlns="">
          <p:sp>
            <p:nvSpPr>
              <p:cNvPr id="146" name="Expectation values are  .…"/>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a:stretch>
              </a:blipFill>
            </p:spPr>
            <p:txBody>
              <a:bodyPr/>
              <a:lstStyle/>
              <a:p>
                <a:r>
                  <a:rPr lang="en-US">
                    <a:noFill/>
                  </a:rPr>
                  <a:t> </a:t>
                </a:r>
              </a:p>
            </p:txBody>
          </p:sp>
        </mc:Fallback>
      </mc:AlternateContent>
      <p:sp>
        <p:nvSpPr>
          <p:cNvPr id="147" name="Slide Number"/>
          <p:cNvSpPr txBox="1">
            <a:spLocks noGrp="1"/>
          </p:cNvSpPr>
          <p:nvPr>
            <p:ph type="sldNum" sz="quarter" idx="4294967295"/>
          </p:nvPr>
        </p:nvSpPr>
        <p:spPr>
          <a:xfrm>
            <a:off x="12020548" y="13010554"/>
            <a:ext cx="325044" cy="5111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4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46">
                                            <p:txEl>
                                              <p:pRg st="1" end="1"/>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1" nodeType="afterEffect">
                                  <p:stCondLst>
                                    <p:cond delay="0"/>
                                  </p:stCondLst>
                                  <p:iterate>
                                    <p:tmAbs val="0"/>
                                  </p:iterate>
                                  <p:childTnLst>
                                    <p:set>
                                      <p:cBhvr>
                                        <p:cTn id="15" fill="hold"/>
                                        <p:tgtEl>
                                          <p:spTgt spid="146">
                                            <p:txEl>
                                              <p:pRg st="2" end="2"/>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1" nodeType="afterEffect">
                                  <p:stCondLst>
                                    <p:cond delay="0"/>
                                  </p:stCondLst>
                                  <p:iterate>
                                    <p:tmAbs val="0"/>
                                  </p:iterate>
                                  <p:childTnLst>
                                    <p:set>
                                      <p:cBhvr>
                                        <p:cTn id="18" fill="hold"/>
                                        <p:tgtEl>
                                          <p:spTgt spid="146">
                                            <p:txEl>
                                              <p:pRg st="3" end="3"/>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1" nodeType="afterEffect">
                                  <p:stCondLst>
                                    <p:cond delay="0"/>
                                  </p:stCondLst>
                                  <p:iterate>
                                    <p:tmAbs val="0"/>
                                  </p:iterate>
                                  <p:childTnLst>
                                    <p:set>
                                      <p:cBhvr>
                                        <p:cTn id="21" fill="hold"/>
                                        <p:tgtEl>
                                          <p:spTgt spid="146">
                                            <p:txEl>
                                              <p:pRg st="4" end="4"/>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1" nodeType="afterEffect">
                                  <p:stCondLst>
                                    <p:cond delay="0"/>
                                  </p:stCondLst>
                                  <p:iterate>
                                    <p:tmAbs val="0"/>
                                  </p:iterate>
                                  <p:childTnLst>
                                    <p:set>
                                      <p:cBhvr>
                                        <p:cTn id="24" fill="hold"/>
                                        <p:tgtEl>
                                          <p:spTgt spid="14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14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iterate>
                                    <p:tmAbs val="0"/>
                                  </p:iterate>
                                  <p:childTnLst>
                                    <p:set>
                                      <p:cBhvr>
                                        <p:cTn id="32" fill="hold"/>
                                        <p:tgtEl>
                                          <p:spTgt spid="146">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iterate>
                                    <p:tmAbs val="0"/>
                                  </p:iterate>
                                  <p:childTnLst>
                                    <p:set>
                                      <p:cBhvr>
                                        <p:cTn id="36" fill="hold"/>
                                        <p:tgtEl>
                                          <p:spTgt spid="146">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1" nodeType="clickEffect">
                                  <p:stCondLst>
                                    <p:cond delay="0"/>
                                  </p:stCondLst>
                                  <p:iterate>
                                    <p:tmAbs val="0"/>
                                  </p:iterate>
                                  <p:childTnLst>
                                    <p:set>
                                      <p:cBhvr>
                                        <p:cTn id="40" fill="hold"/>
                                        <p:tgtEl>
                                          <p:spTgt spid="14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1" build="p" bldLvl="5"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alculating Expectation Values"/>
          <p:cNvSpPr txBox="1">
            <a:spLocks noGrp="1"/>
          </p:cNvSpPr>
          <p:nvPr>
            <p:ph type="title"/>
          </p:nvPr>
        </p:nvSpPr>
        <p:spPr>
          <a:prstGeom prst="rect">
            <a:avLst/>
          </a:prstGeom>
        </p:spPr>
        <p:txBody>
          <a:bodyPr/>
          <a:lstStyle/>
          <a:p>
            <a:r>
              <a:t>Calculating Expectation Values</a:t>
            </a:r>
          </a:p>
        </p:txBody>
      </p:sp>
      <mc:AlternateContent xmlns:mc="http://schemas.openxmlformats.org/markup-compatibility/2006" xmlns:a14="http://schemas.microsoft.com/office/drawing/2010/main">
        <mc:Choice Requires="a14">
          <p:sp>
            <p:nvSpPr>
              <p:cNvPr id="150" name="Two general approaches to calculating…"/>
              <p:cNvSpPr txBox="1">
                <a:spLocks noGrp="1"/>
              </p:cNvSpPr>
              <p:nvPr>
                <p:ph type="body" idx="1"/>
              </p:nvPr>
            </p:nvSpPr>
            <p:spPr>
              <a:prstGeom prst="rect">
                <a:avLst/>
              </a:prstGeom>
            </p:spPr>
            <p:txBody>
              <a:bodyPr/>
              <a:lstStyle/>
              <a:p>
                <a:r>
                  <a:t>Two general approaches to calculating </a:t>
                </a:r>
                <a14:m>
                  <m:oMath xmlns:m="http://schemas.openxmlformats.org/officeDocument/2006/math">
                    <m:r>
                      <a:rPr sz="6100" i="1">
                        <a:solidFill>
                          <a:srgbClr val="000000"/>
                        </a:solidFill>
                        <a:latin typeface="Cambria Math" panose="02040503050406030204" pitchFamily="18" charset="0"/>
                      </a:rPr>
                      <m:t>⟨</m:t>
                    </m:r>
                    <m:r>
                      <a:rPr sz="6100" i="1">
                        <a:solidFill>
                          <a:srgbClr val="000000"/>
                        </a:solidFill>
                        <a:latin typeface="Cambria Math" panose="02040503050406030204" pitchFamily="18" charset="0"/>
                      </a:rPr>
                      <m:t>𝐴</m:t>
                    </m:r>
                    <m:r>
                      <a:rPr sz="6100" i="1">
                        <a:solidFill>
                          <a:srgbClr val="000000"/>
                        </a:solidFill>
                        <a:latin typeface="Cambria Math" panose="02040503050406030204" pitchFamily="18" charset="0"/>
                      </a:rPr>
                      <m:t>⟩=</m:t>
                    </m:r>
                    <m:f>
                      <m:fPr>
                        <m:ctrlPr>
                          <a:rPr sz="6100" i="1">
                            <a:solidFill>
                              <a:srgbClr val="000000"/>
                            </a:solidFill>
                            <a:latin typeface="Cambria Math" panose="02040503050406030204" pitchFamily="18" charset="0"/>
                          </a:rPr>
                        </m:ctrlPr>
                      </m:fPr>
                      <m:num>
                        <m:sSub>
                          <m:sSubPr>
                            <m:ctrlPr>
                              <a:rPr sz="6100" i="1">
                                <a:solidFill>
                                  <a:srgbClr val="000000"/>
                                </a:solidFill>
                                <a:latin typeface="Cambria Math" panose="02040503050406030204" pitchFamily="18" charset="0"/>
                              </a:rPr>
                            </m:ctrlPr>
                          </m:sSubPr>
                          <m:e>
                            <m:r>
                              <a:rPr sz="6100" i="1">
                                <a:solidFill>
                                  <a:srgbClr val="000000"/>
                                </a:solidFill>
                                <a:latin typeface="Cambria Math" panose="02040503050406030204" pitchFamily="18" charset="0"/>
                              </a:rPr>
                              <m:t>∑</m:t>
                            </m:r>
                          </m:e>
                          <m:sub>
                            <m:r>
                              <a:rPr sz="6100" i="1">
                                <a:solidFill>
                                  <a:srgbClr val="000000"/>
                                </a:solidFill>
                                <a:latin typeface="Cambria Math" panose="02040503050406030204" pitchFamily="18" charset="0"/>
                              </a:rPr>
                              <m:t>𝑗</m:t>
                            </m:r>
                          </m:sub>
                        </m:sSub>
                        <m:r>
                          <a:rPr sz="6100" i="1">
                            <a:solidFill>
                              <a:srgbClr val="000000"/>
                            </a:solidFill>
                            <a:latin typeface="Cambria Math" panose="02040503050406030204" pitchFamily="18" charset="0"/>
                          </a:rPr>
                          <m:t>𝐴</m:t>
                        </m:r>
                        <m:r>
                          <a:rPr sz="6100" i="1">
                            <a:solidFill>
                              <a:srgbClr val="000000"/>
                            </a:solidFill>
                            <a:latin typeface="Cambria Math" panose="02040503050406030204" pitchFamily="18" charset="0"/>
                          </a:rPr>
                          <m:t>(</m:t>
                        </m:r>
                        <m:sSub>
                          <m:sSubPr>
                            <m:ctrlPr>
                              <a:rPr sz="6100" i="1">
                                <a:solidFill>
                                  <a:srgbClr val="000000"/>
                                </a:solidFill>
                                <a:latin typeface="Cambria Math" panose="02040503050406030204" pitchFamily="18" charset="0"/>
                              </a:rPr>
                            </m:ctrlPr>
                          </m:sSubPr>
                          <m:e>
                            <m:r>
                              <a:rPr sz="6100" i="1">
                                <a:solidFill>
                                  <a:srgbClr val="000000"/>
                                </a:solidFill>
                                <a:latin typeface="Cambria Math" panose="02040503050406030204" pitchFamily="18" charset="0"/>
                              </a:rPr>
                              <m:t>𝑥</m:t>
                            </m:r>
                          </m:e>
                          <m:sub>
                            <m:r>
                              <a:rPr sz="6100" i="1">
                                <a:solidFill>
                                  <a:srgbClr val="000000"/>
                                </a:solidFill>
                                <a:latin typeface="Cambria Math" panose="02040503050406030204" pitchFamily="18" charset="0"/>
                              </a:rPr>
                              <m:t>𝑗</m:t>
                            </m:r>
                          </m:sub>
                        </m:sSub>
                        <m:r>
                          <a:rPr sz="6100" i="1">
                            <a:solidFill>
                              <a:srgbClr val="000000"/>
                            </a:solidFill>
                            <a:latin typeface="Cambria Math" panose="02040503050406030204" pitchFamily="18" charset="0"/>
                          </a:rPr>
                          <m:t>)</m:t>
                        </m:r>
                        <m:r>
                          <a:rPr sz="6100" i="1">
                            <a:solidFill>
                              <a:srgbClr val="000000"/>
                            </a:solidFill>
                            <a:latin typeface="Cambria Math" panose="02040503050406030204" pitchFamily="18" charset="0"/>
                          </a:rPr>
                          <m:t>𝑝</m:t>
                        </m:r>
                        <m:r>
                          <a:rPr sz="6100" i="1">
                            <a:solidFill>
                              <a:srgbClr val="000000"/>
                            </a:solidFill>
                            <a:latin typeface="Cambria Math" panose="02040503050406030204" pitchFamily="18" charset="0"/>
                          </a:rPr>
                          <m:t>(</m:t>
                        </m:r>
                        <m:sSub>
                          <m:sSubPr>
                            <m:ctrlPr>
                              <a:rPr sz="6100" i="1">
                                <a:solidFill>
                                  <a:srgbClr val="000000"/>
                                </a:solidFill>
                                <a:latin typeface="Cambria Math" panose="02040503050406030204" pitchFamily="18" charset="0"/>
                              </a:rPr>
                            </m:ctrlPr>
                          </m:sSubPr>
                          <m:e>
                            <m:r>
                              <a:rPr sz="6100" i="1">
                                <a:solidFill>
                                  <a:srgbClr val="000000"/>
                                </a:solidFill>
                                <a:latin typeface="Cambria Math" panose="02040503050406030204" pitchFamily="18" charset="0"/>
                              </a:rPr>
                              <m:t>𝑥</m:t>
                            </m:r>
                          </m:e>
                          <m:sub>
                            <m:r>
                              <a:rPr sz="6100" i="1">
                                <a:solidFill>
                                  <a:srgbClr val="000000"/>
                                </a:solidFill>
                                <a:latin typeface="Cambria Math" panose="02040503050406030204" pitchFamily="18" charset="0"/>
                              </a:rPr>
                              <m:t>𝑗</m:t>
                            </m:r>
                          </m:sub>
                        </m:sSub>
                        <m:r>
                          <a:rPr sz="6100" i="1">
                            <a:solidFill>
                              <a:srgbClr val="000000"/>
                            </a:solidFill>
                            <a:latin typeface="Cambria Math" panose="02040503050406030204" pitchFamily="18" charset="0"/>
                          </a:rPr>
                          <m:t>)</m:t>
                        </m:r>
                      </m:num>
                      <m:den>
                        <m:sSub>
                          <m:sSubPr>
                            <m:ctrlPr>
                              <a:rPr sz="6100" i="1">
                                <a:solidFill>
                                  <a:srgbClr val="000000"/>
                                </a:solidFill>
                                <a:latin typeface="Cambria Math" panose="02040503050406030204" pitchFamily="18" charset="0"/>
                              </a:rPr>
                            </m:ctrlPr>
                          </m:sSubPr>
                          <m:e>
                            <m:r>
                              <a:rPr sz="6100" i="1">
                                <a:solidFill>
                                  <a:srgbClr val="000000"/>
                                </a:solidFill>
                                <a:latin typeface="Cambria Math" panose="02040503050406030204" pitchFamily="18" charset="0"/>
                              </a:rPr>
                              <m:t>∑</m:t>
                            </m:r>
                          </m:e>
                          <m:sub>
                            <m:r>
                              <a:rPr sz="6100" i="1">
                                <a:solidFill>
                                  <a:srgbClr val="000000"/>
                                </a:solidFill>
                                <a:latin typeface="Cambria Math" panose="02040503050406030204" pitchFamily="18" charset="0"/>
                              </a:rPr>
                              <m:t>𝑗</m:t>
                            </m:r>
                          </m:sub>
                        </m:sSub>
                        <m:r>
                          <a:rPr sz="6100" i="1">
                            <a:solidFill>
                              <a:srgbClr val="000000"/>
                            </a:solidFill>
                            <a:latin typeface="Cambria Math" panose="02040503050406030204" pitchFamily="18" charset="0"/>
                          </a:rPr>
                          <m:t>𝑝</m:t>
                        </m:r>
                        <m:r>
                          <a:rPr sz="6100" i="1">
                            <a:solidFill>
                              <a:srgbClr val="000000"/>
                            </a:solidFill>
                            <a:latin typeface="Cambria Math" panose="02040503050406030204" pitchFamily="18" charset="0"/>
                          </a:rPr>
                          <m:t>(</m:t>
                        </m:r>
                        <m:sSub>
                          <m:sSubPr>
                            <m:ctrlPr>
                              <a:rPr sz="6100" i="1">
                                <a:solidFill>
                                  <a:srgbClr val="000000"/>
                                </a:solidFill>
                                <a:latin typeface="Cambria Math" panose="02040503050406030204" pitchFamily="18" charset="0"/>
                              </a:rPr>
                            </m:ctrlPr>
                          </m:sSubPr>
                          <m:e>
                            <m:r>
                              <a:rPr sz="6100" i="1">
                                <a:solidFill>
                                  <a:srgbClr val="000000"/>
                                </a:solidFill>
                                <a:latin typeface="Cambria Math" panose="02040503050406030204" pitchFamily="18" charset="0"/>
                              </a:rPr>
                              <m:t>𝑥</m:t>
                            </m:r>
                          </m:e>
                          <m:sub>
                            <m:r>
                              <a:rPr sz="6100" i="1">
                                <a:solidFill>
                                  <a:srgbClr val="000000"/>
                                </a:solidFill>
                                <a:latin typeface="Cambria Math" panose="02040503050406030204" pitchFamily="18" charset="0"/>
                              </a:rPr>
                              <m:t>𝑗</m:t>
                            </m:r>
                          </m:sub>
                        </m:sSub>
                        <m:r>
                          <a:rPr sz="6100" i="1">
                            <a:solidFill>
                              <a:srgbClr val="000000"/>
                            </a:solidFill>
                            <a:latin typeface="Cambria Math" panose="02040503050406030204" pitchFamily="18" charset="0"/>
                          </a:rPr>
                          <m:t>)</m:t>
                        </m:r>
                      </m:den>
                    </m:f>
                  </m:oMath>
                </a14:m>
                <a:r>
                  <a:t> </a:t>
                </a:r>
              </a:p>
              <a:p>
                <a:pPr lvl="1"/>
                <a:r>
                  <a:t>Enumeration</a:t>
                </a:r>
              </a:p>
              <a:p>
                <a:pPr lvl="2"/>
                <a:r>
                  <a:t>compute </a:t>
                </a:r>
                <a14:m>
                  <m:oMath xmlns:m="http://schemas.openxmlformats.org/officeDocument/2006/math">
                    <m:r>
                      <a:rPr sz="6100" i="1">
                        <a:solidFill>
                          <a:srgbClr val="000000"/>
                        </a:solidFill>
                        <a:latin typeface="Cambria Math" panose="02040503050406030204" pitchFamily="18" charset="0"/>
                      </a:rPr>
                      <m:t>𝐴</m:t>
                    </m:r>
                    <m:r>
                      <a:rPr sz="6100" i="1">
                        <a:solidFill>
                          <a:srgbClr val="000000"/>
                        </a:solidFill>
                        <a:latin typeface="Cambria Math" panose="02040503050406030204" pitchFamily="18" charset="0"/>
                      </a:rPr>
                      <m:t>(</m:t>
                    </m:r>
                    <m:sSub>
                      <m:sSubPr>
                        <m:ctrlPr>
                          <a:rPr sz="6100" i="1">
                            <a:solidFill>
                              <a:srgbClr val="000000"/>
                            </a:solidFill>
                            <a:latin typeface="Cambria Math" panose="02040503050406030204" pitchFamily="18" charset="0"/>
                          </a:rPr>
                        </m:ctrlPr>
                      </m:sSubPr>
                      <m:e>
                        <m:r>
                          <a:rPr sz="6100" i="1">
                            <a:solidFill>
                              <a:srgbClr val="000000"/>
                            </a:solidFill>
                            <a:latin typeface="Cambria Math" panose="02040503050406030204" pitchFamily="18" charset="0"/>
                          </a:rPr>
                          <m:t>𝑥</m:t>
                        </m:r>
                      </m:e>
                      <m:sub>
                        <m:r>
                          <a:rPr sz="6100" i="1">
                            <a:solidFill>
                              <a:srgbClr val="000000"/>
                            </a:solidFill>
                            <a:latin typeface="Cambria Math" panose="02040503050406030204" pitchFamily="18" charset="0"/>
                          </a:rPr>
                          <m:t>𝑗</m:t>
                        </m:r>
                      </m:sub>
                    </m:sSub>
                    <m:r>
                      <a:rPr sz="6100" i="1">
                        <a:solidFill>
                          <a:srgbClr val="000000"/>
                        </a:solidFill>
                        <a:latin typeface="Cambria Math" panose="02040503050406030204" pitchFamily="18" charset="0"/>
                      </a:rPr>
                      <m:t>)</m:t>
                    </m:r>
                  </m:oMath>
                </a14:m>
                <a:r>
                  <a:t> and </a:t>
                </a:r>
                <a14:m>
                  <m:oMath xmlns:m="http://schemas.openxmlformats.org/officeDocument/2006/math">
                    <m:r>
                      <a:rPr sz="6100" i="1">
                        <a:solidFill>
                          <a:srgbClr val="000000"/>
                        </a:solidFill>
                        <a:latin typeface="Cambria Math" panose="02040503050406030204" pitchFamily="18" charset="0"/>
                      </a:rPr>
                      <m:t>𝑝</m:t>
                    </m:r>
                    <m:r>
                      <a:rPr sz="6100" i="1">
                        <a:solidFill>
                          <a:srgbClr val="000000"/>
                        </a:solidFill>
                        <a:latin typeface="Cambria Math" panose="02040503050406030204" pitchFamily="18" charset="0"/>
                      </a:rPr>
                      <m:t>(</m:t>
                    </m:r>
                    <m:sSub>
                      <m:sSubPr>
                        <m:ctrlPr>
                          <a:rPr sz="6100" i="1">
                            <a:solidFill>
                              <a:srgbClr val="000000"/>
                            </a:solidFill>
                            <a:latin typeface="Cambria Math" panose="02040503050406030204" pitchFamily="18" charset="0"/>
                          </a:rPr>
                        </m:ctrlPr>
                      </m:sSubPr>
                      <m:e>
                        <m:r>
                          <a:rPr sz="6100" i="1">
                            <a:solidFill>
                              <a:srgbClr val="000000"/>
                            </a:solidFill>
                            <a:latin typeface="Cambria Math" panose="02040503050406030204" pitchFamily="18" charset="0"/>
                          </a:rPr>
                          <m:t>𝑥</m:t>
                        </m:r>
                      </m:e>
                      <m:sub>
                        <m:r>
                          <a:rPr sz="6100" i="1">
                            <a:solidFill>
                              <a:srgbClr val="000000"/>
                            </a:solidFill>
                            <a:latin typeface="Cambria Math" panose="02040503050406030204" pitchFamily="18" charset="0"/>
                          </a:rPr>
                          <m:t>𝑗</m:t>
                        </m:r>
                      </m:sub>
                    </m:sSub>
                    <m:r>
                      <a:rPr sz="6100" i="1">
                        <a:solidFill>
                          <a:srgbClr val="000000"/>
                        </a:solidFill>
                        <a:latin typeface="Cambria Math" panose="02040503050406030204" pitchFamily="18" charset="0"/>
                      </a:rPr>
                      <m:t>)</m:t>
                    </m:r>
                  </m:oMath>
                </a14:m>
                <a:r>
                  <a:t> for all possible </a:t>
                </a:r>
                <a14:m>
                  <m:oMath xmlns:m="http://schemas.openxmlformats.org/officeDocument/2006/math">
                    <m:sSub>
                      <m:sSubPr>
                        <m:ctrlPr>
                          <a:rPr sz="6100" i="1">
                            <a:solidFill>
                              <a:srgbClr val="000000"/>
                            </a:solidFill>
                            <a:latin typeface="Cambria Math" panose="02040503050406030204" pitchFamily="18" charset="0"/>
                          </a:rPr>
                        </m:ctrlPr>
                      </m:sSubPr>
                      <m:e>
                        <m:r>
                          <a:rPr sz="6100" i="1">
                            <a:solidFill>
                              <a:srgbClr val="000000"/>
                            </a:solidFill>
                            <a:latin typeface="Cambria Math" panose="02040503050406030204" pitchFamily="18" charset="0"/>
                          </a:rPr>
                          <m:t>𝑥</m:t>
                        </m:r>
                      </m:e>
                      <m:sub>
                        <m:r>
                          <a:rPr sz="6100" i="1">
                            <a:solidFill>
                              <a:srgbClr val="000000"/>
                            </a:solidFill>
                            <a:latin typeface="Cambria Math" panose="02040503050406030204" pitchFamily="18" charset="0"/>
                          </a:rPr>
                          <m:t>𝑗</m:t>
                        </m:r>
                      </m:sub>
                    </m:sSub>
                  </m:oMath>
                </a14:m>
                <a:r>
                  <a:t>; weighted average.</a:t>
                </a:r>
              </a:p>
              <a:p>
                <a:pPr lvl="2"/>
                <a:r>
                  <a:t>for continuous spaces, integrals may be approximated by quadrature, e.g. Simpson’s rule</a:t>
                </a:r>
              </a:p>
              <a:p>
                <a:pPr lvl="1"/>
                <a:r>
                  <a:t>Monte Carlo Integration (named after famous gambling city)</a:t>
                </a:r>
              </a:p>
              <a:p>
                <a:pPr lvl="2"/>
                <a:r>
                  <a:t>draw (pseudo-)random samples </a:t>
                </a:r>
                <a14:m>
                  <m:oMath xmlns:m="http://schemas.openxmlformats.org/officeDocument/2006/math">
                    <m:sSub>
                      <m:sSubPr>
                        <m:ctrlPr>
                          <a:rPr sz="6100" i="1">
                            <a:solidFill>
                              <a:srgbClr val="000000"/>
                            </a:solidFill>
                            <a:latin typeface="Cambria Math" panose="02040503050406030204" pitchFamily="18" charset="0"/>
                          </a:rPr>
                        </m:ctrlPr>
                      </m:sSubPr>
                      <m:e>
                        <m:r>
                          <a:rPr sz="6100" i="1">
                            <a:solidFill>
                              <a:srgbClr val="000000"/>
                            </a:solidFill>
                            <a:latin typeface="Cambria Math" panose="02040503050406030204" pitchFamily="18" charset="0"/>
                          </a:rPr>
                          <m:t>𝑥</m:t>
                        </m:r>
                      </m:e>
                      <m:sub>
                        <m:r>
                          <a:rPr sz="6100" i="1">
                            <a:solidFill>
                              <a:srgbClr val="000000"/>
                            </a:solidFill>
                            <a:latin typeface="Cambria Math" panose="02040503050406030204" pitchFamily="18" charset="0"/>
                          </a:rPr>
                          <m:t>𝑗</m:t>
                        </m:r>
                      </m:sub>
                    </m:sSub>
                  </m:oMath>
                </a14:m>
                <a:r>
                  <a:t> with probability </a:t>
                </a:r>
                <a14:m>
                  <m:oMath xmlns:m="http://schemas.openxmlformats.org/officeDocument/2006/math">
                    <m:r>
                      <a:rPr sz="6100" i="1">
                        <a:solidFill>
                          <a:srgbClr val="000000"/>
                        </a:solidFill>
                        <a:latin typeface="Cambria Math" panose="02040503050406030204" pitchFamily="18" charset="0"/>
                      </a:rPr>
                      <m:t>𝑝</m:t>
                    </m:r>
                    <m:r>
                      <a:rPr sz="6100" i="1">
                        <a:solidFill>
                          <a:srgbClr val="000000"/>
                        </a:solidFill>
                        <a:latin typeface="Cambria Math" panose="02040503050406030204" pitchFamily="18" charset="0"/>
                      </a:rPr>
                      <m:t>(</m:t>
                    </m:r>
                    <m:sSub>
                      <m:sSubPr>
                        <m:ctrlPr>
                          <a:rPr sz="6100" i="1">
                            <a:solidFill>
                              <a:srgbClr val="000000"/>
                            </a:solidFill>
                            <a:latin typeface="Cambria Math" panose="02040503050406030204" pitchFamily="18" charset="0"/>
                          </a:rPr>
                        </m:ctrlPr>
                      </m:sSubPr>
                      <m:e>
                        <m:r>
                          <a:rPr sz="6100" i="1">
                            <a:solidFill>
                              <a:srgbClr val="000000"/>
                            </a:solidFill>
                            <a:latin typeface="Cambria Math" panose="02040503050406030204" pitchFamily="18" charset="0"/>
                          </a:rPr>
                          <m:t>𝑥</m:t>
                        </m:r>
                      </m:e>
                      <m:sub>
                        <m:r>
                          <a:rPr sz="6100" i="1">
                            <a:solidFill>
                              <a:srgbClr val="000000"/>
                            </a:solidFill>
                            <a:latin typeface="Cambria Math" panose="02040503050406030204" pitchFamily="18" charset="0"/>
                          </a:rPr>
                          <m:t>𝑗</m:t>
                        </m:r>
                      </m:sub>
                    </m:sSub>
                    <m:r>
                      <a:rPr sz="6100" i="1">
                        <a:solidFill>
                          <a:srgbClr val="000000"/>
                        </a:solidFill>
                        <a:latin typeface="Cambria Math" panose="02040503050406030204" pitchFamily="18" charset="0"/>
                      </a:rPr>
                      <m:t>)</m:t>
                    </m:r>
                  </m:oMath>
                </a14:m>
                <a:r>
                  <a:t>; </a:t>
                </a:r>
                <a:r>
                  <a:rPr u="sng"/>
                  <a:t>estimate</a:t>
                </a:r>
                <a:r>
                  <a:t> with simple average</a:t>
                </a:r>
              </a:p>
              <a:p>
                <a:pPr lvl="2"/>
                <a:r>
                  <a:t>estimate converges to true value with many samples</a:t>
                </a:r>
              </a:p>
            </p:txBody>
          </p:sp>
        </mc:Choice>
        <mc:Fallback xmlns="">
          <p:sp>
            <p:nvSpPr>
              <p:cNvPr id="150" name="Two general approaches to calculating…"/>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714"/>
                </a:stretch>
              </a:blipFill>
            </p:spPr>
            <p:txBody>
              <a:bodyPr/>
              <a:lstStyle/>
              <a:p>
                <a:r>
                  <a:rPr lang="en-US">
                    <a:noFill/>
                  </a:rPr>
                  <a:t> </a:t>
                </a:r>
              </a:p>
            </p:txBody>
          </p:sp>
        </mc:Fallback>
      </mc:AlternateContent>
      <p:sp>
        <p:nvSpPr>
          <p:cNvPr id="151" name="Slide Number"/>
          <p:cNvSpPr txBox="1">
            <a:spLocks noGrp="1"/>
          </p:cNvSpPr>
          <p:nvPr>
            <p:ph type="sldNum" sz="quarter" idx="4294967295"/>
          </p:nvPr>
        </p:nvSpPr>
        <p:spPr>
          <a:xfrm>
            <a:off x="12020548" y="13010554"/>
            <a:ext cx="325044" cy="5111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5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50">
                                            <p:txEl>
                                              <p:pRg st="1" end="1"/>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1" nodeType="afterEffect">
                                  <p:stCondLst>
                                    <p:cond delay="0"/>
                                  </p:stCondLst>
                                  <p:iterate>
                                    <p:tmAbs val="0"/>
                                  </p:iterate>
                                  <p:childTnLst>
                                    <p:set>
                                      <p:cBhvr>
                                        <p:cTn id="15" fill="hold"/>
                                        <p:tgtEl>
                                          <p:spTgt spid="150">
                                            <p:txEl>
                                              <p:pRg st="2" end="2"/>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1" nodeType="afterEffect">
                                  <p:stCondLst>
                                    <p:cond delay="0"/>
                                  </p:stCondLst>
                                  <p:iterate>
                                    <p:tmAbs val="0"/>
                                  </p:iterate>
                                  <p:childTnLst>
                                    <p:set>
                                      <p:cBhvr>
                                        <p:cTn id="18" fill="hold"/>
                                        <p:tgtEl>
                                          <p:spTgt spid="15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iterate>
                                    <p:tmAbs val="0"/>
                                  </p:iterate>
                                  <p:childTnLst>
                                    <p:set>
                                      <p:cBhvr>
                                        <p:cTn id="22" fill="hold"/>
                                        <p:tgtEl>
                                          <p:spTgt spid="150">
                                            <p:txEl>
                                              <p:pRg st="4" end="4"/>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1" nodeType="afterEffect">
                                  <p:stCondLst>
                                    <p:cond delay="0"/>
                                  </p:stCondLst>
                                  <p:iterate>
                                    <p:tmAbs val="0"/>
                                  </p:iterate>
                                  <p:childTnLst>
                                    <p:set>
                                      <p:cBhvr>
                                        <p:cTn id="25" fill="hold"/>
                                        <p:tgtEl>
                                          <p:spTgt spid="150">
                                            <p:txEl>
                                              <p:pRg st="5" end="5"/>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1" nodeType="afterEffect">
                                  <p:stCondLst>
                                    <p:cond delay="0"/>
                                  </p:stCondLst>
                                  <p:iterate>
                                    <p:tmAbs val="0"/>
                                  </p:iterate>
                                  <p:childTnLst>
                                    <p:set>
                                      <p:cBhvr>
                                        <p:cTn id="28" fill="hold"/>
                                        <p:tgtEl>
                                          <p:spTgt spid="15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1" build="p" bldLvl="5"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Example: Dice"/>
          <p:cNvSpPr txBox="1">
            <a:spLocks noGrp="1"/>
          </p:cNvSpPr>
          <p:nvPr>
            <p:ph type="title"/>
          </p:nvPr>
        </p:nvSpPr>
        <p:spPr>
          <a:prstGeom prst="rect">
            <a:avLst/>
          </a:prstGeom>
        </p:spPr>
        <p:txBody>
          <a:bodyPr/>
          <a:lstStyle/>
          <a:p>
            <a:r>
              <a:t>Example: Dice</a:t>
            </a:r>
          </a:p>
        </p:txBody>
      </p:sp>
      <p:sp>
        <p:nvSpPr>
          <p:cNvPr id="154" name="How do you compute the expectation value of the sum of two six-sided dice?…"/>
          <p:cNvSpPr txBox="1">
            <a:spLocks noGrp="1"/>
          </p:cNvSpPr>
          <p:nvPr>
            <p:ph type="body" sz="half" idx="1"/>
          </p:nvPr>
        </p:nvSpPr>
        <p:spPr>
          <a:xfrm>
            <a:off x="635000" y="3172150"/>
            <a:ext cx="23114000" cy="4129221"/>
          </a:xfrm>
          <a:prstGeom prst="rect">
            <a:avLst/>
          </a:prstGeom>
        </p:spPr>
        <p:txBody>
          <a:bodyPr/>
          <a:lstStyle/>
          <a:p>
            <a:r>
              <a:t>How do you compute the expectation value of the sum of two six-sided dice?</a:t>
            </a:r>
          </a:p>
          <a:p>
            <a:pPr lvl="1"/>
            <a:r>
              <a:t>(2 + 3*2 + 4*3 + 5*4 + 6*5 + 7*6 + 8*5 + 9*4 + 10*3 + 11*2 + 12)/36 = 7</a:t>
            </a:r>
          </a:p>
          <a:p>
            <a:pPr lvl="1"/>
            <a:r>
              <a:t>Roll the dice many times and calculate the average</a:t>
            </a:r>
          </a:p>
        </p:txBody>
      </p:sp>
      <p:graphicFrame>
        <p:nvGraphicFramePr>
          <p:cNvPr id="155" name="Table 1"/>
          <p:cNvGraphicFramePr/>
          <p:nvPr/>
        </p:nvGraphicFramePr>
        <p:xfrm>
          <a:off x="3808412" y="7620000"/>
          <a:ext cx="16690975" cy="4445000"/>
        </p:xfrm>
        <a:graphic>
          <a:graphicData uri="http://schemas.openxmlformats.org/drawingml/2006/table">
            <a:tbl>
              <a:tblPr firstRow="1" firstCol="1" bandRow="1">
                <a:tableStyleId>{EEE7283C-3CF3-47DC-8721-378D4A62B228}</a:tableStyleId>
              </a:tblPr>
              <a:tblGrid>
                <a:gridCol w="2384425">
                  <a:extLst>
                    <a:ext uri="{9D8B030D-6E8A-4147-A177-3AD203B41FA5}">
                      <a16:colId xmlns:a16="http://schemas.microsoft.com/office/drawing/2014/main" val="20000"/>
                    </a:ext>
                  </a:extLst>
                </a:gridCol>
                <a:gridCol w="2384425">
                  <a:extLst>
                    <a:ext uri="{9D8B030D-6E8A-4147-A177-3AD203B41FA5}">
                      <a16:colId xmlns:a16="http://schemas.microsoft.com/office/drawing/2014/main" val="20001"/>
                    </a:ext>
                  </a:extLst>
                </a:gridCol>
                <a:gridCol w="2384425">
                  <a:extLst>
                    <a:ext uri="{9D8B030D-6E8A-4147-A177-3AD203B41FA5}">
                      <a16:colId xmlns:a16="http://schemas.microsoft.com/office/drawing/2014/main" val="20002"/>
                    </a:ext>
                  </a:extLst>
                </a:gridCol>
                <a:gridCol w="2384425">
                  <a:extLst>
                    <a:ext uri="{9D8B030D-6E8A-4147-A177-3AD203B41FA5}">
                      <a16:colId xmlns:a16="http://schemas.microsoft.com/office/drawing/2014/main" val="20003"/>
                    </a:ext>
                  </a:extLst>
                </a:gridCol>
                <a:gridCol w="2384425">
                  <a:extLst>
                    <a:ext uri="{9D8B030D-6E8A-4147-A177-3AD203B41FA5}">
                      <a16:colId xmlns:a16="http://schemas.microsoft.com/office/drawing/2014/main" val="20004"/>
                    </a:ext>
                  </a:extLst>
                </a:gridCol>
                <a:gridCol w="2384425">
                  <a:extLst>
                    <a:ext uri="{9D8B030D-6E8A-4147-A177-3AD203B41FA5}">
                      <a16:colId xmlns:a16="http://schemas.microsoft.com/office/drawing/2014/main" val="20005"/>
                    </a:ext>
                  </a:extLst>
                </a:gridCol>
                <a:gridCol w="2384425">
                  <a:extLst>
                    <a:ext uri="{9D8B030D-6E8A-4147-A177-3AD203B41FA5}">
                      <a16:colId xmlns:a16="http://schemas.microsoft.com/office/drawing/2014/main" val="20006"/>
                    </a:ext>
                  </a:extLst>
                </a:gridCol>
              </a:tblGrid>
              <a:tr h="635000">
                <a:tc>
                  <a:txBody>
                    <a:bodyPr/>
                    <a:lstStyle/>
                    <a:p>
                      <a:pPr indent="228600">
                        <a:defRPr sz="4000">
                          <a:sym typeface="Helvetica"/>
                        </a:defRPr>
                      </a:pPr>
                      <a:endParaRPr/>
                    </a:p>
                  </a:txBody>
                  <a:tcPr marL="0" marR="0" marT="0" marB="0" horzOverflow="overflow"/>
                </a:tc>
                <a:tc>
                  <a:txBody>
                    <a:bodyPr/>
                    <a:lstStyle/>
                    <a:p>
                      <a:pPr indent="228600">
                        <a:defRPr sz="1800" b="0">
                          <a:solidFill>
                            <a:srgbClr val="000000"/>
                          </a:solidFill>
                        </a:defRPr>
                      </a:pPr>
                      <a:r>
                        <a:rPr sz="4000" b="1">
                          <a:solidFill>
                            <a:srgbClr val="FFFFFF"/>
                          </a:solidFill>
                          <a:sym typeface="Helvetica"/>
                        </a:rPr>
                        <a:t>1</a:t>
                      </a:r>
                    </a:p>
                  </a:txBody>
                  <a:tcPr marL="0" marR="0" marT="0" marB="0" horzOverflow="overflow"/>
                </a:tc>
                <a:tc>
                  <a:txBody>
                    <a:bodyPr/>
                    <a:lstStyle/>
                    <a:p>
                      <a:pPr indent="228600">
                        <a:defRPr sz="1800" b="0">
                          <a:solidFill>
                            <a:srgbClr val="000000"/>
                          </a:solidFill>
                        </a:defRPr>
                      </a:pPr>
                      <a:r>
                        <a:rPr sz="4000" b="1">
                          <a:solidFill>
                            <a:srgbClr val="FFFFFF"/>
                          </a:solidFill>
                          <a:sym typeface="Helvetica"/>
                        </a:rPr>
                        <a:t>2</a:t>
                      </a:r>
                    </a:p>
                  </a:txBody>
                  <a:tcPr marL="0" marR="0" marT="0" marB="0" horzOverflow="overflow"/>
                </a:tc>
                <a:tc>
                  <a:txBody>
                    <a:bodyPr/>
                    <a:lstStyle/>
                    <a:p>
                      <a:pPr indent="228600">
                        <a:defRPr sz="1800" b="0">
                          <a:solidFill>
                            <a:srgbClr val="000000"/>
                          </a:solidFill>
                        </a:defRPr>
                      </a:pPr>
                      <a:r>
                        <a:rPr sz="4000" b="1">
                          <a:solidFill>
                            <a:srgbClr val="FFFFFF"/>
                          </a:solidFill>
                          <a:sym typeface="Helvetica"/>
                        </a:rPr>
                        <a:t>3</a:t>
                      </a:r>
                    </a:p>
                  </a:txBody>
                  <a:tcPr marL="0" marR="0" marT="0" marB="0" horzOverflow="overflow"/>
                </a:tc>
                <a:tc>
                  <a:txBody>
                    <a:bodyPr/>
                    <a:lstStyle/>
                    <a:p>
                      <a:pPr indent="228600">
                        <a:defRPr sz="1800" b="0">
                          <a:solidFill>
                            <a:srgbClr val="000000"/>
                          </a:solidFill>
                        </a:defRPr>
                      </a:pPr>
                      <a:r>
                        <a:rPr sz="4000" b="1">
                          <a:solidFill>
                            <a:srgbClr val="FFFFFF"/>
                          </a:solidFill>
                          <a:sym typeface="Helvetica"/>
                        </a:rPr>
                        <a:t>4</a:t>
                      </a:r>
                    </a:p>
                  </a:txBody>
                  <a:tcPr marL="0" marR="0" marT="0" marB="0" horzOverflow="overflow"/>
                </a:tc>
                <a:tc>
                  <a:txBody>
                    <a:bodyPr/>
                    <a:lstStyle/>
                    <a:p>
                      <a:pPr indent="228600">
                        <a:defRPr sz="1800" b="0">
                          <a:solidFill>
                            <a:srgbClr val="000000"/>
                          </a:solidFill>
                        </a:defRPr>
                      </a:pPr>
                      <a:r>
                        <a:rPr sz="4000" b="1">
                          <a:solidFill>
                            <a:srgbClr val="FFFFFF"/>
                          </a:solidFill>
                          <a:sym typeface="Helvetica"/>
                        </a:rPr>
                        <a:t>5</a:t>
                      </a:r>
                    </a:p>
                  </a:txBody>
                  <a:tcPr marL="0" marR="0" marT="0" marB="0" horzOverflow="overflow"/>
                </a:tc>
                <a:tc>
                  <a:txBody>
                    <a:bodyPr/>
                    <a:lstStyle/>
                    <a:p>
                      <a:pPr indent="228600">
                        <a:defRPr sz="1800" b="0">
                          <a:solidFill>
                            <a:srgbClr val="000000"/>
                          </a:solidFill>
                        </a:defRPr>
                      </a:pPr>
                      <a:r>
                        <a:rPr sz="4000" b="1">
                          <a:solidFill>
                            <a:srgbClr val="FFFFFF"/>
                          </a:solidFill>
                          <a:sym typeface="Helvetica"/>
                        </a:rPr>
                        <a:t>6</a:t>
                      </a:r>
                    </a:p>
                  </a:txBody>
                  <a:tcPr marL="0" marR="0" marT="0" marB="0" horzOverflow="overflow"/>
                </a:tc>
                <a:extLst>
                  <a:ext uri="{0D108BD9-81ED-4DB2-BD59-A6C34878D82A}">
                    <a16:rowId xmlns:a16="http://schemas.microsoft.com/office/drawing/2014/main" val="10000"/>
                  </a:ext>
                </a:extLst>
              </a:tr>
              <a:tr h="635000">
                <a:tc>
                  <a:txBody>
                    <a:bodyPr/>
                    <a:lstStyle/>
                    <a:p>
                      <a:pPr indent="228600">
                        <a:defRPr sz="1800" b="0">
                          <a:solidFill>
                            <a:srgbClr val="000000"/>
                          </a:solidFill>
                        </a:defRPr>
                      </a:pPr>
                      <a:r>
                        <a:rPr sz="4000" b="1">
                          <a:solidFill>
                            <a:srgbClr val="FFFFFF"/>
                          </a:solidFill>
                          <a:sym typeface="Helvetica"/>
                        </a:rPr>
                        <a:t>1</a:t>
                      </a:r>
                    </a:p>
                  </a:txBody>
                  <a:tcPr marL="0" marR="0" marT="0" marB="0" horzOverflow="overflow"/>
                </a:tc>
                <a:tc>
                  <a:txBody>
                    <a:bodyPr/>
                    <a:lstStyle/>
                    <a:p>
                      <a:pPr indent="228600">
                        <a:defRPr sz="1800"/>
                      </a:pPr>
                      <a:r>
                        <a:rPr sz="4000"/>
                        <a:t>2</a:t>
                      </a:r>
                    </a:p>
                  </a:txBody>
                  <a:tcPr marL="0" marR="0" marT="0" marB="0" horzOverflow="overflow"/>
                </a:tc>
                <a:tc>
                  <a:txBody>
                    <a:bodyPr/>
                    <a:lstStyle/>
                    <a:p>
                      <a:pPr indent="228600">
                        <a:defRPr sz="1800"/>
                      </a:pPr>
                      <a:r>
                        <a:rPr sz="4000"/>
                        <a:t>3</a:t>
                      </a:r>
                    </a:p>
                  </a:txBody>
                  <a:tcPr marL="0" marR="0" marT="0" marB="0" horzOverflow="overflow"/>
                </a:tc>
                <a:tc>
                  <a:txBody>
                    <a:bodyPr/>
                    <a:lstStyle/>
                    <a:p>
                      <a:pPr indent="228600">
                        <a:defRPr sz="1800"/>
                      </a:pPr>
                      <a:r>
                        <a:rPr sz="4000"/>
                        <a:t>4</a:t>
                      </a:r>
                    </a:p>
                  </a:txBody>
                  <a:tcPr marL="0" marR="0" marT="0" marB="0" horzOverflow="overflow"/>
                </a:tc>
                <a:tc>
                  <a:txBody>
                    <a:bodyPr/>
                    <a:lstStyle/>
                    <a:p>
                      <a:pPr indent="228600">
                        <a:defRPr sz="1800"/>
                      </a:pPr>
                      <a:r>
                        <a:rPr sz="4000"/>
                        <a:t>5</a:t>
                      </a:r>
                    </a:p>
                  </a:txBody>
                  <a:tcPr marL="0" marR="0" marT="0" marB="0" horzOverflow="overflow"/>
                </a:tc>
                <a:tc>
                  <a:txBody>
                    <a:bodyPr/>
                    <a:lstStyle/>
                    <a:p>
                      <a:pPr indent="228600">
                        <a:defRPr sz="1800"/>
                      </a:pPr>
                      <a:r>
                        <a:rPr sz="4000"/>
                        <a:t>6</a:t>
                      </a:r>
                    </a:p>
                  </a:txBody>
                  <a:tcPr marL="0" marR="0" marT="0" marB="0" horzOverflow="overflow"/>
                </a:tc>
                <a:tc>
                  <a:txBody>
                    <a:bodyPr/>
                    <a:lstStyle/>
                    <a:p>
                      <a:pPr indent="228600">
                        <a:defRPr sz="1800"/>
                      </a:pPr>
                      <a:r>
                        <a:rPr sz="4000"/>
                        <a:t>7</a:t>
                      </a:r>
                    </a:p>
                  </a:txBody>
                  <a:tcPr marL="0" marR="0" marT="0" marB="0" horzOverflow="overflow"/>
                </a:tc>
                <a:extLst>
                  <a:ext uri="{0D108BD9-81ED-4DB2-BD59-A6C34878D82A}">
                    <a16:rowId xmlns:a16="http://schemas.microsoft.com/office/drawing/2014/main" val="10001"/>
                  </a:ext>
                </a:extLst>
              </a:tr>
              <a:tr h="635000">
                <a:tc>
                  <a:txBody>
                    <a:bodyPr/>
                    <a:lstStyle/>
                    <a:p>
                      <a:pPr indent="228600">
                        <a:defRPr sz="1800" b="0">
                          <a:solidFill>
                            <a:srgbClr val="000000"/>
                          </a:solidFill>
                        </a:defRPr>
                      </a:pPr>
                      <a:r>
                        <a:rPr sz="4000" b="1">
                          <a:solidFill>
                            <a:srgbClr val="FFFFFF"/>
                          </a:solidFill>
                          <a:sym typeface="Helvetica"/>
                        </a:rPr>
                        <a:t>2</a:t>
                      </a:r>
                    </a:p>
                  </a:txBody>
                  <a:tcPr marL="0" marR="0" marT="0" marB="0" horzOverflow="overflow"/>
                </a:tc>
                <a:tc>
                  <a:txBody>
                    <a:bodyPr/>
                    <a:lstStyle/>
                    <a:p>
                      <a:pPr indent="228600">
                        <a:defRPr sz="1800"/>
                      </a:pPr>
                      <a:r>
                        <a:rPr sz="4000"/>
                        <a:t>3</a:t>
                      </a:r>
                    </a:p>
                  </a:txBody>
                  <a:tcPr marL="0" marR="0" marT="0" marB="0" horzOverflow="overflow"/>
                </a:tc>
                <a:tc>
                  <a:txBody>
                    <a:bodyPr/>
                    <a:lstStyle/>
                    <a:p>
                      <a:pPr indent="228600">
                        <a:defRPr sz="1800"/>
                      </a:pPr>
                      <a:r>
                        <a:rPr sz="4000"/>
                        <a:t>4</a:t>
                      </a:r>
                    </a:p>
                  </a:txBody>
                  <a:tcPr marL="0" marR="0" marT="0" marB="0" horzOverflow="overflow"/>
                </a:tc>
                <a:tc>
                  <a:txBody>
                    <a:bodyPr/>
                    <a:lstStyle/>
                    <a:p>
                      <a:pPr indent="228600">
                        <a:defRPr sz="1800"/>
                      </a:pPr>
                      <a:r>
                        <a:rPr sz="4000"/>
                        <a:t>5</a:t>
                      </a:r>
                    </a:p>
                  </a:txBody>
                  <a:tcPr marL="0" marR="0" marT="0" marB="0" horzOverflow="overflow"/>
                </a:tc>
                <a:tc>
                  <a:txBody>
                    <a:bodyPr/>
                    <a:lstStyle/>
                    <a:p>
                      <a:pPr indent="228600">
                        <a:defRPr sz="1800"/>
                      </a:pPr>
                      <a:r>
                        <a:rPr sz="4000"/>
                        <a:t>6</a:t>
                      </a:r>
                    </a:p>
                  </a:txBody>
                  <a:tcPr marL="0" marR="0" marT="0" marB="0" horzOverflow="overflow"/>
                </a:tc>
                <a:tc>
                  <a:txBody>
                    <a:bodyPr/>
                    <a:lstStyle/>
                    <a:p>
                      <a:pPr indent="228600">
                        <a:defRPr sz="1800"/>
                      </a:pPr>
                      <a:r>
                        <a:rPr sz="4000"/>
                        <a:t>7</a:t>
                      </a:r>
                    </a:p>
                  </a:txBody>
                  <a:tcPr marL="0" marR="0" marT="0" marB="0" horzOverflow="overflow"/>
                </a:tc>
                <a:tc>
                  <a:txBody>
                    <a:bodyPr/>
                    <a:lstStyle/>
                    <a:p>
                      <a:pPr indent="228600">
                        <a:defRPr sz="1800"/>
                      </a:pPr>
                      <a:r>
                        <a:rPr sz="4000"/>
                        <a:t>8</a:t>
                      </a:r>
                    </a:p>
                  </a:txBody>
                  <a:tcPr marL="0" marR="0" marT="0" marB="0" horzOverflow="overflow"/>
                </a:tc>
                <a:extLst>
                  <a:ext uri="{0D108BD9-81ED-4DB2-BD59-A6C34878D82A}">
                    <a16:rowId xmlns:a16="http://schemas.microsoft.com/office/drawing/2014/main" val="10002"/>
                  </a:ext>
                </a:extLst>
              </a:tr>
              <a:tr h="635000">
                <a:tc>
                  <a:txBody>
                    <a:bodyPr/>
                    <a:lstStyle/>
                    <a:p>
                      <a:pPr indent="228600">
                        <a:defRPr sz="1800" b="0">
                          <a:solidFill>
                            <a:srgbClr val="000000"/>
                          </a:solidFill>
                        </a:defRPr>
                      </a:pPr>
                      <a:r>
                        <a:rPr sz="4000" b="1">
                          <a:solidFill>
                            <a:srgbClr val="FFFFFF"/>
                          </a:solidFill>
                          <a:sym typeface="Helvetica"/>
                        </a:rPr>
                        <a:t>3</a:t>
                      </a:r>
                    </a:p>
                  </a:txBody>
                  <a:tcPr marL="0" marR="0" marT="0" marB="0" horzOverflow="overflow"/>
                </a:tc>
                <a:tc>
                  <a:txBody>
                    <a:bodyPr/>
                    <a:lstStyle/>
                    <a:p>
                      <a:pPr indent="228600">
                        <a:defRPr sz="1800"/>
                      </a:pPr>
                      <a:r>
                        <a:rPr sz="4000"/>
                        <a:t>4</a:t>
                      </a:r>
                    </a:p>
                  </a:txBody>
                  <a:tcPr marL="0" marR="0" marT="0" marB="0" horzOverflow="overflow"/>
                </a:tc>
                <a:tc>
                  <a:txBody>
                    <a:bodyPr/>
                    <a:lstStyle/>
                    <a:p>
                      <a:pPr indent="228600">
                        <a:defRPr sz="1800"/>
                      </a:pPr>
                      <a:r>
                        <a:rPr sz="4000"/>
                        <a:t>5</a:t>
                      </a:r>
                    </a:p>
                  </a:txBody>
                  <a:tcPr marL="0" marR="0" marT="0" marB="0" horzOverflow="overflow"/>
                </a:tc>
                <a:tc>
                  <a:txBody>
                    <a:bodyPr/>
                    <a:lstStyle/>
                    <a:p>
                      <a:pPr indent="228600">
                        <a:defRPr sz="1800"/>
                      </a:pPr>
                      <a:r>
                        <a:rPr sz="4000"/>
                        <a:t>6</a:t>
                      </a:r>
                    </a:p>
                  </a:txBody>
                  <a:tcPr marL="0" marR="0" marT="0" marB="0" horzOverflow="overflow"/>
                </a:tc>
                <a:tc>
                  <a:txBody>
                    <a:bodyPr/>
                    <a:lstStyle/>
                    <a:p>
                      <a:pPr indent="228600">
                        <a:defRPr sz="1800"/>
                      </a:pPr>
                      <a:r>
                        <a:rPr sz="4000"/>
                        <a:t>7</a:t>
                      </a:r>
                    </a:p>
                  </a:txBody>
                  <a:tcPr marL="0" marR="0" marT="0" marB="0" horzOverflow="overflow"/>
                </a:tc>
                <a:tc>
                  <a:txBody>
                    <a:bodyPr/>
                    <a:lstStyle/>
                    <a:p>
                      <a:pPr indent="228600">
                        <a:defRPr sz="1800"/>
                      </a:pPr>
                      <a:r>
                        <a:rPr sz="4000"/>
                        <a:t>8</a:t>
                      </a:r>
                    </a:p>
                  </a:txBody>
                  <a:tcPr marL="0" marR="0" marT="0" marB="0" horzOverflow="overflow"/>
                </a:tc>
                <a:tc>
                  <a:txBody>
                    <a:bodyPr/>
                    <a:lstStyle/>
                    <a:p>
                      <a:pPr indent="228600">
                        <a:defRPr sz="1800"/>
                      </a:pPr>
                      <a:r>
                        <a:rPr sz="4000"/>
                        <a:t>9</a:t>
                      </a:r>
                    </a:p>
                  </a:txBody>
                  <a:tcPr marL="0" marR="0" marT="0" marB="0" horzOverflow="overflow"/>
                </a:tc>
                <a:extLst>
                  <a:ext uri="{0D108BD9-81ED-4DB2-BD59-A6C34878D82A}">
                    <a16:rowId xmlns:a16="http://schemas.microsoft.com/office/drawing/2014/main" val="10003"/>
                  </a:ext>
                </a:extLst>
              </a:tr>
              <a:tr h="635000">
                <a:tc>
                  <a:txBody>
                    <a:bodyPr/>
                    <a:lstStyle/>
                    <a:p>
                      <a:pPr indent="228600">
                        <a:defRPr sz="1800" b="0">
                          <a:solidFill>
                            <a:srgbClr val="000000"/>
                          </a:solidFill>
                        </a:defRPr>
                      </a:pPr>
                      <a:r>
                        <a:rPr sz="4000" b="1">
                          <a:solidFill>
                            <a:srgbClr val="FFFFFF"/>
                          </a:solidFill>
                          <a:sym typeface="Helvetica"/>
                        </a:rPr>
                        <a:t>4</a:t>
                      </a:r>
                    </a:p>
                  </a:txBody>
                  <a:tcPr marL="0" marR="0" marT="0" marB="0" horzOverflow="overflow"/>
                </a:tc>
                <a:tc>
                  <a:txBody>
                    <a:bodyPr/>
                    <a:lstStyle/>
                    <a:p>
                      <a:pPr indent="228600">
                        <a:defRPr sz="1800"/>
                      </a:pPr>
                      <a:r>
                        <a:rPr sz="4000"/>
                        <a:t>5</a:t>
                      </a:r>
                    </a:p>
                  </a:txBody>
                  <a:tcPr marL="0" marR="0" marT="0" marB="0" horzOverflow="overflow"/>
                </a:tc>
                <a:tc>
                  <a:txBody>
                    <a:bodyPr/>
                    <a:lstStyle/>
                    <a:p>
                      <a:pPr indent="228600">
                        <a:defRPr sz="1800"/>
                      </a:pPr>
                      <a:r>
                        <a:rPr sz="4000"/>
                        <a:t>6</a:t>
                      </a:r>
                    </a:p>
                  </a:txBody>
                  <a:tcPr marL="0" marR="0" marT="0" marB="0" horzOverflow="overflow"/>
                </a:tc>
                <a:tc>
                  <a:txBody>
                    <a:bodyPr/>
                    <a:lstStyle/>
                    <a:p>
                      <a:pPr indent="228600">
                        <a:defRPr sz="1800"/>
                      </a:pPr>
                      <a:r>
                        <a:rPr sz="4000"/>
                        <a:t>7</a:t>
                      </a:r>
                    </a:p>
                  </a:txBody>
                  <a:tcPr marL="0" marR="0" marT="0" marB="0" horzOverflow="overflow"/>
                </a:tc>
                <a:tc>
                  <a:txBody>
                    <a:bodyPr/>
                    <a:lstStyle/>
                    <a:p>
                      <a:pPr indent="228600">
                        <a:defRPr sz="1800"/>
                      </a:pPr>
                      <a:r>
                        <a:rPr sz="4000"/>
                        <a:t>8</a:t>
                      </a:r>
                    </a:p>
                  </a:txBody>
                  <a:tcPr marL="0" marR="0" marT="0" marB="0" horzOverflow="overflow"/>
                </a:tc>
                <a:tc>
                  <a:txBody>
                    <a:bodyPr/>
                    <a:lstStyle/>
                    <a:p>
                      <a:pPr indent="228600">
                        <a:defRPr sz="1800"/>
                      </a:pPr>
                      <a:r>
                        <a:rPr sz="4000"/>
                        <a:t>9</a:t>
                      </a:r>
                    </a:p>
                  </a:txBody>
                  <a:tcPr marL="0" marR="0" marT="0" marB="0" horzOverflow="overflow"/>
                </a:tc>
                <a:tc>
                  <a:txBody>
                    <a:bodyPr/>
                    <a:lstStyle/>
                    <a:p>
                      <a:pPr indent="228600">
                        <a:defRPr sz="1800"/>
                      </a:pPr>
                      <a:r>
                        <a:rPr sz="4000"/>
                        <a:t>10</a:t>
                      </a:r>
                    </a:p>
                  </a:txBody>
                  <a:tcPr marL="0" marR="0" marT="0" marB="0" horzOverflow="overflow"/>
                </a:tc>
                <a:extLst>
                  <a:ext uri="{0D108BD9-81ED-4DB2-BD59-A6C34878D82A}">
                    <a16:rowId xmlns:a16="http://schemas.microsoft.com/office/drawing/2014/main" val="10004"/>
                  </a:ext>
                </a:extLst>
              </a:tr>
              <a:tr h="635000">
                <a:tc>
                  <a:txBody>
                    <a:bodyPr/>
                    <a:lstStyle/>
                    <a:p>
                      <a:pPr indent="228600">
                        <a:defRPr sz="1800" b="0">
                          <a:solidFill>
                            <a:srgbClr val="000000"/>
                          </a:solidFill>
                        </a:defRPr>
                      </a:pPr>
                      <a:r>
                        <a:rPr sz="4000" b="1">
                          <a:solidFill>
                            <a:srgbClr val="FFFFFF"/>
                          </a:solidFill>
                          <a:sym typeface="Helvetica"/>
                        </a:rPr>
                        <a:t>5</a:t>
                      </a:r>
                    </a:p>
                  </a:txBody>
                  <a:tcPr marL="0" marR="0" marT="0" marB="0" horzOverflow="overflow"/>
                </a:tc>
                <a:tc>
                  <a:txBody>
                    <a:bodyPr/>
                    <a:lstStyle/>
                    <a:p>
                      <a:pPr indent="228600">
                        <a:defRPr sz="1800"/>
                      </a:pPr>
                      <a:r>
                        <a:rPr sz="4000"/>
                        <a:t>6</a:t>
                      </a:r>
                    </a:p>
                  </a:txBody>
                  <a:tcPr marL="0" marR="0" marT="0" marB="0" horzOverflow="overflow"/>
                </a:tc>
                <a:tc>
                  <a:txBody>
                    <a:bodyPr/>
                    <a:lstStyle/>
                    <a:p>
                      <a:pPr indent="228600">
                        <a:defRPr sz="1800"/>
                      </a:pPr>
                      <a:r>
                        <a:rPr sz="4000"/>
                        <a:t>7</a:t>
                      </a:r>
                    </a:p>
                  </a:txBody>
                  <a:tcPr marL="0" marR="0" marT="0" marB="0" horzOverflow="overflow"/>
                </a:tc>
                <a:tc>
                  <a:txBody>
                    <a:bodyPr/>
                    <a:lstStyle/>
                    <a:p>
                      <a:pPr indent="228600">
                        <a:defRPr sz="1800"/>
                      </a:pPr>
                      <a:r>
                        <a:rPr sz="4000"/>
                        <a:t>8</a:t>
                      </a:r>
                    </a:p>
                  </a:txBody>
                  <a:tcPr marL="0" marR="0" marT="0" marB="0" horzOverflow="overflow"/>
                </a:tc>
                <a:tc>
                  <a:txBody>
                    <a:bodyPr/>
                    <a:lstStyle/>
                    <a:p>
                      <a:pPr indent="228600">
                        <a:defRPr sz="1800"/>
                      </a:pPr>
                      <a:r>
                        <a:rPr sz="4000"/>
                        <a:t>9</a:t>
                      </a:r>
                    </a:p>
                  </a:txBody>
                  <a:tcPr marL="0" marR="0" marT="0" marB="0" horzOverflow="overflow"/>
                </a:tc>
                <a:tc>
                  <a:txBody>
                    <a:bodyPr/>
                    <a:lstStyle/>
                    <a:p>
                      <a:pPr indent="228600">
                        <a:defRPr sz="1800"/>
                      </a:pPr>
                      <a:r>
                        <a:rPr sz="4000"/>
                        <a:t>10</a:t>
                      </a:r>
                    </a:p>
                  </a:txBody>
                  <a:tcPr marL="0" marR="0" marT="0" marB="0" horzOverflow="overflow"/>
                </a:tc>
                <a:tc>
                  <a:txBody>
                    <a:bodyPr/>
                    <a:lstStyle/>
                    <a:p>
                      <a:pPr indent="228600">
                        <a:defRPr sz="1800"/>
                      </a:pPr>
                      <a:r>
                        <a:rPr sz="4000"/>
                        <a:t>11</a:t>
                      </a:r>
                    </a:p>
                  </a:txBody>
                  <a:tcPr marL="0" marR="0" marT="0" marB="0" horzOverflow="overflow"/>
                </a:tc>
                <a:extLst>
                  <a:ext uri="{0D108BD9-81ED-4DB2-BD59-A6C34878D82A}">
                    <a16:rowId xmlns:a16="http://schemas.microsoft.com/office/drawing/2014/main" val="10005"/>
                  </a:ext>
                </a:extLst>
              </a:tr>
              <a:tr h="635000">
                <a:tc>
                  <a:txBody>
                    <a:bodyPr/>
                    <a:lstStyle/>
                    <a:p>
                      <a:pPr indent="228600">
                        <a:defRPr sz="1800" b="0">
                          <a:solidFill>
                            <a:srgbClr val="000000"/>
                          </a:solidFill>
                        </a:defRPr>
                      </a:pPr>
                      <a:r>
                        <a:rPr sz="4000" b="1">
                          <a:solidFill>
                            <a:srgbClr val="FFFFFF"/>
                          </a:solidFill>
                          <a:sym typeface="Helvetica"/>
                        </a:rPr>
                        <a:t>6</a:t>
                      </a:r>
                    </a:p>
                  </a:txBody>
                  <a:tcPr marL="0" marR="0" marT="0" marB="0" horzOverflow="overflow"/>
                </a:tc>
                <a:tc>
                  <a:txBody>
                    <a:bodyPr/>
                    <a:lstStyle/>
                    <a:p>
                      <a:pPr indent="228600">
                        <a:defRPr sz="1800"/>
                      </a:pPr>
                      <a:r>
                        <a:rPr sz="4000"/>
                        <a:t>7</a:t>
                      </a:r>
                    </a:p>
                  </a:txBody>
                  <a:tcPr marL="0" marR="0" marT="0" marB="0" horzOverflow="overflow"/>
                </a:tc>
                <a:tc>
                  <a:txBody>
                    <a:bodyPr/>
                    <a:lstStyle/>
                    <a:p>
                      <a:pPr indent="228600">
                        <a:defRPr sz="1800"/>
                      </a:pPr>
                      <a:r>
                        <a:rPr sz="4000"/>
                        <a:t>8</a:t>
                      </a:r>
                    </a:p>
                  </a:txBody>
                  <a:tcPr marL="0" marR="0" marT="0" marB="0" horzOverflow="overflow"/>
                </a:tc>
                <a:tc>
                  <a:txBody>
                    <a:bodyPr/>
                    <a:lstStyle/>
                    <a:p>
                      <a:pPr indent="228600">
                        <a:defRPr sz="1800"/>
                      </a:pPr>
                      <a:r>
                        <a:rPr sz="4000"/>
                        <a:t>9</a:t>
                      </a:r>
                    </a:p>
                  </a:txBody>
                  <a:tcPr marL="0" marR="0" marT="0" marB="0" horzOverflow="overflow"/>
                </a:tc>
                <a:tc>
                  <a:txBody>
                    <a:bodyPr/>
                    <a:lstStyle/>
                    <a:p>
                      <a:pPr indent="228600">
                        <a:defRPr sz="1800"/>
                      </a:pPr>
                      <a:r>
                        <a:rPr sz="4000"/>
                        <a:t>10</a:t>
                      </a:r>
                    </a:p>
                  </a:txBody>
                  <a:tcPr marL="0" marR="0" marT="0" marB="0" horzOverflow="overflow"/>
                </a:tc>
                <a:tc>
                  <a:txBody>
                    <a:bodyPr/>
                    <a:lstStyle/>
                    <a:p>
                      <a:pPr indent="228600">
                        <a:defRPr sz="1800"/>
                      </a:pPr>
                      <a:r>
                        <a:rPr sz="4000"/>
                        <a:t>11</a:t>
                      </a:r>
                    </a:p>
                  </a:txBody>
                  <a:tcPr marL="0" marR="0" marT="0" marB="0" horzOverflow="overflow"/>
                </a:tc>
                <a:tc>
                  <a:txBody>
                    <a:bodyPr/>
                    <a:lstStyle/>
                    <a:p>
                      <a:pPr indent="228600">
                        <a:defRPr sz="1800"/>
                      </a:pPr>
                      <a:r>
                        <a:rPr sz="4000"/>
                        <a:t>12</a:t>
                      </a:r>
                    </a:p>
                  </a:txBody>
                  <a:tcPr marL="0" marR="0" marT="0" marB="0" horzOverflow="overflow"/>
                </a:tc>
                <a:extLst>
                  <a:ext uri="{0D108BD9-81ED-4DB2-BD59-A6C34878D82A}">
                    <a16:rowId xmlns:a16="http://schemas.microsoft.com/office/drawing/2014/main" val="10006"/>
                  </a:ext>
                </a:extLst>
              </a:tr>
            </a:tbl>
          </a:graphicData>
        </a:graphic>
      </p:graphicFrame>
      <p:sp>
        <p:nvSpPr>
          <p:cNvPr id="156" name="Slide Number"/>
          <p:cNvSpPr txBox="1">
            <a:spLocks noGrp="1"/>
          </p:cNvSpPr>
          <p:nvPr>
            <p:ph type="sldNum" sz="quarter" idx="4294967295"/>
          </p:nvPr>
        </p:nvSpPr>
        <p:spPr>
          <a:xfrm>
            <a:off x="12020548" y="13010554"/>
            <a:ext cx="325044" cy="5111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7</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5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54">
                                            <p:txEl>
                                              <p:pRg st="1" end="1"/>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2" nodeType="afterEffect">
                                  <p:stCondLst>
                                    <p:cond delay="0"/>
                                  </p:stCondLst>
                                  <p:iterate>
                                    <p:tmAbs val="0"/>
                                  </p:iterate>
                                  <p:childTnLst>
                                    <p:set>
                                      <p:cBhvr>
                                        <p:cTn id="15" fill="hold"/>
                                        <p:tgtEl>
                                          <p:spTgt spid="15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iterate>
                                    <p:tmAbs val="0"/>
                                  </p:iterate>
                                  <p:childTnLst>
                                    <p:set>
                                      <p:cBhvr>
                                        <p:cTn id="19" fill="hold"/>
                                        <p:tgtEl>
                                          <p:spTgt spid="15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1" build="p" bldLvl="5" animBg="1" advAuto="0"/>
      <p:bldP spid="155" grpId="2"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Example: Calculating π"/>
          <p:cNvSpPr txBox="1">
            <a:spLocks noGrp="1"/>
          </p:cNvSpPr>
          <p:nvPr>
            <p:ph type="title"/>
          </p:nvPr>
        </p:nvSpPr>
        <p:spPr>
          <a:prstGeom prst="rect">
            <a:avLst/>
          </a:prstGeom>
        </p:spPr>
        <p:txBody>
          <a:bodyPr/>
          <a:lstStyle/>
          <a:p>
            <a:r>
              <a:t>Example: Calculating π</a:t>
            </a:r>
          </a:p>
        </p:txBody>
      </p:sp>
      <mc:AlternateContent xmlns:mc="http://schemas.openxmlformats.org/markup-compatibility/2006" xmlns:a14="http://schemas.microsoft.com/office/drawing/2010/main">
        <mc:Choice Requires="a14">
          <p:sp>
            <p:nvSpPr>
              <p:cNvPr id="159" name="Sample points from a two-dimensional uniform distribution between 0 and 1…"/>
              <p:cNvSpPr txBox="1">
                <a:spLocks noGrp="1"/>
              </p:cNvSpPr>
              <p:nvPr>
                <p:ph type="body" sz="half" idx="1"/>
              </p:nvPr>
            </p:nvSpPr>
            <p:spPr>
              <a:xfrm>
                <a:off x="635000" y="3175000"/>
                <a:ext cx="11429166" cy="9842500"/>
              </a:xfrm>
              <a:prstGeom prst="rect">
                <a:avLst/>
              </a:prstGeom>
            </p:spPr>
            <p:txBody>
              <a:bodyPr/>
              <a:lstStyle/>
              <a:p>
                <a:pPr marL="585505" indent="-598839" defTabSz="796884">
                  <a:defRPr sz="4800"/>
                </a:pPr>
                <a:r>
                  <a:t>Sample points from a two-dimensional uniform distribution between 0 and 1</a:t>
                </a:r>
              </a:p>
              <a:p>
                <a:pPr marL="585505" indent="-598839" defTabSz="796884">
                  <a:defRPr sz="4800"/>
                </a:pPr>
                <a:r>
                  <a:t>Estimate </a:t>
                </a:r>
                <a14:m>
                  <m:oMath xmlns:m="http://schemas.openxmlformats.org/officeDocument/2006/math">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𝐻</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𝑑</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𝑥</m:t>
                    </m:r>
                    <m:r>
                      <a:rPr sz="5850" i="1">
                        <a:solidFill>
                          <a:srgbClr val="000000"/>
                        </a:solidFill>
                        <a:latin typeface="Cambria Math" panose="02040503050406030204" pitchFamily="18" charset="0"/>
                      </a:rPr>
                      <m:t>)−1)⟩</m:t>
                    </m:r>
                  </m:oMath>
                </a14:m>
                <a:endParaRPr/>
              </a:p>
              <a:p>
                <a:pPr marL="1030004" lvl="1" indent="-598839" defTabSz="796884">
                  <a:defRPr sz="4800"/>
                </a:pPr>
                <a14:m>
                  <m:oMath xmlns:m="http://schemas.openxmlformats.org/officeDocument/2006/math">
                    <m:r>
                      <a:rPr sz="5850" i="1">
                        <a:solidFill>
                          <a:srgbClr val="000000"/>
                        </a:solidFill>
                        <a:latin typeface="Cambria Math" panose="02040503050406030204" pitchFamily="18" charset="0"/>
                      </a:rPr>
                      <m:t>𝑑</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𝑧</m:t>
                    </m:r>
                    <m:r>
                      <a:rPr sz="5850" i="1">
                        <a:solidFill>
                          <a:srgbClr val="000000"/>
                        </a:solidFill>
                        <a:latin typeface="Cambria Math" panose="02040503050406030204" pitchFamily="18" charset="0"/>
                      </a:rPr>
                      <m:t>)</m:t>
                    </m:r>
                  </m:oMath>
                </a14:m>
                <a:r>
                  <a:t> is the distance from the origin</a:t>
                </a:r>
              </a:p>
              <a:p>
                <a:pPr marL="1030004" lvl="1" indent="-598839" defTabSz="796884">
                  <a:defRPr sz="4800"/>
                </a:pPr>
                <a14:m>
                  <m:oMath xmlns:m="http://schemas.openxmlformats.org/officeDocument/2006/math">
                    <m:r>
                      <a:rPr sz="5850" i="1">
                        <a:solidFill>
                          <a:srgbClr val="000000"/>
                        </a:solidFill>
                        <a:latin typeface="Cambria Math" panose="02040503050406030204" pitchFamily="18" charset="0"/>
                      </a:rPr>
                      <m:t>𝐻</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𝑧</m:t>
                    </m:r>
                    <m:r>
                      <a:rPr sz="5850" i="1">
                        <a:solidFill>
                          <a:srgbClr val="000000"/>
                        </a:solidFill>
                        <a:latin typeface="Cambria Math" panose="02040503050406030204" pitchFamily="18" charset="0"/>
                      </a:rPr>
                      <m:t>)</m:t>
                    </m:r>
                  </m:oMath>
                </a14:m>
                <a:r>
                  <a:t> = 1 if z &lt; 0</a:t>
                </a:r>
              </a:p>
              <a:p>
                <a:pPr marL="1030004" lvl="1" indent="-598839" defTabSz="796884">
                  <a:defRPr sz="4800"/>
                </a:pPr>
                <a14:m>
                  <m:oMath xmlns:m="http://schemas.openxmlformats.org/officeDocument/2006/math">
                    <m:r>
                      <a:rPr sz="5850" i="1">
                        <a:solidFill>
                          <a:srgbClr val="000000"/>
                        </a:solidFill>
                        <a:latin typeface="Cambria Math" panose="02040503050406030204" pitchFamily="18" charset="0"/>
                      </a:rPr>
                      <m:t>𝐻</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𝑧</m:t>
                    </m:r>
                    <m:r>
                      <a:rPr sz="5850" i="1">
                        <a:solidFill>
                          <a:srgbClr val="000000"/>
                        </a:solidFill>
                        <a:latin typeface="Cambria Math" panose="02040503050406030204" pitchFamily="18" charset="0"/>
                      </a:rPr>
                      <m:t>)</m:t>
                    </m:r>
                  </m:oMath>
                </a14:m>
                <a:r>
                  <a:t> = 0 otherwise</a:t>
                </a:r>
              </a:p>
              <a:p>
                <a:pPr marL="1030004" lvl="1" indent="-598839" defTabSz="796884">
                  <a:defRPr sz="4800"/>
                </a:pPr>
                <a:r>
                  <a:t>the fraction of points inside square that are inside the circle; thus, </a:t>
                </a:r>
                <a14:m>
                  <m:oMath xmlns:m="http://schemas.openxmlformats.org/officeDocument/2006/math">
                    <m:r>
                      <a:rPr sz="5850" i="1">
                        <a:solidFill>
                          <a:srgbClr val="000000"/>
                        </a:solidFill>
                        <a:latin typeface="Cambria Math" panose="02040503050406030204" pitchFamily="18" charset="0"/>
                      </a:rPr>
                      <m:t>𝐴</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𝐻</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𝑑</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𝑥</m:t>
                    </m:r>
                    <m:r>
                      <a:rPr sz="5850" i="1">
                        <a:solidFill>
                          <a:srgbClr val="000000"/>
                        </a:solidFill>
                        <a:latin typeface="Cambria Math" panose="02040503050406030204" pitchFamily="18" charset="0"/>
                      </a:rPr>
                      <m:t>)−1)⟩</m:t>
                    </m:r>
                    <m:sSup>
                      <m:sSupPr>
                        <m:ctrlPr>
                          <a:rPr sz="5850" i="1">
                            <a:solidFill>
                              <a:srgbClr val="000000"/>
                            </a:solidFill>
                            <a:latin typeface="Cambria Math" panose="02040503050406030204" pitchFamily="18" charset="0"/>
                          </a:rPr>
                        </m:ctrlPr>
                      </m:sSupPr>
                      <m:e>
                        <m:r>
                          <a:rPr sz="5850" i="1">
                            <a:solidFill>
                              <a:srgbClr val="000000"/>
                            </a:solidFill>
                            <a:latin typeface="Cambria Math" panose="02040503050406030204" pitchFamily="18" charset="0"/>
                          </a:rPr>
                          <m:t>𝑟</m:t>
                        </m:r>
                      </m:e>
                      <m:sup>
                        <m:r>
                          <a:rPr sz="5850" i="1">
                            <a:solidFill>
                              <a:srgbClr val="000000"/>
                            </a:solidFill>
                            <a:latin typeface="Cambria Math" panose="02040503050406030204" pitchFamily="18" charset="0"/>
                          </a:rPr>
                          <m:t>2</m:t>
                        </m:r>
                      </m:sup>
                    </m:sSup>
                  </m:oMath>
                </a14:m>
                <a:endParaRPr/>
              </a:p>
              <a:p>
                <a:pPr marL="585505" indent="-598839" defTabSz="796884">
                  <a:defRPr sz="4800"/>
                </a:pPr>
                <a:r>
                  <a:t>Since </a:t>
                </a:r>
                <a14:m>
                  <m:oMath xmlns:m="http://schemas.openxmlformats.org/officeDocument/2006/math">
                    <m:r>
                      <a:rPr sz="5850" i="1">
                        <a:solidFill>
                          <a:srgbClr val="000000"/>
                        </a:solidFill>
                        <a:latin typeface="Cambria Math" panose="02040503050406030204" pitchFamily="18" charset="0"/>
                      </a:rPr>
                      <m:t>𝐴</m:t>
                    </m:r>
                    <m:r>
                      <a:rPr sz="5850" i="1">
                        <a:solidFill>
                          <a:srgbClr val="000000"/>
                        </a:solidFill>
                        <a:latin typeface="Cambria Math" panose="02040503050406030204" pitchFamily="18" charset="0"/>
                      </a:rPr>
                      <m:t>=</m:t>
                    </m:r>
                    <m:f>
                      <m:fPr>
                        <m:ctrlPr>
                          <a:rPr sz="5850" i="1">
                            <a:solidFill>
                              <a:srgbClr val="000000"/>
                            </a:solidFill>
                            <a:latin typeface="Cambria Math" panose="02040503050406030204" pitchFamily="18" charset="0"/>
                          </a:rPr>
                        </m:ctrlPr>
                      </m:fPr>
                      <m:num>
                        <m:r>
                          <a:rPr sz="5850" i="1">
                            <a:solidFill>
                              <a:srgbClr val="000000"/>
                            </a:solidFill>
                            <a:latin typeface="Cambria Math" panose="02040503050406030204" pitchFamily="18" charset="0"/>
                          </a:rPr>
                          <m:t>1</m:t>
                        </m:r>
                      </m:num>
                      <m:den>
                        <m:r>
                          <a:rPr sz="5850" i="1">
                            <a:solidFill>
                              <a:srgbClr val="000000"/>
                            </a:solidFill>
                            <a:latin typeface="Cambria Math" panose="02040503050406030204" pitchFamily="18" charset="0"/>
                          </a:rPr>
                          <m:t>4</m:t>
                        </m:r>
                      </m:den>
                    </m:f>
                    <m:r>
                      <a:rPr sz="5850" i="1">
                        <a:solidFill>
                          <a:srgbClr val="000000"/>
                        </a:solidFill>
                        <a:latin typeface="Cambria Math" panose="02040503050406030204" pitchFamily="18" charset="0"/>
                      </a:rPr>
                      <m:t>𝜋</m:t>
                    </m:r>
                    <m:sSup>
                      <m:sSupPr>
                        <m:ctrlPr>
                          <a:rPr sz="5850" i="1">
                            <a:solidFill>
                              <a:srgbClr val="000000"/>
                            </a:solidFill>
                            <a:latin typeface="Cambria Math" panose="02040503050406030204" pitchFamily="18" charset="0"/>
                          </a:rPr>
                        </m:ctrlPr>
                      </m:sSupPr>
                      <m:e>
                        <m:r>
                          <a:rPr sz="5850" i="1">
                            <a:solidFill>
                              <a:srgbClr val="000000"/>
                            </a:solidFill>
                            <a:latin typeface="Cambria Math" panose="02040503050406030204" pitchFamily="18" charset="0"/>
                          </a:rPr>
                          <m:t>𝑟</m:t>
                        </m:r>
                      </m:e>
                      <m:sup>
                        <m:r>
                          <a:rPr sz="5850" i="1">
                            <a:solidFill>
                              <a:srgbClr val="000000"/>
                            </a:solidFill>
                            <a:latin typeface="Cambria Math" panose="02040503050406030204" pitchFamily="18" charset="0"/>
                          </a:rPr>
                          <m:t>2</m:t>
                        </m:r>
                      </m:sup>
                    </m:sSup>
                  </m:oMath>
                </a14:m>
                <a:r>
                  <a:t> for a quarter circle, </a:t>
                </a:r>
                <a14:m>
                  <m:oMath xmlns:m="http://schemas.openxmlformats.org/officeDocument/2006/math">
                    <m:r>
                      <a:rPr sz="5850" i="1">
                        <a:solidFill>
                          <a:srgbClr val="000000"/>
                        </a:solidFill>
                        <a:latin typeface="Cambria Math" panose="02040503050406030204" pitchFamily="18" charset="0"/>
                      </a:rPr>
                      <m:t>𝜋</m:t>
                    </m:r>
                    <m:r>
                      <a:rPr sz="5850" i="1">
                        <a:solidFill>
                          <a:srgbClr val="000000"/>
                        </a:solidFill>
                        <a:latin typeface="Cambria Math" panose="02040503050406030204" pitchFamily="18" charset="0"/>
                      </a:rPr>
                      <m:t>=4⟨</m:t>
                    </m:r>
                    <m:r>
                      <a:rPr sz="5850" i="1">
                        <a:solidFill>
                          <a:srgbClr val="000000"/>
                        </a:solidFill>
                        <a:latin typeface="Cambria Math" panose="02040503050406030204" pitchFamily="18" charset="0"/>
                      </a:rPr>
                      <m:t>𝐻</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𝑑</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𝑥</m:t>
                    </m:r>
                    <m:r>
                      <a:rPr sz="5850" i="1">
                        <a:solidFill>
                          <a:srgbClr val="000000"/>
                        </a:solidFill>
                        <a:latin typeface="Cambria Math" panose="02040503050406030204" pitchFamily="18" charset="0"/>
                      </a:rPr>
                      <m:t>)−1)⟩</m:t>
                    </m:r>
                  </m:oMath>
                </a14:m>
                <a:endParaRPr/>
              </a:p>
            </p:txBody>
          </p:sp>
        </mc:Choice>
        <mc:Fallback xmlns="">
          <p:sp>
            <p:nvSpPr>
              <p:cNvPr id="159" name="Sample points from a two-dimensional uniform distribution between 0 and 1…"/>
              <p:cNvSpPr txBox="1">
                <a:spLocks noGrp="1" noRot="1" noChangeAspect="1" noMove="1" noResize="1" noEditPoints="1" noAdjustHandles="1" noChangeArrowheads="1" noChangeShapeType="1" noTextEdit="1"/>
              </p:cNvSpPr>
              <p:nvPr>
                <p:ph type="body" sz="half" idx="1"/>
              </p:nvPr>
            </p:nvSpPr>
            <p:spPr>
              <a:xfrm>
                <a:off x="635000" y="3175000"/>
                <a:ext cx="11429166" cy="9842500"/>
              </a:xfrm>
              <a:prstGeom prst="rect">
                <a:avLst/>
              </a:prstGeom>
              <a:blipFill>
                <a:blip r:embed="rId2"/>
                <a:stretch>
                  <a:fillRect l="-1332" t="-774" r="-1776" b="-2065"/>
                </a:stretch>
              </a:blipFill>
            </p:spPr>
            <p:txBody>
              <a:bodyPr/>
              <a:lstStyle/>
              <a:p>
                <a:r>
                  <a:rPr lang="en-US">
                    <a:noFill/>
                  </a:rPr>
                  <a:t> </a:t>
                </a:r>
              </a:p>
            </p:txBody>
          </p:sp>
        </mc:Fallback>
      </mc:AlternateContent>
      <p:pic>
        <p:nvPicPr>
          <p:cNvPr id="160" name="Picture 2" descr="Picture 2"/>
          <p:cNvPicPr>
            <a:picLocks/>
          </p:cNvPicPr>
          <p:nvPr/>
        </p:nvPicPr>
        <p:blipFill>
          <a:blip r:embed="rId3"/>
          <a:stretch>
            <a:fillRect/>
          </a:stretch>
        </p:blipFill>
        <p:spPr>
          <a:xfrm>
            <a:off x="12704763" y="3016250"/>
            <a:ext cx="10160001" cy="10160000"/>
          </a:xfrm>
          <a:prstGeom prst="rect">
            <a:avLst/>
          </a:prstGeom>
          <a:ln w="12700">
            <a:miter lim="400000"/>
          </a:ln>
        </p:spPr>
      </p:pic>
      <p:sp>
        <p:nvSpPr>
          <p:cNvPr id="161" name="Rectangle"/>
          <p:cNvSpPr/>
          <p:nvPr/>
        </p:nvSpPr>
        <p:spPr>
          <a:xfrm>
            <a:off x="15766688" y="3459557"/>
            <a:ext cx="4450206" cy="693147"/>
          </a:xfrm>
          <a:prstGeom prst="rect">
            <a:avLst/>
          </a:prstGeom>
          <a:solidFill>
            <a:srgbClr val="FFFFFF"/>
          </a:solidFill>
          <a:ln w="12700">
            <a:miter lim="400000"/>
          </a:ln>
        </p:spPr>
        <p:txBody>
          <a:bodyPr lIns="71436" tIns="71436" rIns="71436" bIns="71436" anchor="ctr"/>
          <a:lstStyle/>
          <a:p>
            <a:endParaRPr/>
          </a:p>
        </p:txBody>
      </p:sp>
      <p:sp>
        <p:nvSpPr>
          <p:cNvPr id="162" name="Slide Number"/>
          <p:cNvSpPr txBox="1">
            <a:spLocks noGrp="1"/>
          </p:cNvSpPr>
          <p:nvPr>
            <p:ph type="sldNum" sz="quarter" idx="4294967295"/>
          </p:nvPr>
        </p:nvSpPr>
        <p:spPr>
          <a:xfrm>
            <a:off x="12020548" y="13010554"/>
            <a:ext cx="325044" cy="5111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8</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5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59">
                                            <p:txEl>
                                              <p:pRg st="1" end="1"/>
                                            </p:txEl>
                                          </p:spTgt>
                                        </p:tgtEl>
                                        <p:attrNameLst>
                                          <p:attrName>style.visibility</p:attrName>
                                        </p:attrNameLst>
                                      </p:cBhvr>
                                      <p:to>
                                        <p:strVal val="visible"/>
                                      </p:to>
                                    </p:set>
                                  </p:childTnLst>
                                </p:cTn>
                              </p:par>
                              <p:par>
                                <p:cTn id="13" presetID="1" presetClass="entr" presetSubtype="0" fill="hold" grpId="1" nodeType="withEffect">
                                  <p:stCondLst>
                                    <p:cond delay="0"/>
                                  </p:stCondLst>
                                  <p:iterate>
                                    <p:tmAbs val="0"/>
                                  </p:iterate>
                                  <p:childTnLst>
                                    <p:set>
                                      <p:cBhvr>
                                        <p:cTn id="14" fill="hold"/>
                                        <p:tgtEl>
                                          <p:spTgt spid="159">
                                            <p:txEl>
                                              <p:pRg st="2" end="2"/>
                                            </p:txEl>
                                          </p:spTgt>
                                        </p:tgtEl>
                                        <p:attrNameLst>
                                          <p:attrName>style.visibility</p:attrName>
                                        </p:attrNameLst>
                                      </p:cBhvr>
                                      <p:to>
                                        <p:strVal val="visible"/>
                                      </p:to>
                                    </p:set>
                                  </p:childTnLst>
                                </p:cTn>
                              </p:par>
                              <p:par>
                                <p:cTn id="15" presetID="1" presetClass="entr" presetSubtype="0" fill="hold" grpId="1" nodeType="withEffect">
                                  <p:stCondLst>
                                    <p:cond delay="0"/>
                                  </p:stCondLst>
                                  <p:iterate>
                                    <p:tmAbs val="0"/>
                                  </p:iterate>
                                  <p:childTnLst>
                                    <p:set>
                                      <p:cBhvr>
                                        <p:cTn id="16" fill="hold"/>
                                        <p:tgtEl>
                                          <p:spTgt spid="159">
                                            <p:txEl>
                                              <p:pRg st="3" end="3"/>
                                            </p:txEl>
                                          </p:spTgt>
                                        </p:tgtEl>
                                        <p:attrNameLst>
                                          <p:attrName>style.visibility</p:attrName>
                                        </p:attrNameLst>
                                      </p:cBhvr>
                                      <p:to>
                                        <p:strVal val="visible"/>
                                      </p:to>
                                    </p:set>
                                  </p:childTnLst>
                                </p:cTn>
                              </p:par>
                              <p:par>
                                <p:cTn id="17" presetID="1" presetClass="entr" presetSubtype="0" fill="hold" grpId="1" nodeType="withEffect">
                                  <p:stCondLst>
                                    <p:cond delay="0"/>
                                  </p:stCondLst>
                                  <p:iterate>
                                    <p:tmAbs val="0"/>
                                  </p:iterate>
                                  <p:childTnLst>
                                    <p:set>
                                      <p:cBhvr>
                                        <p:cTn id="18" fill="hold"/>
                                        <p:tgtEl>
                                          <p:spTgt spid="159">
                                            <p:txEl>
                                              <p:pRg st="4" end="4"/>
                                            </p:txEl>
                                          </p:spTgt>
                                        </p:tgtEl>
                                        <p:attrNameLst>
                                          <p:attrName>style.visibility</p:attrName>
                                        </p:attrNameLst>
                                      </p:cBhvr>
                                      <p:to>
                                        <p:strVal val="visible"/>
                                      </p:to>
                                    </p:set>
                                  </p:childTnLst>
                                </p:cTn>
                              </p:par>
                              <p:par>
                                <p:cTn id="19" presetID="1" presetClass="entr" presetSubtype="0" fill="hold" grpId="1" nodeType="withEffect">
                                  <p:stCondLst>
                                    <p:cond delay="0"/>
                                  </p:stCondLst>
                                  <p:iterate>
                                    <p:tmAbs val="0"/>
                                  </p:iterate>
                                  <p:childTnLst>
                                    <p:set>
                                      <p:cBhvr>
                                        <p:cTn id="20" fill="hold"/>
                                        <p:tgtEl>
                                          <p:spTgt spid="159">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59">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2" nodeType="clickEffect">
                                  <p:stCondLst>
                                    <p:cond delay="0"/>
                                  </p:stCondLst>
                                  <p:iterate>
                                    <p:tmAbs val="0"/>
                                  </p:iterate>
                                  <p:childTnLst>
                                    <p:set>
                                      <p:cBhvr>
                                        <p:cTn id="28" fill="hold">
                                          <p:stCondLst>
                                            <p:cond delay="0"/>
                                          </p:stCondLst>
                                        </p:cTn>
                                        <p:tgtEl>
                                          <p:spTgt spid="1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 grpId="1" build="p" animBg="1" advAuto="0"/>
      <p:bldP spid="161" grpId="2"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Limitations"/>
          <p:cNvSpPr txBox="1">
            <a:spLocks noGrp="1"/>
          </p:cNvSpPr>
          <p:nvPr>
            <p:ph type="title"/>
          </p:nvPr>
        </p:nvSpPr>
        <p:spPr>
          <a:prstGeom prst="rect">
            <a:avLst/>
          </a:prstGeom>
        </p:spPr>
        <p:txBody>
          <a:bodyPr/>
          <a:lstStyle/>
          <a:p>
            <a:r>
              <a:t>Limitations</a:t>
            </a:r>
          </a:p>
        </p:txBody>
      </p:sp>
      <p:sp>
        <p:nvSpPr>
          <p:cNvPr id="165" name="Both examples were for…"/>
          <p:cNvSpPr txBox="1">
            <a:spLocks noGrp="1"/>
          </p:cNvSpPr>
          <p:nvPr>
            <p:ph type="body" idx="1"/>
          </p:nvPr>
        </p:nvSpPr>
        <p:spPr>
          <a:prstGeom prst="rect">
            <a:avLst/>
          </a:prstGeom>
        </p:spPr>
        <p:txBody>
          <a:bodyPr/>
          <a:lstStyle/>
          <a:p>
            <a:r>
              <a:t>Both examples were for </a:t>
            </a:r>
          </a:p>
          <a:p>
            <a:pPr lvl="1"/>
            <a:r>
              <a:t>a simple distribution (uniform)</a:t>
            </a:r>
          </a:p>
          <a:p>
            <a:pPr lvl="1"/>
            <a:r>
              <a:t>low dimensions</a:t>
            </a:r>
          </a:p>
          <a:p>
            <a:r>
              <a:t>Drawing independent random samples is difficult for complex high-dimensional probability distributions, such as biological macromolecules</a:t>
            </a:r>
          </a:p>
        </p:txBody>
      </p:sp>
      <p:sp>
        <p:nvSpPr>
          <p:cNvPr id="166" name="Slide Number"/>
          <p:cNvSpPr txBox="1">
            <a:spLocks noGrp="1"/>
          </p:cNvSpPr>
          <p:nvPr>
            <p:ph type="sldNum" sz="quarter" idx="4294967295"/>
          </p:nvPr>
        </p:nvSpPr>
        <p:spPr>
          <a:xfrm>
            <a:off x="12020548" y="13010554"/>
            <a:ext cx="325044" cy="5111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9</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5">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iterate>
                                    <p:tmAbs val="0"/>
                                  </p:iterate>
                                  <p:childTnLst>
                                    <p:set>
                                      <p:cBhvr>
                                        <p:cTn id="10" fill="hold"/>
                                        <p:tgtEl>
                                          <p:spTgt spid="165">
                                            <p:txEl>
                                              <p:pRg st="1" end="1"/>
                                            </p:txEl>
                                          </p:spTgt>
                                        </p:tgtEl>
                                        <p:attrNameLst>
                                          <p:attrName>style.visibility</p:attrName>
                                        </p:attrNameLst>
                                      </p:cBhvr>
                                      <p:to>
                                        <p:strVal val="visible"/>
                                      </p:to>
                                    </p:set>
                                  </p:childTnLst>
                                </p:cTn>
                              </p:par>
                              <p:par>
                                <p:cTn id="11" presetID="1" presetClass="entr" presetSubtype="0" fill="hold" grpId="1" nodeType="withEffect">
                                  <p:stCondLst>
                                    <p:cond delay="0"/>
                                  </p:stCondLst>
                                  <p:iterate>
                                    <p:tmAbs val="0"/>
                                  </p:iterate>
                                  <p:childTnLst>
                                    <p:set>
                                      <p:cBhvr>
                                        <p:cTn id="12" fill="hold"/>
                                        <p:tgtEl>
                                          <p:spTgt spid="16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6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1" build="p"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 name="Image" descr="Image"/>
          <p:cNvPicPr>
            <a:picLocks noChangeAspect="1"/>
          </p:cNvPicPr>
          <p:nvPr/>
        </p:nvPicPr>
        <p:blipFill>
          <a:blip r:embed="rId2"/>
          <a:srcRect t="3336" b="24525"/>
          <a:stretch>
            <a:fillRect/>
          </a:stretch>
        </p:blipFill>
        <p:spPr>
          <a:xfrm>
            <a:off x="0" y="4217"/>
            <a:ext cx="24384001" cy="13820789"/>
          </a:xfrm>
          <a:prstGeom prst="rect">
            <a:avLst/>
          </a:prstGeom>
          <a:ln w="12700">
            <a:miter lim="400000"/>
          </a:ln>
        </p:spPr>
      </p:pic>
      <p:pic>
        <p:nvPicPr>
          <p:cNvPr id="169" name="Image" descr="Image"/>
          <p:cNvPicPr>
            <a:picLocks noChangeAspect="1"/>
          </p:cNvPicPr>
          <p:nvPr/>
        </p:nvPicPr>
        <p:blipFill>
          <a:blip r:embed="rId3"/>
          <a:stretch>
            <a:fillRect/>
          </a:stretch>
        </p:blipFill>
        <p:spPr>
          <a:xfrm>
            <a:off x="2731905" y="633722"/>
            <a:ext cx="5715001" cy="6084865"/>
          </a:xfrm>
          <a:prstGeom prst="rect">
            <a:avLst/>
          </a:prstGeom>
          <a:ln w="12700">
            <a:miter lim="400000"/>
          </a:ln>
        </p:spPr>
      </p:pic>
      <p:sp>
        <p:nvSpPr>
          <p:cNvPr id="170" name="Markov Chain Monte Carlo"/>
          <p:cNvSpPr txBox="1">
            <a:spLocks noGrp="1"/>
          </p:cNvSpPr>
          <p:nvPr>
            <p:ph type="ctrTitle"/>
          </p:nvPr>
        </p:nvSpPr>
        <p:spPr>
          <a:prstGeom prst="rect">
            <a:avLst/>
          </a:prstGeom>
        </p:spPr>
        <p:txBody>
          <a:bodyPr/>
          <a:lstStyle>
            <a:lvl1pPr>
              <a:defRPr>
                <a:solidFill>
                  <a:srgbClr val="FFFFFF"/>
                </a:solidFill>
              </a:defRPr>
            </a:lvl1pPr>
          </a:lstStyle>
          <a:p>
            <a:r>
              <a:t>Markov Chain Monte Carlo</a:t>
            </a:r>
          </a:p>
        </p:txBody>
      </p:sp>
      <p:sp>
        <p:nvSpPr>
          <p:cNvPr id="171" name="A smarter way to sample the Nile"/>
          <p:cNvSpPr txBox="1">
            <a:spLocks noGrp="1"/>
          </p:cNvSpPr>
          <p:nvPr>
            <p:ph type="subTitle" sz="quarter" idx="1"/>
          </p:nvPr>
        </p:nvSpPr>
        <p:spPr>
          <a:prstGeom prst="rect">
            <a:avLst/>
          </a:prstGeom>
        </p:spPr>
        <p:txBody>
          <a:bodyPr/>
          <a:lstStyle>
            <a:lvl1pPr>
              <a:defRPr>
                <a:solidFill>
                  <a:srgbClr val="FFFFFF"/>
                </a:solidFill>
              </a:defRPr>
            </a:lvl1pPr>
          </a:lstStyle>
          <a:p>
            <a:r>
              <a:t>A smarter way to sample the Nile</a:t>
            </a:r>
          </a:p>
        </p:txBody>
      </p:sp>
      <p:sp>
        <p:nvSpPr>
          <p:cNvPr id="172" name="Slide Number"/>
          <p:cNvSpPr txBox="1">
            <a:spLocks noGrp="1"/>
          </p:cNvSpPr>
          <p:nvPr>
            <p:ph type="sldNum" sz="quarter" idx="429496729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10</a:t>
            </a:fld>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ampling the Nile"/>
          <p:cNvSpPr txBox="1">
            <a:spLocks noGrp="1"/>
          </p:cNvSpPr>
          <p:nvPr>
            <p:ph type="title"/>
          </p:nvPr>
        </p:nvSpPr>
        <p:spPr>
          <a:prstGeom prst="rect">
            <a:avLst/>
          </a:prstGeom>
        </p:spPr>
        <p:txBody>
          <a:bodyPr/>
          <a:lstStyle/>
          <a:p>
            <a:r>
              <a:t>Sampling the Nile</a:t>
            </a:r>
          </a:p>
        </p:txBody>
      </p:sp>
      <p:sp>
        <p:nvSpPr>
          <p:cNvPr id="175" name="Let’s say that you want to calculate the average depth of the Nile. If your boat is on the Nile river, which is the smarter way to sample other places in the Nile?…"/>
          <p:cNvSpPr txBox="1">
            <a:spLocks noGrp="1"/>
          </p:cNvSpPr>
          <p:nvPr>
            <p:ph type="body" idx="1"/>
          </p:nvPr>
        </p:nvSpPr>
        <p:spPr>
          <a:xfrm>
            <a:off x="635000" y="3175000"/>
            <a:ext cx="23114000" cy="8641756"/>
          </a:xfrm>
          <a:prstGeom prst="rect">
            <a:avLst/>
          </a:prstGeom>
        </p:spPr>
        <p:txBody>
          <a:bodyPr/>
          <a:lstStyle/>
          <a:p>
            <a:pPr marL="611187" indent="-611187" defTabSz="813315">
              <a:defRPr sz="4950"/>
            </a:pPr>
            <a:r>
              <a:rPr dirty="0"/>
              <a:t>Let’s say that you want to calculate the average depth of the Nile. If your boat is on the Nile river, which is the smarter way to sample other places in the Nile?</a:t>
            </a:r>
          </a:p>
          <a:p>
            <a:pPr marL="2084471" lvl="2" indent="-827171" defTabSz="813315">
              <a:buSzPct val="100000"/>
              <a:buAutoNum type="alphaUcPeriod"/>
              <a:defRPr sz="4950"/>
            </a:pPr>
            <a:r>
              <a:rPr dirty="0"/>
              <a:t>Throw darts at a map of Egypt. Check whether the darts landed in the Nile. If so, move there and measure the depth.</a:t>
            </a:r>
          </a:p>
          <a:p>
            <a:pPr marL="2084471" lvl="2" indent="-827171" defTabSz="813315">
              <a:buSzPct val="100000"/>
              <a:buAutoNum type="alphaUcPeriod"/>
              <a:defRPr sz="4950"/>
            </a:pPr>
            <a:r>
              <a:rPr dirty="0"/>
              <a:t>Randomly move within the river. Measure at regular time intervals.</a:t>
            </a:r>
            <a:br>
              <a:rPr dirty="0"/>
            </a:br>
            <a:endParaRPr dirty="0"/>
          </a:p>
          <a:p>
            <a:pPr marL="611187" indent="-611187" defTabSz="813315">
              <a:defRPr sz="4950"/>
            </a:pPr>
            <a:r>
              <a:rPr dirty="0"/>
              <a:t>In the former, samples would be </a:t>
            </a:r>
            <a:r>
              <a:rPr u="sng" dirty="0"/>
              <a:t>independent and identically distributed</a:t>
            </a:r>
            <a:r>
              <a:rPr dirty="0"/>
              <a:t> (</a:t>
            </a:r>
            <a:r>
              <a:rPr dirty="0" err="1"/>
              <a:t>i.i.d.</a:t>
            </a:r>
            <a:r>
              <a:rPr dirty="0"/>
              <a:t>)</a:t>
            </a:r>
          </a:p>
          <a:p>
            <a:pPr marL="611187" indent="-611187" defTabSz="813315">
              <a:defRPr sz="4950"/>
            </a:pPr>
            <a:r>
              <a:rPr dirty="0"/>
              <a:t>In the latter, samples would be from a </a:t>
            </a:r>
            <a:r>
              <a:rPr u="sng" dirty="0"/>
              <a:t>stochastic process,</a:t>
            </a:r>
            <a:r>
              <a:rPr dirty="0"/>
              <a:t> a sequence of indexed random variables</a:t>
            </a:r>
            <a:endParaRPr u="sng" dirty="0"/>
          </a:p>
          <a:p>
            <a:pPr marL="0" lvl="1" indent="226313" algn="ctr" defTabSz="813315">
              <a:spcBef>
                <a:spcPts val="2300"/>
              </a:spcBef>
              <a:buSzTx/>
              <a:buNone/>
              <a:defRPr sz="4950"/>
            </a:pPr>
            <a:endParaRPr u="sng" dirty="0"/>
          </a:p>
        </p:txBody>
      </p:sp>
      <p:grpSp>
        <p:nvGrpSpPr>
          <p:cNvPr id="178" name="Group"/>
          <p:cNvGrpSpPr/>
          <p:nvPr/>
        </p:nvGrpSpPr>
        <p:grpSpPr>
          <a:xfrm>
            <a:off x="4748505" y="10588362"/>
            <a:ext cx="15363644" cy="1825293"/>
            <a:chOff x="4662401" y="-912647"/>
            <a:chExt cx="15363642" cy="1825292"/>
          </a:xfrm>
        </p:grpSpPr>
        <mc:AlternateContent xmlns:mc="http://schemas.openxmlformats.org/markup-compatibility/2006" xmlns:a14="http://schemas.microsoft.com/office/drawing/2010/main">
          <mc:Choice Requires="a14">
            <p:sp>
              <p:nvSpPr>
                <p:cNvPr id="176" name="CasetăText 4"/>
                <p:cNvSpPr txBox="1"/>
                <p:nvPr/>
              </p:nvSpPr>
              <p:spPr>
                <a:xfrm>
                  <a:off x="4662401" y="76200"/>
                  <a:ext cx="6097851" cy="562356"/>
                </a:xfrm>
                <a:prstGeom prst="rect">
                  <a:avLst/>
                </a:prstGeom>
                <a:noFill/>
                <a:ln w="12700" cap="flat">
                  <a:noFill/>
                  <a:miter lim="400000"/>
                </a:ln>
                <a:effectLst/>
              </p:spPr>
              <p:txBody>
                <a:bodyPr wrap="none" lIns="0" tIns="0" rIns="0" bIns="0">
                  <a:spAutoFit/>
                </a:bodyPr>
                <a:lstStyle/>
                <a:p>
                  <a:pPr algn="l" defTabSz="914400" latinLnBrk="1">
                    <a:defRPr sz="1800"/>
                  </a:pPr>
                  <a14:m>
                    <m:oMathPara xmlns:m="http://schemas.openxmlformats.org/officeDocument/2006/math">
                      <m:oMathParaPr>
                        <m:jc m:val="centerGroup"/>
                      </m:oMathParaPr>
                      <m:oMath xmlns:m="http://schemas.openxmlformats.org/officeDocument/2006/math">
                        <m:r>
                          <a:rPr sz="3600" i="1">
                            <a:solidFill>
                              <a:srgbClr val="000000"/>
                            </a:solidFill>
                            <a:latin typeface="Cambria Math" panose="02040503050406030204" pitchFamily="18" charset="0"/>
                          </a:rPr>
                          <m:t>𝑿</m:t>
                        </m:r>
                        <m:r>
                          <a:rPr sz="3600" i="1">
                            <a:solidFill>
                              <a:srgbClr val="000000"/>
                            </a:solidFill>
                            <a:latin typeface="Cambria Math" panose="02040503050406030204" pitchFamily="18" charset="0"/>
                          </a:rPr>
                          <m:t>=</m:t>
                        </m:r>
                        <m:d>
                          <m:dPr>
                            <m:begChr m:val="{"/>
                            <m:endChr m:val="}"/>
                            <m:ctrlPr>
                              <a:rPr sz="3600" i="1">
                                <a:solidFill>
                                  <a:srgbClr val="000000"/>
                                </a:solidFill>
                                <a:latin typeface="Cambria Math" panose="02040503050406030204" pitchFamily="18" charset="0"/>
                              </a:rPr>
                            </m:ctrlPr>
                          </m:dPr>
                          <m:e>
                            <m:sSub>
                              <m:sSubPr>
                                <m:ctrlPr>
                                  <a:rPr sz="3600" i="1">
                                    <a:solidFill>
                                      <a:srgbClr val="000000"/>
                                    </a:solidFill>
                                    <a:latin typeface="Cambria Math" panose="02040503050406030204" pitchFamily="18" charset="0"/>
                                  </a:rPr>
                                </m:ctrlPr>
                              </m:sSubPr>
                              <m:e>
                                <m:r>
                                  <a:rPr sz="3600" i="1">
                                    <a:solidFill>
                                      <a:srgbClr val="000000"/>
                                    </a:solidFill>
                                    <a:latin typeface="Cambria Math" panose="02040503050406030204" pitchFamily="18" charset="0"/>
                                  </a:rPr>
                                  <m:t>𝑋</m:t>
                                </m:r>
                              </m:e>
                              <m:sub>
                                <m:r>
                                  <a:rPr sz="3600" i="1">
                                    <a:solidFill>
                                      <a:srgbClr val="000000"/>
                                    </a:solidFill>
                                    <a:latin typeface="Cambria Math" panose="02040503050406030204" pitchFamily="18" charset="0"/>
                                  </a:rPr>
                                  <m:t>0</m:t>
                                </m:r>
                              </m:sub>
                            </m:sSub>
                            <m:r>
                              <a:rPr sz="3600" i="1">
                                <a:solidFill>
                                  <a:srgbClr val="000000"/>
                                </a:solidFill>
                                <a:latin typeface="Cambria Math" panose="02040503050406030204" pitchFamily="18" charset="0"/>
                              </a:rPr>
                              <m:t>,</m:t>
                            </m:r>
                            <m:sSub>
                              <m:sSubPr>
                                <m:ctrlPr>
                                  <a:rPr sz="3600" i="1">
                                    <a:solidFill>
                                      <a:srgbClr val="000000"/>
                                    </a:solidFill>
                                    <a:latin typeface="Cambria Math" panose="02040503050406030204" pitchFamily="18" charset="0"/>
                                  </a:rPr>
                                </m:ctrlPr>
                              </m:sSubPr>
                              <m:e>
                                <m:r>
                                  <a:rPr sz="3600" i="1">
                                    <a:solidFill>
                                      <a:srgbClr val="000000"/>
                                    </a:solidFill>
                                    <a:latin typeface="Cambria Math" panose="02040503050406030204" pitchFamily="18" charset="0"/>
                                  </a:rPr>
                                  <m:t>𝑋</m:t>
                                </m:r>
                              </m:e>
                              <m:sub>
                                <m:r>
                                  <a:rPr sz="3600" i="1">
                                    <a:solidFill>
                                      <a:srgbClr val="000000"/>
                                    </a:solidFill>
                                    <a:latin typeface="Cambria Math" panose="02040503050406030204" pitchFamily="18" charset="0"/>
                                  </a:rPr>
                                  <m:t>1</m:t>
                                </m:r>
                              </m:sub>
                            </m:sSub>
                            <m:r>
                              <a:rPr sz="3600" i="1">
                                <a:solidFill>
                                  <a:srgbClr val="000000"/>
                                </a:solidFill>
                                <a:latin typeface="Cambria Math" panose="02040503050406030204" pitchFamily="18" charset="0"/>
                              </a:rPr>
                              <m:t>,</m:t>
                            </m:r>
                            <m:sSub>
                              <m:sSubPr>
                                <m:ctrlPr>
                                  <a:rPr sz="3600" i="1">
                                    <a:solidFill>
                                      <a:srgbClr val="000000"/>
                                    </a:solidFill>
                                    <a:latin typeface="Cambria Math" panose="02040503050406030204" pitchFamily="18" charset="0"/>
                                  </a:rPr>
                                </m:ctrlPr>
                              </m:sSubPr>
                              <m:e>
                                <m:r>
                                  <a:rPr sz="3600" i="1">
                                    <a:solidFill>
                                      <a:srgbClr val="000000"/>
                                    </a:solidFill>
                                    <a:latin typeface="Cambria Math" panose="02040503050406030204" pitchFamily="18" charset="0"/>
                                  </a:rPr>
                                  <m:t>𝑋</m:t>
                                </m:r>
                              </m:e>
                              <m:sub>
                                <m:r>
                                  <a:rPr sz="3600" i="1">
                                    <a:solidFill>
                                      <a:srgbClr val="000000"/>
                                    </a:solidFill>
                                    <a:latin typeface="Cambria Math" panose="02040503050406030204" pitchFamily="18" charset="0"/>
                                  </a:rPr>
                                  <m:t>2</m:t>
                                </m:r>
                              </m:sub>
                            </m:sSub>
                            <m:r>
                              <a:rPr sz="3600" i="1">
                                <a:solidFill>
                                  <a:srgbClr val="000000"/>
                                </a:solidFill>
                                <a:latin typeface="Cambria Math" panose="02040503050406030204" pitchFamily="18" charset="0"/>
                              </a:rPr>
                              <m:t>….</m:t>
                            </m:r>
                          </m:e>
                        </m:d>
                        <m:r>
                          <a:rPr sz="3600" i="1">
                            <a:solidFill>
                              <a:srgbClr val="000000"/>
                            </a:solidFill>
                            <a:latin typeface="Cambria Math" panose="02040503050406030204" pitchFamily="18" charset="0"/>
                          </a:rPr>
                          <m:t>,  </m:t>
                        </m:r>
                        <m:sSub>
                          <m:sSubPr>
                            <m:ctrlPr>
                              <a:rPr sz="3600" i="1">
                                <a:solidFill>
                                  <a:srgbClr val="000000"/>
                                </a:solidFill>
                                <a:latin typeface="Cambria Math" panose="02040503050406030204" pitchFamily="18" charset="0"/>
                              </a:rPr>
                            </m:ctrlPr>
                          </m:sSubPr>
                          <m:e>
                            <m:r>
                              <a:rPr sz="3600" i="1">
                                <a:solidFill>
                                  <a:srgbClr val="000000"/>
                                </a:solidFill>
                                <a:latin typeface="Cambria Math" panose="02040503050406030204" pitchFamily="18" charset="0"/>
                              </a:rPr>
                              <m:t>𝑋</m:t>
                            </m:r>
                          </m:e>
                          <m:sub>
                            <m:r>
                              <a:rPr sz="3600" i="1">
                                <a:solidFill>
                                  <a:srgbClr val="000000"/>
                                </a:solidFill>
                                <a:latin typeface="Cambria Math" panose="02040503050406030204" pitchFamily="18" charset="0"/>
                              </a:rPr>
                              <m:t>𝑖</m:t>
                            </m:r>
                          </m:sub>
                        </m:sSub>
                        <m:r>
                          <a:rPr sz="3600" i="1">
                            <a:solidFill>
                              <a:srgbClr val="000000"/>
                            </a:solidFill>
                            <a:latin typeface="Cambria Math" panose="02040503050406030204" pitchFamily="18" charset="0"/>
                          </a:rPr>
                          <m:t>∈</m:t>
                        </m:r>
                        <m:r>
                          <a:rPr sz="3600" i="1">
                            <a:solidFill>
                              <a:srgbClr val="000000"/>
                            </a:solidFill>
                            <a:latin typeface="Cambria Math" panose="02040503050406030204" pitchFamily="18" charset="0"/>
                          </a:rPr>
                          <m:t>𝝌</m:t>
                        </m:r>
                        <m:r>
                          <a:rPr sz="3600" i="1">
                            <a:solidFill>
                              <a:srgbClr val="000000"/>
                            </a:solidFill>
                            <a:latin typeface="Cambria Math" panose="02040503050406030204" pitchFamily="18" charset="0"/>
                          </a:rPr>
                          <m:t>,  </m:t>
                        </m:r>
                      </m:oMath>
                    </m:oMathPara>
                  </a14:m>
                  <a:endParaRPr sz="3600"/>
                </a:p>
              </p:txBody>
            </p:sp>
          </mc:Choice>
          <mc:Fallback xmlns="">
            <p:sp>
              <p:nvSpPr>
                <p:cNvPr id="176" name="CasetăText 4"/>
                <p:cNvSpPr txBox="1">
                  <a:spLocks noRot="1" noChangeAspect="1" noMove="1" noResize="1" noEditPoints="1" noAdjustHandles="1" noChangeArrowheads="1" noChangeShapeType="1" noTextEdit="1"/>
                </p:cNvSpPr>
                <p:nvPr/>
              </p:nvSpPr>
              <p:spPr>
                <a:xfrm>
                  <a:off x="4662401" y="76200"/>
                  <a:ext cx="6097851" cy="562356"/>
                </a:xfrm>
                <a:prstGeom prst="rect">
                  <a:avLst/>
                </a:prstGeom>
                <a:blipFill>
                  <a:blip r:embed="rId2"/>
                  <a:stretch>
                    <a:fillRect l="-2495" t="-8889" r="-7069" b="-35556"/>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CasetăText 6"/>
                <p:cNvSpPr txBox="1"/>
                <p:nvPr/>
              </p:nvSpPr>
              <p:spPr>
                <a:xfrm>
                  <a:off x="12353746" y="-912647"/>
                  <a:ext cx="7672297" cy="1825292"/>
                </a:xfrm>
                <a:prstGeom prst="rect">
                  <a:avLst/>
                </a:prstGeom>
                <a:noFill/>
                <a:ln w="12700" cap="flat">
                  <a:noFill/>
                  <a:miter lim="400000"/>
                </a:ln>
                <a:effectLst/>
                <a:extLst>
                  <a:ext uri="{C572A759-6A51-4108-AA02-DFA0A04FC94B}">
                    <ma14:wrappingTextBoxFlag xmlns="" xmlns:m="http://schemas.openxmlformats.org/officeDocument/2006/math" xmlns:ma14="http://schemas.microsoft.com/office/mac/drawingml/2011/main" val="1"/>
                  </a:ext>
                </a:extLst>
              </p:spPr>
              <p:txBody>
                <a:bodyPr wrap="square" lIns="45719" tIns="45719" rIns="45719" bIns="45719" numCol="1" anchor="t">
                  <a:noAutofit/>
                </a:bodyPr>
                <a:lstStyle/>
                <a:p>
                  <a:pPr algn="l">
                    <a:defRPr sz="3600">
                      <a:latin typeface="+mj-lt"/>
                      <a:ea typeface="+mj-ea"/>
                      <a:cs typeface="+mj-cs"/>
                      <a:sym typeface="Helvetica"/>
                    </a:defRPr>
                  </a:pPr>
                  <a14:m>
                    <m:oMath xmlns:m="http://schemas.openxmlformats.org/officeDocument/2006/math">
                      <m:r>
                        <a:rPr sz="4350" i="1">
                          <a:solidFill>
                            <a:srgbClr val="000000"/>
                          </a:solidFill>
                          <a:latin typeface="Cambria Math" panose="02040503050406030204" pitchFamily="18" charset="0"/>
                        </a:rPr>
                        <m:t>𝑿</m:t>
                      </m:r>
                    </m:oMath>
                  </a14:m>
                  <a:r>
                    <a:rPr dirty="0">
                      <a:latin typeface="Arial Narrow"/>
                      <a:ea typeface="Arial Narrow"/>
                      <a:cs typeface="Arial Narrow"/>
                      <a:sym typeface="Arial Narrow"/>
                    </a:rPr>
                    <a:t> = stochastic process</a:t>
                  </a:r>
                </a:p>
                <a:p>
                  <a:pPr algn="l">
                    <a:defRPr sz="3600">
                      <a:latin typeface="Arial Narrow"/>
                      <a:ea typeface="Arial Narrow"/>
                      <a:cs typeface="Arial Narrow"/>
                      <a:sym typeface="Arial Narrow"/>
                    </a:defRPr>
                  </a:pPr>
                  <a:endParaRPr dirty="0">
                    <a:latin typeface="Arial Narrow"/>
                    <a:ea typeface="Arial Narrow"/>
                    <a:cs typeface="Arial Narrow"/>
                    <a:sym typeface="Arial Narrow"/>
                  </a:endParaRPr>
                </a:p>
                <a:p>
                  <a:pPr algn="l">
                    <a:defRPr sz="3600">
                      <a:latin typeface="+mj-lt"/>
                      <a:ea typeface="+mj-ea"/>
                      <a:cs typeface="+mj-cs"/>
                      <a:sym typeface="Helvetica"/>
                    </a:defRPr>
                  </a:pPr>
                  <a14:m>
                    <m:oMath xmlns:m="http://schemas.openxmlformats.org/officeDocument/2006/math">
                      <m:r>
                        <a:rPr sz="4400" i="1">
                          <a:solidFill>
                            <a:srgbClr val="000000"/>
                          </a:solidFill>
                          <a:latin typeface="Cambria Math" panose="02040503050406030204" pitchFamily="18" charset="0"/>
                        </a:rPr>
                        <m:t>𝝌</m:t>
                      </m:r>
                    </m:oMath>
                  </a14:m>
                  <a:r>
                    <a:rPr dirty="0">
                      <a:latin typeface="Arial Narrow"/>
                      <a:ea typeface="Arial Narrow"/>
                      <a:cs typeface="Arial Narrow"/>
                      <a:sym typeface="Arial Narrow"/>
                    </a:rPr>
                    <a:t> = state space</a:t>
                  </a:r>
                </a:p>
              </p:txBody>
            </p:sp>
          </mc:Choice>
          <mc:Fallback xmlns="">
            <p:sp>
              <p:nvSpPr>
                <p:cNvPr id="177" name="CasetăText 6"/>
                <p:cNvSpPr txBox="1">
                  <a:spLocks noRot="1" noChangeAspect="1" noMove="1" noResize="1" noEditPoints="1" noAdjustHandles="1" noChangeArrowheads="1" noChangeShapeType="1" noTextEdit="1"/>
                </p:cNvSpPr>
                <p:nvPr/>
              </p:nvSpPr>
              <p:spPr>
                <a:xfrm>
                  <a:off x="12353746" y="-912647"/>
                  <a:ext cx="7672297" cy="1825292"/>
                </a:xfrm>
                <a:prstGeom prst="rect">
                  <a:avLst/>
                </a:prstGeom>
                <a:blipFill>
                  <a:blip r:embed="rId3"/>
                  <a:stretch>
                    <a:fillRect l="-1983" t="-690" b="-17931"/>
                  </a:stretch>
                </a:bli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grpSp>
      <p:sp>
        <p:nvSpPr>
          <p:cNvPr id="179" name="Slide Number"/>
          <p:cNvSpPr txBox="1">
            <a:spLocks noGrp="1"/>
          </p:cNvSpPr>
          <p:nvPr>
            <p:ph type="sldNum" sz="quarter" idx="429496729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11</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7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75">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iterate>
                                    <p:tmAbs val="0"/>
                                  </p:iterate>
                                  <p:childTnLst>
                                    <p:set>
                                      <p:cBhvr>
                                        <p:cTn id="10" fill="hold"/>
                                        <p:tgtEl>
                                          <p:spTgt spid="175">
                                            <p:txEl>
                                              <p:pRg st="1" end="1"/>
                                            </p:txEl>
                                          </p:spTgt>
                                        </p:tgtEl>
                                        <p:attrNameLst>
                                          <p:attrName>style.visibility</p:attrName>
                                        </p:attrNameLst>
                                      </p:cBhvr>
                                      <p:to>
                                        <p:strVal val="visible"/>
                                      </p:to>
                                    </p:set>
                                  </p:childTnLst>
                                </p:cTn>
                              </p:par>
                              <p:par>
                                <p:cTn id="11" presetID="1" presetClass="entr" presetSubtype="0" fill="hold" grpId="1" nodeType="withEffect">
                                  <p:stCondLst>
                                    <p:cond delay="0"/>
                                  </p:stCondLst>
                                  <p:iterate>
                                    <p:tmAbs val="0"/>
                                  </p:iterate>
                                  <p:childTnLst>
                                    <p:set>
                                      <p:cBhvr>
                                        <p:cTn id="12" fill="hold"/>
                                        <p:tgtEl>
                                          <p:spTgt spid="17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iterate>
                                    <p:tmAbs val="0"/>
                                  </p:iterate>
                                  <p:childTnLst>
                                    <p:set>
                                      <p:cBhvr>
                                        <p:cTn id="14" fill="hold"/>
                                        <p:tgtEl>
                                          <p:spTgt spid="1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1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iterate>
                                    <p:tmAbs val="0"/>
                                  </p:iterate>
                                  <p:childTnLst>
                                    <p:set>
                                      <p:cBhvr>
                                        <p:cTn id="22" fill="hold"/>
                                        <p:tgtEl>
                                          <p:spTgt spid="175">
                                            <p:txEl>
                                              <p:pRg st="4" end="4"/>
                                            </p:txEl>
                                          </p:spTgt>
                                        </p:tgtEl>
                                        <p:attrNameLst>
                                          <p:attrName>style.visibility</p:attrName>
                                        </p:attrNameLst>
                                      </p:cBhvr>
                                      <p:to>
                                        <p:strVal val="visible"/>
                                      </p:to>
                                    </p:set>
                                  </p:childTnLst>
                                </p:cTn>
                              </p:par>
                              <p:par>
                                <p:cTn id="23" presetID="1" presetClass="entr" presetSubtype="0" fill="hold" grpId="1" nodeType="withEffect">
                                  <p:stCondLst>
                                    <p:cond delay="0"/>
                                  </p:stCondLst>
                                  <p:iterate>
                                    <p:tmAbs val="0"/>
                                  </p:iterate>
                                  <p:childTnLst>
                                    <p:set>
                                      <p:cBhvr>
                                        <p:cTn id="24" fill="hold"/>
                                        <p:tgtEl>
                                          <p:spTgt spid="175">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1" uiExpand="1" build="p"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Molecular Mechanics Potential Energy"/>
          <p:cNvSpPr txBox="1">
            <a:spLocks noGrp="1"/>
          </p:cNvSpPr>
          <p:nvPr>
            <p:ph type="title"/>
          </p:nvPr>
        </p:nvSpPr>
        <p:spPr>
          <a:prstGeom prst="rect">
            <a:avLst/>
          </a:prstGeom>
        </p:spPr>
        <p:txBody>
          <a:bodyPr/>
          <a:lstStyle>
            <a:lvl1pPr defTabSz="722947">
              <a:defRPr sz="9800"/>
            </a:lvl1pPr>
          </a:lstStyle>
          <a:p>
            <a:r>
              <a:t>Markov Chains</a:t>
            </a:r>
          </a:p>
        </p:txBody>
      </p:sp>
      <p:sp>
        <p:nvSpPr>
          <p:cNvPr id="182" name="Slide Number"/>
          <p:cNvSpPr txBox="1">
            <a:spLocks noGrp="1"/>
          </p:cNvSpPr>
          <p:nvPr>
            <p:ph type="sldNum" sz="quarter" idx="4294967295"/>
          </p:nvPr>
        </p:nvSpPr>
        <p:spPr>
          <a:xfrm>
            <a:off x="11935814" y="13010554"/>
            <a:ext cx="494513" cy="5111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12</a:t>
            </a:fld>
            <a:endParaRPr/>
          </a:p>
        </p:txBody>
      </p:sp>
      <p:sp>
        <p:nvSpPr>
          <p:cNvPr id="183" name="Quantum mechanics…"/>
          <p:cNvSpPr txBox="1">
            <a:spLocks noGrp="1"/>
          </p:cNvSpPr>
          <p:nvPr>
            <p:ph type="body" sz="half" idx="1"/>
          </p:nvPr>
        </p:nvSpPr>
        <p:spPr>
          <a:xfrm>
            <a:off x="635000" y="3175000"/>
            <a:ext cx="11430000" cy="9530430"/>
          </a:xfrm>
          <a:prstGeom prst="rect">
            <a:avLst/>
          </a:prstGeom>
        </p:spPr>
        <p:txBody>
          <a:bodyPr/>
          <a:lstStyle/>
          <a:p>
            <a:pPr marL="598839" indent="-598839" defTabSz="796884">
              <a:defRPr sz="4800"/>
            </a:pPr>
            <a:r>
              <a:t>Special class of stochastic process</a:t>
            </a:r>
          </a:p>
          <a:p>
            <a:pPr marL="598839" indent="-598839" defTabSz="796884">
              <a:defRPr sz="4800"/>
            </a:pPr>
            <a:r>
              <a:t>Markovian = memoryless</a:t>
            </a:r>
          </a:p>
          <a:p>
            <a:pPr marL="1043339" lvl="1" indent="-598840" defTabSz="796884">
              <a:defRPr sz="4800"/>
            </a:pPr>
            <a:r>
              <a:t>future depends only on the present, not the past</a:t>
            </a:r>
          </a:p>
          <a:p>
            <a:pPr marL="1043339" lvl="1" indent="-598840" defTabSz="796884">
              <a:defRPr sz="4800"/>
            </a:pPr>
            <a:r>
              <a:t>independent and identically distributed (i.i.d.) is a special case</a:t>
            </a:r>
          </a:p>
          <a:p>
            <a:pPr marL="598839" indent="-598839" defTabSz="796884">
              <a:defRPr sz="4800"/>
            </a:pPr>
            <a:r>
              <a:t>But wait… can you use samples from a Markov chain to estimate expectation values?</a:t>
            </a:r>
          </a:p>
          <a:p>
            <a:pPr marL="1043339" lvl="1" indent="-598840" defTabSz="796884">
              <a:defRPr sz="4800"/>
            </a:pPr>
            <a:r>
              <a:t>Yes, if it satisfies certain conditions which I will explain</a:t>
            </a:r>
          </a:p>
        </p:txBody>
      </p:sp>
      <p:grpSp>
        <p:nvGrpSpPr>
          <p:cNvPr id="222" name="Group"/>
          <p:cNvGrpSpPr/>
          <p:nvPr/>
        </p:nvGrpSpPr>
        <p:grpSpPr>
          <a:xfrm>
            <a:off x="12700000" y="4279447"/>
            <a:ext cx="11290658" cy="7321757"/>
            <a:chOff x="0" y="0"/>
            <a:chExt cx="11290657" cy="7321755"/>
          </a:xfrm>
        </p:grpSpPr>
        <p:grpSp>
          <p:nvGrpSpPr>
            <p:cNvPr id="220" name="Grupare 43"/>
            <p:cNvGrpSpPr/>
            <p:nvPr/>
          </p:nvGrpSpPr>
          <p:grpSpPr>
            <a:xfrm>
              <a:off x="968516" y="0"/>
              <a:ext cx="9353625" cy="6227805"/>
              <a:chOff x="0" y="0"/>
              <a:chExt cx="9353624" cy="6227804"/>
            </a:xfrm>
          </p:grpSpPr>
          <p:grpSp>
            <p:nvGrpSpPr>
              <p:cNvPr id="215" name="Grupare 46"/>
              <p:cNvGrpSpPr/>
              <p:nvPr/>
            </p:nvGrpSpPr>
            <p:grpSpPr>
              <a:xfrm>
                <a:off x="2038424" y="0"/>
                <a:ext cx="7315201" cy="6227805"/>
                <a:chOff x="0" y="0"/>
                <a:chExt cx="7315200" cy="6227804"/>
              </a:xfrm>
            </p:grpSpPr>
            <p:grpSp>
              <p:nvGrpSpPr>
                <p:cNvPr id="208" name="Grupare 51"/>
                <p:cNvGrpSpPr/>
                <p:nvPr/>
              </p:nvGrpSpPr>
              <p:grpSpPr>
                <a:xfrm>
                  <a:off x="0" y="0"/>
                  <a:ext cx="7315201" cy="6227805"/>
                  <a:chOff x="0" y="0"/>
                  <a:chExt cx="7315200" cy="6227804"/>
                </a:xfrm>
              </p:grpSpPr>
              <p:grpSp>
                <p:nvGrpSpPr>
                  <p:cNvPr id="187" name="Cub 58"/>
                  <p:cNvGrpSpPr/>
                  <p:nvPr/>
                </p:nvGrpSpPr>
                <p:grpSpPr>
                  <a:xfrm>
                    <a:off x="-1" y="0"/>
                    <a:ext cx="5684111" cy="1034652"/>
                    <a:chOff x="0" y="0"/>
                    <a:chExt cx="5684109" cy="1034651"/>
                  </a:xfrm>
                </p:grpSpPr>
                <p:sp>
                  <p:nvSpPr>
                    <p:cNvPr id="184" name="Shape"/>
                    <p:cNvSpPr/>
                    <p:nvPr/>
                  </p:nvSpPr>
                  <p:spPr>
                    <a:xfrm flipH="1">
                      <a:off x="-1" y="0"/>
                      <a:ext cx="5684111" cy="1034652"/>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983" y="0"/>
                          </a:lnTo>
                          <a:lnTo>
                            <a:pt x="21600" y="0"/>
                          </a:lnTo>
                          <a:lnTo>
                            <a:pt x="21600" y="16200"/>
                          </a:lnTo>
                          <a:lnTo>
                            <a:pt x="20617" y="21600"/>
                          </a:lnTo>
                          <a:lnTo>
                            <a:pt x="0" y="21600"/>
                          </a:lnTo>
                          <a:close/>
                        </a:path>
                      </a:pathLst>
                    </a:custGeom>
                    <a:blipFill rotWithShape="1">
                      <a:blip r:embed="rId2"/>
                      <a:srcRect/>
                      <a:tile tx="0" ty="0" sx="100000" sy="100000" flip="none" algn="tl"/>
                    </a:blipFill>
                    <a:ln w="12700" cap="flat">
                      <a:noFill/>
                      <a:miter lim="400000"/>
                    </a:ln>
                    <a:effectLst>
                      <a:outerShdw blurRad="50800" dist="25400" dir="5400000" rotWithShape="0">
                        <a:srgbClr val="000000">
                          <a:alpha val="50000"/>
                        </a:srgbClr>
                      </a:outerShdw>
                    </a:effectLst>
                  </p:spPr>
                  <p:txBody>
                    <a:bodyPr wrap="square" lIns="71436" tIns="71436" rIns="71436" bIns="71436" numCol="1" anchor="ctr">
                      <a:noAutofit/>
                    </a:bodyPr>
                    <a:lstStyle/>
                    <a:p>
                      <a:pPr algn="r">
                        <a:defRPr sz="2400"/>
                      </a:pPr>
                      <a:endParaRPr/>
                    </a:p>
                  </p:txBody>
                </p:sp>
                <p:sp>
                  <p:nvSpPr>
                    <p:cNvPr id="185" name="Shape"/>
                    <p:cNvSpPr/>
                    <p:nvPr/>
                  </p:nvSpPr>
                  <p:spPr>
                    <a:xfrm flipH="1">
                      <a:off x="-1" y="0"/>
                      <a:ext cx="258665" cy="1034652"/>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71436" tIns="71436" rIns="71436" bIns="71436" numCol="1" anchor="ctr">
                      <a:noAutofit/>
                    </a:bodyPr>
                    <a:lstStyle/>
                    <a:p>
                      <a:pPr algn="r">
                        <a:defRPr sz="2400"/>
                      </a:pPr>
                      <a:endParaRPr/>
                    </a:p>
                  </p:txBody>
                </p:sp>
                <p:sp>
                  <p:nvSpPr>
                    <p:cNvPr id="186" name="Shape"/>
                    <p:cNvSpPr/>
                    <p:nvPr/>
                  </p:nvSpPr>
                  <p:spPr>
                    <a:xfrm flipH="1">
                      <a:off x="-1" y="0"/>
                      <a:ext cx="5684111" cy="25866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983" y="0"/>
                          </a:lnTo>
                          <a:lnTo>
                            <a:pt x="21600" y="0"/>
                          </a:lnTo>
                          <a:lnTo>
                            <a:pt x="20617" y="21600"/>
                          </a:lnTo>
                          <a:close/>
                        </a:path>
                      </a:pathLst>
                    </a:custGeom>
                    <a:solidFill>
                      <a:srgbClr val="FFFFFF">
                        <a:alpha val="20000"/>
                      </a:srgbClr>
                    </a:solidFill>
                    <a:ln w="12700" cap="flat">
                      <a:noFill/>
                      <a:miter lim="400000"/>
                    </a:ln>
                    <a:effectLst/>
                  </p:spPr>
                  <p:txBody>
                    <a:bodyPr wrap="square" lIns="71436" tIns="71436" rIns="71436" bIns="71436" numCol="1" anchor="ctr">
                      <a:noAutofit/>
                    </a:bodyPr>
                    <a:lstStyle/>
                    <a:p>
                      <a:pPr algn="r">
                        <a:defRPr sz="2400"/>
                      </a:pPr>
                      <a:endParaRPr/>
                    </a:p>
                  </p:txBody>
                </p:sp>
              </p:grpSp>
              <p:grpSp>
                <p:nvGrpSpPr>
                  <p:cNvPr id="191" name="Cub 59"/>
                  <p:cNvGrpSpPr/>
                  <p:nvPr/>
                </p:nvGrpSpPr>
                <p:grpSpPr>
                  <a:xfrm>
                    <a:off x="321275" y="1034650"/>
                    <a:ext cx="5684111" cy="1034652"/>
                    <a:chOff x="0" y="0"/>
                    <a:chExt cx="5684109" cy="1034651"/>
                  </a:xfrm>
                </p:grpSpPr>
                <p:sp>
                  <p:nvSpPr>
                    <p:cNvPr id="188" name="Shape"/>
                    <p:cNvSpPr/>
                    <p:nvPr/>
                  </p:nvSpPr>
                  <p:spPr>
                    <a:xfrm flipH="1">
                      <a:off x="-1" y="0"/>
                      <a:ext cx="5684111" cy="1034652"/>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983" y="0"/>
                          </a:lnTo>
                          <a:lnTo>
                            <a:pt x="21600" y="0"/>
                          </a:lnTo>
                          <a:lnTo>
                            <a:pt x="21600" y="16200"/>
                          </a:lnTo>
                          <a:lnTo>
                            <a:pt x="20617" y="21600"/>
                          </a:lnTo>
                          <a:lnTo>
                            <a:pt x="0" y="21600"/>
                          </a:lnTo>
                          <a:close/>
                        </a:path>
                      </a:pathLst>
                    </a:custGeom>
                    <a:blipFill rotWithShape="1">
                      <a:blip r:embed="rId2"/>
                      <a:srcRect/>
                      <a:tile tx="0" ty="0" sx="100000" sy="100000" flip="none" algn="tl"/>
                    </a:blipFill>
                    <a:ln w="12700" cap="flat">
                      <a:noFill/>
                      <a:miter lim="400000"/>
                    </a:ln>
                    <a:effectLst>
                      <a:outerShdw blurRad="50800" dist="25400" dir="5400000" rotWithShape="0">
                        <a:srgbClr val="000000">
                          <a:alpha val="50000"/>
                        </a:srgbClr>
                      </a:outerShdw>
                    </a:effectLst>
                  </p:spPr>
                  <p:txBody>
                    <a:bodyPr wrap="square" lIns="71436" tIns="71436" rIns="71436" bIns="71436" numCol="1" anchor="ctr">
                      <a:noAutofit/>
                    </a:bodyPr>
                    <a:lstStyle/>
                    <a:p>
                      <a:pPr algn="r">
                        <a:defRPr sz="2400"/>
                      </a:pPr>
                      <a:endParaRPr/>
                    </a:p>
                  </p:txBody>
                </p:sp>
                <p:sp>
                  <p:nvSpPr>
                    <p:cNvPr id="189" name="Shape"/>
                    <p:cNvSpPr/>
                    <p:nvPr/>
                  </p:nvSpPr>
                  <p:spPr>
                    <a:xfrm flipH="1">
                      <a:off x="-1" y="0"/>
                      <a:ext cx="258665" cy="1034652"/>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71436" tIns="71436" rIns="71436" bIns="71436" numCol="1" anchor="ctr">
                      <a:noAutofit/>
                    </a:bodyPr>
                    <a:lstStyle/>
                    <a:p>
                      <a:pPr algn="r">
                        <a:defRPr sz="2400"/>
                      </a:pPr>
                      <a:endParaRPr/>
                    </a:p>
                  </p:txBody>
                </p:sp>
                <p:sp>
                  <p:nvSpPr>
                    <p:cNvPr id="190" name="Shape"/>
                    <p:cNvSpPr/>
                    <p:nvPr/>
                  </p:nvSpPr>
                  <p:spPr>
                    <a:xfrm flipH="1">
                      <a:off x="-1" y="0"/>
                      <a:ext cx="5684111" cy="25866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983" y="0"/>
                          </a:lnTo>
                          <a:lnTo>
                            <a:pt x="21600" y="0"/>
                          </a:lnTo>
                          <a:lnTo>
                            <a:pt x="20617" y="21600"/>
                          </a:lnTo>
                          <a:close/>
                        </a:path>
                      </a:pathLst>
                    </a:custGeom>
                    <a:solidFill>
                      <a:srgbClr val="FFFFFF">
                        <a:alpha val="20000"/>
                      </a:srgbClr>
                    </a:solidFill>
                    <a:ln w="12700" cap="flat">
                      <a:noFill/>
                      <a:miter lim="400000"/>
                    </a:ln>
                    <a:effectLst/>
                  </p:spPr>
                  <p:txBody>
                    <a:bodyPr wrap="square" lIns="71436" tIns="71436" rIns="71436" bIns="71436" numCol="1" anchor="ctr">
                      <a:noAutofit/>
                    </a:bodyPr>
                    <a:lstStyle/>
                    <a:p>
                      <a:pPr algn="r">
                        <a:defRPr sz="2400"/>
                      </a:pPr>
                      <a:endParaRPr/>
                    </a:p>
                  </p:txBody>
                </p:sp>
              </p:grpSp>
              <p:grpSp>
                <p:nvGrpSpPr>
                  <p:cNvPr id="195" name="Cub 60"/>
                  <p:cNvGrpSpPr/>
                  <p:nvPr/>
                </p:nvGrpSpPr>
                <p:grpSpPr>
                  <a:xfrm>
                    <a:off x="667264" y="2069301"/>
                    <a:ext cx="5684111" cy="1034652"/>
                    <a:chOff x="0" y="0"/>
                    <a:chExt cx="5684109" cy="1034651"/>
                  </a:xfrm>
                </p:grpSpPr>
                <p:sp>
                  <p:nvSpPr>
                    <p:cNvPr id="192" name="Shape"/>
                    <p:cNvSpPr/>
                    <p:nvPr/>
                  </p:nvSpPr>
                  <p:spPr>
                    <a:xfrm flipH="1">
                      <a:off x="-1" y="0"/>
                      <a:ext cx="5684111" cy="1034652"/>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983" y="0"/>
                          </a:lnTo>
                          <a:lnTo>
                            <a:pt x="21600" y="0"/>
                          </a:lnTo>
                          <a:lnTo>
                            <a:pt x="21600" y="16200"/>
                          </a:lnTo>
                          <a:lnTo>
                            <a:pt x="20617" y="21600"/>
                          </a:lnTo>
                          <a:lnTo>
                            <a:pt x="0" y="21600"/>
                          </a:lnTo>
                          <a:close/>
                        </a:path>
                      </a:pathLst>
                    </a:custGeom>
                    <a:blipFill rotWithShape="1">
                      <a:blip r:embed="rId2"/>
                      <a:srcRect/>
                      <a:tile tx="0" ty="0" sx="100000" sy="100000" flip="none" algn="tl"/>
                    </a:blipFill>
                    <a:ln w="12700" cap="flat">
                      <a:noFill/>
                      <a:miter lim="400000"/>
                    </a:ln>
                    <a:effectLst>
                      <a:outerShdw blurRad="50800" dist="25400" dir="5400000" rotWithShape="0">
                        <a:srgbClr val="000000">
                          <a:alpha val="50000"/>
                        </a:srgbClr>
                      </a:outerShdw>
                    </a:effectLst>
                  </p:spPr>
                  <p:txBody>
                    <a:bodyPr wrap="square" lIns="71436" tIns="71436" rIns="71436" bIns="71436" numCol="1" anchor="ctr">
                      <a:noAutofit/>
                    </a:bodyPr>
                    <a:lstStyle/>
                    <a:p>
                      <a:pPr algn="r">
                        <a:defRPr sz="2400"/>
                      </a:pPr>
                      <a:endParaRPr/>
                    </a:p>
                  </p:txBody>
                </p:sp>
                <p:sp>
                  <p:nvSpPr>
                    <p:cNvPr id="193" name="Shape"/>
                    <p:cNvSpPr/>
                    <p:nvPr/>
                  </p:nvSpPr>
                  <p:spPr>
                    <a:xfrm flipH="1">
                      <a:off x="-1" y="0"/>
                      <a:ext cx="258665" cy="1034652"/>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71436" tIns="71436" rIns="71436" bIns="71436" numCol="1" anchor="ctr">
                      <a:noAutofit/>
                    </a:bodyPr>
                    <a:lstStyle/>
                    <a:p>
                      <a:pPr algn="r">
                        <a:defRPr sz="2400"/>
                      </a:pPr>
                      <a:endParaRPr/>
                    </a:p>
                  </p:txBody>
                </p:sp>
                <p:sp>
                  <p:nvSpPr>
                    <p:cNvPr id="194" name="Shape"/>
                    <p:cNvSpPr/>
                    <p:nvPr/>
                  </p:nvSpPr>
                  <p:spPr>
                    <a:xfrm flipH="1">
                      <a:off x="-1" y="0"/>
                      <a:ext cx="5684111" cy="25866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983" y="0"/>
                          </a:lnTo>
                          <a:lnTo>
                            <a:pt x="21600" y="0"/>
                          </a:lnTo>
                          <a:lnTo>
                            <a:pt x="20617" y="21600"/>
                          </a:lnTo>
                          <a:close/>
                        </a:path>
                      </a:pathLst>
                    </a:custGeom>
                    <a:solidFill>
                      <a:srgbClr val="FFFFFF">
                        <a:alpha val="20000"/>
                      </a:srgbClr>
                    </a:solidFill>
                    <a:ln w="12700" cap="flat">
                      <a:noFill/>
                      <a:miter lim="400000"/>
                    </a:ln>
                    <a:effectLst/>
                  </p:spPr>
                  <p:txBody>
                    <a:bodyPr wrap="square" lIns="71436" tIns="71436" rIns="71436" bIns="71436" numCol="1" anchor="ctr">
                      <a:noAutofit/>
                    </a:bodyPr>
                    <a:lstStyle/>
                    <a:p>
                      <a:pPr algn="r">
                        <a:defRPr sz="2400"/>
                      </a:pPr>
                      <a:endParaRPr/>
                    </a:p>
                  </p:txBody>
                </p:sp>
              </p:grpSp>
              <p:grpSp>
                <p:nvGrpSpPr>
                  <p:cNvPr id="199" name="Cub 61"/>
                  <p:cNvGrpSpPr/>
                  <p:nvPr/>
                </p:nvGrpSpPr>
                <p:grpSpPr>
                  <a:xfrm>
                    <a:off x="988539" y="3084057"/>
                    <a:ext cx="5684111" cy="1034653"/>
                    <a:chOff x="0" y="0"/>
                    <a:chExt cx="5684109" cy="1034652"/>
                  </a:xfrm>
                </p:grpSpPr>
                <p:sp>
                  <p:nvSpPr>
                    <p:cNvPr id="196" name="Shape"/>
                    <p:cNvSpPr/>
                    <p:nvPr/>
                  </p:nvSpPr>
                  <p:spPr>
                    <a:xfrm flipH="1">
                      <a:off x="-1" y="0"/>
                      <a:ext cx="5684111" cy="1034653"/>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983" y="0"/>
                          </a:lnTo>
                          <a:lnTo>
                            <a:pt x="21600" y="0"/>
                          </a:lnTo>
                          <a:lnTo>
                            <a:pt x="21600" y="16200"/>
                          </a:lnTo>
                          <a:lnTo>
                            <a:pt x="20617" y="21600"/>
                          </a:lnTo>
                          <a:lnTo>
                            <a:pt x="0" y="21600"/>
                          </a:lnTo>
                          <a:close/>
                        </a:path>
                      </a:pathLst>
                    </a:custGeom>
                    <a:solidFill>
                      <a:srgbClr val="961C04"/>
                    </a:solidFill>
                    <a:ln w="12700" cap="flat">
                      <a:noFill/>
                      <a:miter lim="400000"/>
                    </a:ln>
                    <a:effectLst>
                      <a:outerShdw blurRad="50800" dist="25400" dir="5400000" rotWithShape="0">
                        <a:srgbClr val="000000">
                          <a:alpha val="50000"/>
                        </a:srgbClr>
                      </a:outerShdw>
                    </a:effectLst>
                  </p:spPr>
                  <p:txBody>
                    <a:bodyPr wrap="square" lIns="71436" tIns="71436" rIns="71436" bIns="71436" numCol="1" anchor="ctr">
                      <a:noAutofit/>
                    </a:bodyPr>
                    <a:lstStyle/>
                    <a:p>
                      <a:pPr algn="r">
                        <a:defRPr sz="2400"/>
                      </a:pPr>
                      <a:endParaRPr/>
                    </a:p>
                  </p:txBody>
                </p:sp>
                <p:sp>
                  <p:nvSpPr>
                    <p:cNvPr id="197" name="Shape"/>
                    <p:cNvSpPr/>
                    <p:nvPr/>
                  </p:nvSpPr>
                  <p:spPr>
                    <a:xfrm flipH="1">
                      <a:off x="-1" y="0"/>
                      <a:ext cx="258665" cy="1034653"/>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71436" tIns="71436" rIns="71436" bIns="71436" numCol="1" anchor="ctr">
                      <a:noAutofit/>
                    </a:bodyPr>
                    <a:lstStyle/>
                    <a:p>
                      <a:pPr algn="r">
                        <a:defRPr sz="2400"/>
                      </a:pPr>
                      <a:endParaRPr/>
                    </a:p>
                  </p:txBody>
                </p:sp>
                <p:sp>
                  <p:nvSpPr>
                    <p:cNvPr id="198" name="Shape"/>
                    <p:cNvSpPr/>
                    <p:nvPr/>
                  </p:nvSpPr>
                  <p:spPr>
                    <a:xfrm flipH="1">
                      <a:off x="-1" y="0"/>
                      <a:ext cx="5684111" cy="25866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983" y="0"/>
                          </a:lnTo>
                          <a:lnTo>
                            <a:pt x="21600" y="0"/>
                          </a:lnTo>
                          <a:lnTo>
                            <a:pt x="20617" y="21600"/>
                          </a:lnTo>
                          <a:close/>
                        </a:path>
                      </a:pathLst>
                    </a:custGeom>
                    <a:solidFill>
                      <a:srgbClr val="FFFFFF">
                        <a:alpha val="20000"/>
                      </a:srgbClr>
                    </a:solidFill>
                    <a:ln w="12700" cap="flat">
                      <a:noFill/>
                      <a:miter lim="400000"/>
                    </a:ln>
                    <a:effectLst/>
                  </p:spPr>
                  <p:txBody>
                    <a:bodyPr wrap="square" lIns="71436" tIns="71436" rIns="71436" bIns="71436" numCol="1" anchor="ctr">
                      <a:noAutofit/>
                    </a:bodyPr>
                    <a:lstStyle/>
                    <a:p>
                      <a:pPr algn="r">
                        <a:defRPr sz="2400"/>
                      </a:pPr>
                      <a:endParaRPr/>
                    </a:p>
                  </p:txBody>
                </p:sp>
              </p:grpSp>
              <p:grpSp>
                <p:nvGrpSpPr>
                  <p:cNvPr id="203" name="Cub 62"/>
                  <p:cNvGrpSpPr/>
                  <p:nvPr/>
                </p:nvGrpSpPr>
                <p:grpSpPr>
                  <a:xfrm>
                    <a:off x="1309815" y="4138605"/>
                    <a:ext cx="5684111" cy="1034652"/>
                    <a:chOff x="0" y="0"/>
                    <a:chExt cx="5684109" cy="1034651"/>
                  </a:xfrm>
                </p:grpSpPr>
                <p:sp>
                  <p:nvSpPr>
                    <p:cNvPr id="200" name="Shape"/>
                    <p:cNvSpPr/>
                    <p:nvPr/>
                  </p:nvSpPr>
                  <p:spPr>
                    <a:xfrm flipH="1">
                      <a:off x="-1" y="0"/>
                      <a:ext cx="5684111" cy="1034652"/>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983" y="0"/>
                          </a:lnTo>
                          <a:lnTo>
                            <a:pt x="21600" y="0"/>
                          </a:lnTo>
                          <a:lnTo>
                            <a:pt x="21600" y="16200"/>
                          </a:lnTo>
                          <a:lnTo>
                            <a:pt x="20617" y="21600"/>
                          </a:lnTo>
                          <a:lnTo>
                            <a:pt x="0" y="21600"/>
                          </a:lnTo>
                          <a:close/>
                        </a:path>
                      </a:pathLst>
                    </a:custGeom>
                    <a:solidFill>
                      <a:srgbClr val="00B050"/>
                    </a:solidFill>
                    <a:ln w="12700" cap="flat">
                      <a:noFill/>
                      <a:miter lim="400000"/>
                    </a:ln>
                    <a:effectLst>
                      <a:outerShdw blurRad="50800" dist="25400" dir="5400000" rotWithShape="0">
                        <a:srgbClr val="000000">
                          <a:alpha val="50000"/>
                        </a:srgbClr>
                      </a:outerShdw>
                    </a:effectLst>
                  </p:spPr>
                  <p:txBody>
                    <a:bodyPr wrap="square" lIns="71436" tIns="71436" rIns="71436" bIns="71436" numCol="1" anchor="ctr">
                      <a:noAutofit/>
                    </a:bodyPr>
                    <a:lstStyle/>
                    <a:p>
                      <a:pPr algn="r">
                        <a:defRPr sz="2400"/>
                      </a:pPr>
                      <a:endParaRPr/>
                    </a:p>
                  </p:txBody>
                </p:sp>
                <p:sp>
                  <p:nvSpPr>
                    <p:cNvPr id="201" name="Shape"/>
                    <p:cNvSpPr/>
                    <p:nvPr/>
                  </p:nvSpPr>
                  <p:spPr>
                    <a:xfrm flipH="1">
                      <a:off x="-1" y="0"/>
                      <a:ext cx="258665" cy="1034652"/>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71436" tIns="71436" rIns="71436" bIns="71436" numCol="1" anchor="ctr">
                      <a:noAutofit/>
                    </a:bodyPr>
                    <a:lstStyle/>
                    <a:p>
                      <a:pPr algn="r">
                        <a:defRPr sz="2400"/>
                      </a:pPr>
                      <a:endParaRPr/>
                    </a:p>
                  </p:txBody>
                </p:sp>
                <p:sp>
                  <p:nvSpPr>
                    <p:cNvPr id="202" name="Shape"/>
                    <p:cNvSpPr/>
                    <p:nvPr/>
                  </p:nvSpPr>
                  <p:spPr>
                    <a:xfrm flipH="1">
                      <a:off x="-1" y="0"/>
                      <a:ext cx="5684111" cy="25866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983" y="0"/>
                          </a:lnTo>
                          <a:lnTo>
                            <a:pt x="21600" y="0"/>
                          </a:lnTo>
                          <a:lnTo>
                            <a:pt x="20617" y="21600"/>
                          </a:lnTo>
                          <a:close/>
                        </a:path>
                      </a:pathLst>
                    </a:custGeom>
                    <a:solidFill>
                      <a:srgbClr val="FFFFFF">
                        <a:alpha val="20000"/>
                      </a:srgbClr>
                    </a:solidFill>
                    <a:ln w="12700" cap="flat">
                      <a:noFill/>
                      <a:miter lim="400000"/>
                    </a:ln>
                    <a:effectLst/>
                  </p:spPr>
                  <p:txBody>
                    <a:bodyPr wrap="square" lIns="71436" tIns="71436" rIns="71436" bIns="71436" numCol="1" anchor="ctr">
                      <a:noAutofit/>
                    </a:bodyPr>
                    <a:lstStyle/>
                    <a:p>
                      <a:pPr algn="r">
                        <a:defRPr sz="2400"/>
                      </a:pPr>
                      <a:endParaRPr/>
                    </a:p>
                  </p:txBody>
                </p:sp>
              </p:grpSp>
              <p:grpSp>
                <p:nvGrpSpPr>
                  <p:cNvPr id="207" name="Cub 63"/>
                  <p:cNvGrpSpPr/>
                  <p:nvPr/>
                </p:nvGrpSpPr>
                <p:grpSpPr>
                  <a:xfrm>
                    <a:off x="1631091" y="5193153"/>
                    <a:ext cx="5684110" cy="1034652"/>
                    <a:chOff x="0" y="0"/>
                    <a:chExt cx="5684109" cy="1034651"/>
                  </a:xfrm>
                </p:grpSpPr>
                <p:sp>
                  <p:nvSpPr>
                    <p:cNvPr id="204" name="Shape"/>
                    <p:cNvSpPr/>
                    <p:nvPr/>
                  </p:nvSpPr>
                  <p:spPr>
                    <a:xfrm flipH="1">
                      <a:off x="-1" y="0"/>
                      <a:ext cx="5684111" cy="1034652"/>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983" y="0"/>
                          </a:lnTo>
                          <a:lnTo>
                            <a:pt x="21600" y="0"/>
                          </a:lnTo>
                          <a:lnTo>
                            <a:pt x="21600" y="16200"/>
                          </a:lnTo>
                          <a:lnTo>
                            <a:pt x="20617" y="21600"/>
                          </a:lnTo>
                          <a:lnTo>
                            <a:pt x="0" y="21600"/>
                          </a:lnTo>
                          <a:close/>
                        </a:path>
                      </a:pathLst>
                    </a:custGeom>
                    <a:solidFill>
                      <a:srgbClr val="00B050"/>
                    </a:solidFill>
                    <a:ln w="12700" cap="flat">
                      <a:noFill/>
                      <a:miter lim="400000"/>
                    </a:ln>
                    <a:effectLst>
                      <a:outerShdw blurRad="50800" dist="25400" dir="5400000" rotWithShape="0">
                        <a:srgbClr val="000000">
                          <a:alpha val="50000"/>
                        </a:srgbClr>
                      </a:outerShdw>
                    </a:effectLst>
                  </p:spPr>
                  <p:txBody>
                    <a:bodyPr wrap="square" lIns="71436" tIns="71436" rIns="71436" bIns="71436" numCol="1" anchor="ctr">
                      <a:noAutofit/>
                    </a:bodyPr>
                    <a:lstStyle/>
                    <a:p>
                      <a:pPr algn="r">
                        <a:defRPr sz="2400"/>
                      </a:pPr>
                      <a:endParaRPr/>
                    </a:p>
                  </p:txBody>
                </p:sp>
                <p:sp>
                  <p:nvSpPr>
                    <p:cNvPr id="205" name="Shape"/>
                    <p:cNvSpPr/>
                    <p:nvPr/>
                  </p:nvSpPr>
                  <p:spPr>
                    <a:xfrm flipH="1">
                      <a:off x="-1" y="0"/>
                      <a:ext cx="258665" cy="1034652"/>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71436" tIns="71436" rIns="71436" bIns="71436" numCol="1" anchor="ctr">
                      <a:noAutofit/>
                    </a:bodyPr>
                    <a:lstStyle/>
                    <a:p>
                      <a:pPr algn="r">
                        <a:defRPr sz="2400"/>
                      </a:pPr>
                      <a:endParaRPr/>
                    </a:p>
                  </p:txBody>
                </p:sp>
                <p:sp>
                  <p:nvSpPr>
                    <p:cNvPr id="206" name="Shape"/>
                    <p:cNvSpPr/>
                    <p:nvPr/>
                  </p:nvSpPr>
                  <p:spPr>
                    <a:xfrm flipH="1">
                      <a:off x="-1" y="0"/>
                      <a:ext cx="5684111" cy="25866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983" y="0"/>
                          </a:lnTo>
                          <a:lnTo>
                            <a:pt x="21600" y="0"/>
                          </a:lnTo>
                          <a:lnTo>
                            <a:pt x="20617" y="21600"/>
                          </a:lnTo>
                          <a:close/>
                        </a:path>
                      </a:pathLst>
                    </a:custGeom>
                    <a:solidFill>
                      <a:srgbClr val="FFFFFF">
                        <a:alpha val="20000"/>
                      </a:srgbClr>
                    </a:solidFill>
                    <a:ln w="12700" cap="flat">
                      <a:noFill/>
                      <a:miter lim="400000"/>
                    </a:ln>
                    <a:effectLst/>
                  </p:spPr>
                  <p:txBody>
                    <a:bodyPr wrap="square" lIns="71436" tIns="71436" rIns="71436" bIns="71436" numCol="1" anchor="ctr">
                      <a:noAutofit/>
                    </a:bodyPr>
                    <a:lstStyle/>
                    <a:p>
                      <a:pPr algn="r">
                        <a:defRPr sz="2400"/>
                      </a:pPr>
                      <a:endParaRPr/>
                    </a:p>
                  </p:txBody>
                </p:sp>
              </p:grpSp>
            </p:grpSp>
            <p:sp>
              <p:nvSpPr>
                <p:cNvPr id="209" name="Arc 52"/>
                <p:cNvSpPr/>
                <p:nvPr/>
              </p:nvSpPr>
              <p:spPr>
                <a:xfrm>
                  <a:off x="1000896" y="119003"/>
                  <a:ext cx="877331" cy="8672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57150" cap="flat">
                  <a:solidFill>
                    <a:srgbClr val="000000"/>
                  </a:solidFill>
                  <a:prstDash val="solid"/>
                  <a:miter lim="400000"/>
                  <a:tailEnd type="triangle" w="med" len="med"/>
                </a:ln>
                <a:effectLst/>
              </p:spPr>
              <p:txBody>
                <a:bodyPr wrap="square" lIns="71436" tIns="71436" rIns="71436" bIns="71436" numCol="1" anchor="t">
                  <a:noAutofit/>
                </a:bodyPr>
                <a:lstStyle/>
                <a:p>
                  <a:pPr algn="l" defTabSz="914400">
                    <a:defRPr sz="1800">
                      <a:latin typeface="+mj-lt"/>
                      <a:ea typeface="+mj-ea"/>
                      <a:cs typeface="+mj-cs"/>
                      <a:sym typeface="Helvetica"/>
                    </a:defRPr>
                  </a:pPr>
                  <a:endParaRPr/>
                </a:p>
              </p:txBody>
            </p:sp>
            <p:sp>
              <p:nvSpPr>
                <p:cNvPr id="210" name="Arc 53"/>
                <p:cNvSpPr/>
                <p:nvPr/>
              </p:nvSpPr>
              <p:spPr>
                <a:xfrm>
                  <a:off x="1989436" y="1082830"/>
                  <a:ext cx="877331" cy="8672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57150" cap="flat">
                  <a:solidFill>
                    <a:srgbClr val="000000"/>
                  </a:solidFill>
                  <a:prstDash val="solid"/>
                  <a:miter lim="400000"/>
                  <a:tailEnd type="triangle" w="med" len="med"/>
                </a:ln>
                <a:effectLst/>
              </p:spPr>
              <p:txBody>
                <a:bodyPr wrap="square" lIns="71436" tIns="71436" rIns="71436" bIns="71436" numCol="1" anchor="t">
                  <a:noAutofit/>
                </a:bodyPr>
                <a:lstStyle/>
                <a:p>
                  <a:pPr algn="l" defTabSz="914400">
                    <a:defRPr sz="1800">
                      <a:latin typeface="+mj-lt"/>
                      <a:ea typeface="+mj-ea"/>
                      <a:cs typeface="+mj-cs"/>
                      <a:sym typeface="Helvetica"/>
                    </a:defRPr>
                  </a:pPr>
                  <a:endParaRPr/>
                </a:p>
              </p:txBody>
            </p:sp>
            <p:sp>
              <p:nvSpPr>
                <p:cNvPr id="211" name="Arc 54"/>
                <p:cNvSpPr/>
                <p:nvPr/>
              </p:nvSpPr>
              <p:spPr>
                <a:xfrm>
                  <a:off x="2977977" y="2071372"/>
                  <a:ext cx="877331" cy="8672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57150" cap="flat">
                  <a:solidFill>
                    <a:srgbClr val="000000"/>
                  </a:solidFill>
                  <a:prstDash val="solid"/>
                  <a:miter lim="400000"/>
                  <a:tailEnd type="triangle" w="med" len="med"/>
                </a:ln>
                <a:effectLst/>
              </p:spPr>
              <p:txBody>
                <a:bodyPr wrap="square" lIns="71436" tIns="71436" rIns="71436" bIns="71436" numCol="1" anchor="t">
                  <a:noAutofit/>
                </a:bodyPr>
                <a:lstStyle/>
                <a:p>
                  <a:pPr algn="l" defTabSz="914400">
                    <a:defRPr sz="1800">
                      <a:latin typeface="+mj-lt"/>
                      <a:ea typeface="+mj-ea"/>
                      <a:cs typeface="+mj-cs"/>
                      <a:sym typeface="Helvetica"/>
                    </a:defRPr>
                  </a:pPr>
                  <a:endParaRPr/>
                </a:p>
              </p:txBody>
            </p:sp>
            <p:sp>
              <p:nvSpPr>
                <p:cNvPr id="212" name="Arc 55"/>
                <p:cNvSpPr/>
                <p:nvPr/>
              </p:nvSpPr>
              <p:spPr>
                <a:xfrm>
                  <a:off x="4139512" y="3208193"/>
                  <a:ext cx="877331" cy="8672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57150" cap="flat">
                  <a:solidFill>
                    <a:srgbClr val="000000"/>
                  </a:solidFill>
                  <a:prstDash val="solid"/>
                  <a:miter lim="400000"/>
                  <a:tailEnd type="triangle" w="med" len="med"/>
                </a:ln>
                <a:effectLst/>
              </p:spPr>
              <p:txBody>
                <a:bodyPr wrap="square" lIns="71436" tIns="71436" rIns="71436" bIns="71436" numCol="1" anchor="t">
                  <a:noAutofit/>
                </a:bodyPr>
                <a:lstStyle/>
                <a:p>
                  <a:pPr algn="l" defTabSz="914400">
                    <a:defRPr sz="1800">
                      <a:latin typeface="+mj-lt"/>
                      <a:ea typeface="+mj-ea"/>
                      <a:cs typeface="+mj-cs"/>
                      <a:sym typeface="Helvetica"/>
                    </a:defRPr>
                  </a:pPr>
                  <a:endParaRPr/>
                </a:p>
              </p:txBody>
            </p:sp>
            <p:sp>
              <p:nvSpPr>
                <p:cNvPr id="213" name="Arc 56"/>
                <p:cNvSpPr/>
                <p:nvPr/>
              </p:nvSpPr>
              <p:spPr>
                <a:xfrm>
                  <a:off x="5301048" y="4246162"/>
                  <a:ext cx="877331" cy="8672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57150" cap="flat">
                  <a:solidFill>
                    <a:srgbClr val="000000"/>
                  </a:solidFill>
                  <a:prstDash val="solid"/>
                  <a:miter lim="400000"/>
                  <a:tailEnd type="triangle" w="med" len="med"/>
                </a:ln>
                <a:effectLst/>
              </p:spPr>
              <p:txBody>
                <a:bodyPr wrap="square" lIns="71436" tIns="71436" rIns="71436" bIns="71436" numCol="1" anchor="t">
                  <a:noAutofit/>
                </a:bodyPr>
                <a:lstStyle/>
                <a:p>
                  <a:pPr algn="l" defTabSz="914400">
                    <a:defRPr sz="1800">
                      <a:latin typeface="+mj-lt"/>
                      <a:ea typeface="+mj-ea"/>
                      <a:cs typeface="+mj-cs"/>
                      <a:sym typeface="Helvetica"/>
                    </a:defRPr>
                  </a:pPr>
                  <a:endParaRPr/>
                </a:p>
              </p:txBody>
            </p:sp>
            <p:sp>
              <p:nvSpPr>
                <p:cNvPr id="214" name="Arc 57"/>
                <p:cNvSpPr/>
                <p:nvPr/>
              </p:nvSpPr>
              <p:spPr>
                <a:xfrm>
                  <a:off x="6363729" y="5259416"/>
                  <a:ext cx="877330" cy="8672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57150" cap="flat">
                  <a:solidFill>
                    <a:srgbClr val="000000"/>
                  </a:solidFill>
                  <a:prstDash val="solid"/>
                  <a:miter lim="400000"/>
                  <a:tailEnd type="triangle" w="med" len="med"/>
                </a:ln>
                <a:effectLst/>
              </p:spPr>
              <p:txBody>
                <a:bodyPr wrap="square" lIns="71436" tIns="71436" rIns="71436" bIns="71436" numCol="1" anchor="t">
                  <a:noAutofit/>
                </a:bodyPr>
                <a:lstStyle/>
                <a:p>
                  <a:pPr algn="l" defTabSz="914400">
                    <a:defRPr sz="1800">
                      <a:latin typeface="+mj-lt"/>
                      <a:ea typeface="+mj-ea"/>
                      <a:cs typeface="+mj-cs"/>
                      <a:sym typeface="Helvetica"/>
                    </a:defRPr>
                  </a:pPr>
                  <a:endParaRPr/>
                </a:p>
              </p:txBody>
            </p:sp>
          </p:grpSp>
          <p:pic>
            <p:nvPicPr>
              <p:cNvPr id="216" name="Imagine 47" descr="Imagine 47"/>
              <p:cNvPicPr>
                <a:picLocks noChangeAspect="1"/>
              </p:cNvPicPr>
              <p:nvPr/>
            </p:nvPicPr>
            <p:blipFill>
              <a:blip r:embed="rId3"/>
              <a:stretch>
                <a:fillRect/>
              </a:stretch>
            </p:blipFill>
            <p:spPr>
              <a:xfrm rot="19751074">
                <a:off x="6994015" y="2532676"/>
                <a:ext cx="1123935" cy="600944"/>
              </a:xfrm>
              <a:prstGeom prst="rect">
                <a:avLst/>
              </a:prstGeom>
              <a:ln w="12700" cap="flat">
                <a:noFill/>
                <a:miter lim="400000"/>
              </a:ln>
              <a:effectLst/>
            </p:spPr>
          </p:pic>
          <p:sp>
            <p:nvSpPr>
              <p:cNvPr id="217" name="CasetăText 48"/>
              <p:cNvSpPr txBox="1"/>
              <p:nvPr/>
            </p:nvSpPr>
            <p:spPr>
              <a:xfrm>
                <a:off x="432790" y="1651984"/>
                <a:ext cx="1209476" cy="6254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defRPr b="1">
                    <a:solidFill>
                      <a:schemeClr val="accent1"/>
                    </a:solidFill>
                    <a:latin typeface="+mj-lt"/>
                    <a:ea typeface="+mj-ea"/>
                    <a:cs typeface="+mj-cs"/>
                    <a:sym typeface="Helvetica"/>
                  </a:defRPr>
                </a:lvl1pPr>
              </a:lstStyle>
              <a:p>
                <a:r>
                  <a:t>PAST</a:t>
                </a:r>
              </a:p>
            </p:txBody>
          </p:sp>
          <p:sp>
            <p:nvSpPr>
              <p:cNvPr id="218" name="CasetăText 49"/>
              <p:cNvSpPr txBox="1"/>
              <p:nvPr/>
            </p:nvSpPr>
            <p:spPr>
              <a:xfrm>
                <a:off x="0" y="3307790"/>
                <a:ext cx="2075060" cy="6254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defRPr b="1">
                    <a:solidFill>
                      <a:schemeClr val="accent5"/>
                    </a:solidFill>
                    <a:latin typeface="+mj-lt"/>
                    <a:ea typeface="+mj-ea"/>
                    <a:cs typeface="+mj-cs"/>
                    <a:sym typeface="Helvetica"/>
                  </a:defRPr>
                </a:lvl1pPr>
              </a:lstStyle>
              <a:p>
                <a:r>
                  <a:t>PRESENT</a:t>
                </a:r>
              </a:p>
            </p:txBody>
          </p:sp>
          <p:sp>
            <p:nvSpPr>
              <p:cNvPr id="219" name="CasetăText 50"/>
              <p:cNvSpPr txBox="1"/>
              <p:nvPr/>
            </p:nvSpPr>
            <p:spPr>
              <a:xfrm>
                <a:off x="135729" y="4914167"/>
                <a:ext cx="1803598" cy="6254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defRPr b="1">
                    <a:solidFill>
                      <a:srgbClr val="00B050"/>
                    </a:solidFill>
                    <a:latin typeface="+mj-lt"/>
                    <a:ea typeface="+mj-ea"/>
                    <a:cs typeface="+mj-cs"/>
                    <a:sym typeface="Helvetica"/>
                  </a:defRPr>
                </a:lvl1pPr>
              </a:lstStyle>
              <a:p>
                <a:r>
                  <a:t>FUTURE</a:t>
                </a:r>
              </a:p>
            </p:txBody>
          </p:sp>
        </p:grpSp>
        <mc:AlternateContent xmlns:mc="http://schemas.openxmlformats.org/markup-compatibility/2006" xmlns:a14="http://schemas.microsoft.com/office/drawing/2010/main">
          <mc:Choice Requires="a14">
            <p:sp>
              <p:nvSpPr>
                <p:cNvPr id="221" name="CasetăText 7"/>
                <p:cNvSpPr txBox="1"/>
                <p:nvPr/>
              </p:nvSpPr>
              <p:spPr>
                <a:xfrm>
                  <a:off x="0" y="6606402"/>
                  <a:ext cx="11290658" cy="715354"/>
                </a:xfrm>
                <a:prstGeom prst="rect">
                  <a:avLst/>
                </a:prstGeom>
                <a:noFill/>
                <a:ln w="12700" cap="flat">
                  <a:noFill/>
                  <a:miter lim="400000"/>
                </a:ln>
                <a:effectLst/>
              </p:spPr>
              <p:txBody>
                <a:bodyPr wrap="none" lIns="0" tIns="0" rIns="0" bIns="0">
                  <a:spAutoFit/>
                </a:bodyPr>
                <a:lstStyle/>
                <a:p>
                  <a:pPr algn="l" defTabSz="914400" latinLnBrk="1">
                    <a:defRPr sz="1800"/>
                  </a:pPr>
                  <a14:m>
                    <m:oMathPara xmlns:m="http://schemas.openxmlformats.org/officeDocument/2006/math">
                      <m:oMathParaPr>
                        <m:jc m:val="centerGroup"/>
                      </m:oMathParaPr>
                      <m:oMath xmlns:m="http://schemas.openxmlformats.org/officeDocument/2006/math">
                        <m:r>
                          <a:rPr sz="3600" i="1">
                            <a:solidFill>
                              <a:srgbClr val="000000"/>
                            </a:solidFill>
                            <a:latin typeface="Cambria Math" panose="02040503050406030204" pitchFamily="18" charset="0"/>
                          </a:rPr>
                          <m:t>𝑃</m:t>
                        </m:r>
                        <m:d>
                          <m:dPr>
                            <m:ctrlPr>
                              <a:rPr sz="3600" i="1">
                                <a:solidFill>
                                  <a:srgbClr val="000000"/>
                                </a:solidFill>
                                <a:latin typeface="Cambria Math" panose="02040503050406030204" pitchFamily="18" charset="0"/>
                              </a:rPr>
                            </m:ctrlPr>
                          </m:dPr>
                          <m:e>
                            <m:sSub>
                              <m:sSubPr>
                                <m:ctrlPr>
                                  <a:rPr sz="3600" i="1">
                                    <a:solidFill>
                                      <a:srgbClr val="000000"/>
                                    </a:solidFill>
                                    <a:latin typeface="Cambria Math" panose="02040503050406030204" pitchFamily="18" charset="0"/>
                                  </a:rPr>
                                </m:ctrlPr>
                              </m:sSubPr>
                              <m:e>
                                <m:r>
                                  <a:rPr sz="3600" i="1">
                                    <a:solidFill>
                                      <a:srgbClr val="00B050"/>
                                    </a:solidFill>
                                    <a:latin typeface="Cambria Math" panose="02040503050406030204" pitchFamily="18" charset="0"/>
                                  </a:rPr>
                                  <m:t>𝑋</m:t>
                                </m:r>
                              </m:e>
                              <m:sub>
                                <m:r>
                                  <a:rPr sz="3600" i="1">
                                    <a:solidFill>
                                      <a:srgbClr val="00B050"/>
                                    </a:solidFill>
                                    <a:latin typeface="Cambria Math" panose="02040503050406030204" pitchFamily="18" charset="0"/>
                                  </a:rPr>
                                  <m:t>𝑖</m:t>
                                </m:r>
                                <m:r>
                                  <a:rPr sz="3600" i="1">
                                    <a:solidFill>
                                      <a:srgbClr val="00B050"/>
                                    </a:solidFill>
                                    <a:latin typeface="Cambria Math" panose="02040503050406030204" pitchFamily="18" charset="0"/>
                                  </a:rPr>
                                  <m:t>+1</m:t>
                                </m:r>
                              </m:sub>
                            </m:sSub>
                          </m:e>
                          <m:e>
                            <m:sSub>
                              <m:sSubPr>
                                <m:ctrlPr>
                                  <a:rPr sz="3600" i="1">
                                    <a:solidFill>
                                      <a:srgbClr val="00B050"/>
                                    </a:solidFill>
                                    <a:latin typeface="Cambria Math" panose="02040503050406030204" pitchFamily="18" charset="0"/>
                                  </a:rPr>
                                </m:ctrlPr>
                              </m:sSubPr>
                              <m:e>
                                <m:r>
                                  <a:rPr sz="3600" i="1">
                                    <a:solidFill>
                                      <a:srgbClr val="C82506"/>
                                    </a:solidFill>
                                    <a:latin typeface="Cambria Math" panose="02040503050406030204" pitchFamily="18" charset="0"/>
                                  </a:rPr>
                                  <m:t>𝑋</m:t>
                                </m:r>
                              </m:e>
                              <m:sub>
                                <m:r>
                                  <a:rPr sz="3600" i="1">
                                    <a:solidFill>
                                      <a:srgbClr val="C82506"/>
                                    </a:solidFill>
                                    <a:latin typeface="Cambria Math" panose="02040503050406030204" pitchFamily="18" charset="0"/>
                                  </a:rPr>
                                  <m:t>𝑖</m:t>
                                </m:r>
                              </m:sub>
                            </m:sSub>
                            <m:r>
                              <a:rPr sz="3600" i="1">
                                <a:solidFill>
                                  <a:srgbClr val="C82506"/>
                                </a:solidFill>
                                <a:latin typeface="Cambria Math" panose="02040503050406030204" pitchFamily="18" charset="0"/>
                              </a:rPr>
                              <m:t>=</m:t>
                            </m:r>
                            <m:sSub>
                              <m:sSubPr>
                                <m:ctrlPr>
                                  <a:rPr sz="3600" i="1">
                                    <a:solidFill>
                                      <a:srgbClr val="C82506"/>
                                    </a:solidFill>
                                    <a:latin typeface="Cambria Math" panose="02040503050406030204" pitchFamily="18" charset="0"/>
                                  </a:rPr>
                                </m:ctrlPr>
                              </m:sSubPr>
                              <m:e>
                                <m:r>
                                  <a:rPr sz="3600" i="1">
                                    <a:solidFill>
                                      <a:srgbClr val="C82506"/>
                                    </a:solidFill>
                                    <a:latin typeface="Cambria Math" panose="02040503050406030204" pitchFamily="18" charset="0"/>
                                  </a:rPr>
                                  <m:t>𝑥</m:t>
                                </m:r>
                              </m:e>
                              <m:sub>
                                <m:r>
                                  <a:rPr sz="3600" i="1">
                                    <a:solidFill>
                                      <a:srgbClr val="C82506"/>
                                    </a:solidFill>
                                    <a:latin typeface="Cambria Math" panose="02040503050406030204" pitchFamily="18" charset="0"/>
                                  </a:rPr>
                                  <m:t>𝑖</m:t>
                                </m:r>
                              </m:sub>
                            </m:sSub>
                            <m:r>
                              <a:rPr sz="3600" i="1">
                                <a:solidFill>
                                  <a:srgbClr val="000000"/>
                                </a:solidFill>
                                <a:latin typeface="Cambria Math" panose="02040503050406030204" pitchFamily="18" charset="0"/>
                              </a:rPr>
                              <m:t>,</m:t>
                            </m:r>
                            <m:sSub>
                              <m:sSubPr>
                                <m:ctrlPr>
                                  <a:rPr sz="3600" i="1">
                                    <a:solidFill>
                                      <a:srgbClr val="000000"/>
                                    </a:solidFill>
                                    <a:latin typeface="Cambria Math" panose="02040503050406030204" pitchFamily="18" charset="0"/>
                                  </a:rPr>
                                </m:ctrlPr>
                              </m:sSubPr>
                              <m:e>
                                <m:r>
                                  <a:rPr sz="3600" i="1">
                                    <a:solidFill>
                                      <a:srgbClr val="0070C0"/>
                                    </a:solidFill>
                                    <a:latin typeface="Cambria Math" panose="02040503050406030204" pitchFamily="18" charset="0"/>
                                  </a:rPr>
                                  <m:t>𝑋</m:t>
                                </m:r>
                              </m:e>
                              <m:sub>
                                <m:r>
                                  <a:rPr sz="3600" i="1">
                                    <a:solidFill>
                                      <a:srgbClr val="0070C0"/>
                                    </a:solidFill>
                                    <a:latin typeface="Cambria Math" panose="02040503050406030204" pitchFamily="18" charset="0"/>
                                  </a:rPr>
                                  <m:t>𝑖</m:t>
                                </m:r>
                                <m:r>
                                  <a:rPr sz="3600" i="1">
                                    <a:solidFill>
                                      <a:srgbClr val="0070C0"/>
                                    </a:solidFill>
                                    <a:latin typeface="Cambria Math" panose="02040503050406030204" pitchFamily="18" charset="0"/>
                                  </a:rPr>
                                  <m:t>−1</m:t>
                                </m:r>
                              </m:sub>
                            </m:sSub>
                            <m:r>
                              <a:rPr sz="3600" i="1">
                                <a:solidFill>
                                  <a:srgbClr val="0070C0"/>
                                </a:solidFill>
                                <a:latin typeface="Cambria Math" panose="02040503050406030204" pitchFamily="18" charset="0"/>
                              </a:rPr>
                              <m:t>=</m:t>
                            </m:r>
                            <m:sSub>
                              <m:sSubPr>
                                <m:ctrlPr>
                                  <a:rPr sz="3600" i="1">
                                    <a:solidFill>
                                      <a:srgbClr val="0070C0"/>
                                    </a:solidFill>
                                    <a:latin typeface="Cambria Math" panose="02040503050406030204" pitchFamily="18" charset="0"/>
                                  </a:rPr>
                                </m:ctrlPr>
                              </m:sSubPr>
                              <m:e>
                                <m:r>
                                  <a:rPr sz="3600" i="1">
                                    <a:solidFill>
                                      <a:srgbClr val="0070C0"/>
                                    </a:solidFill>
                                    <a:latin typeface="Cambria Math" panose="02040503050406030204" pitchFamily="18" charset="0"/>
                                  </a:rPr>
                                  <m:t>𝑥</m:t>
                                </m:r>
                              </m:e>
                              <m:sub>
                                <m:r>
                                  <a:rPr sz="3600" i="1">
                                    <a:solidFill>
                                      <a:srgbClr val="0070C0"/>
                                    </a:solidFill>
                                    <a:latin typeface="Cambria Math" panose="02040503050406030204" pitchFamily="18" charset="0"/>
                                  </a:rPr>
                                  <m:t>𝑖</m:t>
                                </m:r>
                                <m:r>
                                  <a:rPr sz="3600" i="1">
                                    <a:solidFill>
                                      <a:srgbClr val="0070C0"/>
                                    </a:solidFill>
                                    <a:latin typeface="Cambria Math" panose="02040503050406030204" pitchFamily="18" charset="0"/>
                                  </a:rPr>
                                  <m:t>−1</m:t>
                                </m:r>
                              </m:sub>
                            </m:sSub>
                            <m:r>
                              <a:rPr sz="3600" i="1">
                                <a:solidFill>
                                  <a:srgbClr val="0070C0"/>
                                </a:solidFill>
                                <a:latin typeface="Cambria Math" panose="02040503050406030204" pitchFamily="18" charset="0"/>
                              </a:rPr>
                              <m:t>…,</m:t>
                            </m:r>
                            <m:sSub>
                              <m:sSubPr>
                                <m:ctrlPr>
                                  <a:rPr sz="3600" i="1">
                                    <a:solidFill>
                                      <a:srgbClr val="0070C0"/>
                                    </a:solidFill>
                                    <a:latin typeface="Cambria Math" panose="02040503050406030204" pitchFamily="18" charset="0"/>
                                  </a:rPr>
                                </m:ctrlPr>
                              </m:sSubPr>
                              <m:e>
                                <m:r>
                                  <a:rPr sz="3600" i="1">
                                    <a:solidFill>
                                      <a:srgbClr val="0070C0"/>
                                    </a:solidFill>
                                    <a:latin typeface="Cambria Math" panose="02040503050406030204" pitchFamily="18" charset="0"/>
                                  </a:rPr>
                                  <m:t>𝑋</m:t>
                                </m:r>
                              </m:e>
                              <m:sub>
                                <m:r>
                                  <a:rPr sz="3600" i="1">
                                    <a:solidFill>
                                      <a:srgbClr val="0070C0"/>
                                    </a:solidFill>
                                    <a:latin typeface="Cambria Math" panose="02040503050406030204" pitchFamily="18" charset="0"/>
                                  </a:rPr>
                                  <m:t>0</m:t>
                                </m:r>
                              </m:sub>
                            </m:sSub>
                            <m:r>
                              <a:rPr sz="3600" i="1">
                                <a:solidFill>
                                  <a:srgbClr val="0070C0"/>
                                </a:solidFill>
                                <a:latin typeface="Cambria Math" panose="02040503050406030204" pitchFamily="18" charset="0"/>
                              </a:rPr>
                              <m:t>=</m:t>
                            </m:r>
                            <m:sSub>
                              <m:sSubPr>
                                <m:ctrlPr>
                                  <a:rPr sz="3600" i="1">
                                    <a:solidFill>
                                      <a:srgbClr val="0070C0"/>
                                    </a:solidFill>
                                    <a:latin typeface="Cambria Math" panose="02040503050406030204" pitchFamily="18" charset="0"/>
                                  </a:rPr>
                                </m:ctrlPr>
                              </m:sSubPr>
                              <m:e>
                                <m:r>
                                  <a:rPr sz="3600" i="1">
                                    <a:solidFill>
                                      <a:srgbClr val="0070C0"/>
                                    </a:solidFill>
                                    <a:latin typeface="Cambria Math" panose="02040503050406030204" pitchFamily="18" charset="0"/>
                                  </a:rPr>
                                  <m:t>𝑥</m:t>
                                </m:r>
                              </m:e>
                              <m:sub>
                                <m:r>
                                  <a:rPr sz="3600" i="1">
                                    <a:solidFill>
                                      <a:srgbClr val="0070C0"/>
                                    </a:solidFill>
                                    <a:latin typeface="Cambria Math" panose="02040503050406030204" pitchFamily="18" charset="0"/>
                                  </a:rPr>
                                  <m:t>0</m:t>
                                </m:r>
                              </m:sub>
                            </m:sSub>
                          </m:e>
                        </m:d>
                        <m:r>
                          <a:rPr sz="3600" i="1">
                            <a:solidFill>
                              <a:srgbClr val="000000"/>
                            </a:solidFill>
                            <a:latin typeface="Cambria Math" panose="02040503050406030204" pitchFamily="18" charset="0"/>
                          </a:rPr>
                          <m:t>=</m:t>
                        </m:r>
                        <m:r>
                          <a:rPr sz="3600" i="1">
                            <a:solidFill>
                              <a:srgbClr val="000000"/>
                            </a:solidFill>
                            <a:latin typeface="Cambria Math" panose="02040503050406030204" pitchFamily="18" charset="0"/>
                          </a:rPr>
                          <m:t>𝑃</m:t>
                        </m:r>
                        <m:d>
                          <m:dPr>
                            <m:ctrlPr>
                              <a:rPr sz="3600" i="1">
                                <a:solidFill>
                                  <a:srgbClr val="000000"/>
                                </a:solidFill>
                                <a:latin typeface="Cambria Math" panose="02040503050406030204" pitchFamily="18" charset="0"/>
                              </a:rPr>
                            </m:ctrlPr>
                          </m:dPr>
                          <m:e>
                            <m:sSub>
                              <m:sSubPr>
                                <m:ctrlPr>
                                  <a:rPr sz="3600" i="1">
                                    <a:solidFill>
                                      <a:srgbClr val="000000"/>
                                    </a:solidFill>
                                    <a:latin typeface="Cambria Math" panose="02040503050406030204" pitchFamily="18" charset="0"/>
                                  </a:rPr>
                                </m:ctrlPr>
                              </m:sSubPr>
                              <m:e>
                                <m:r>
                                  <a:rPr sz="3600" i="1">
                                    <a:solidFill>
                                      <a:srgbClr val="00B050"/>
                                    </a:solidFill>
                                    <a:latin typeface="Cambria Math" panose="02040503050406030204" pitchFamily="18" charset="0"/>
                                  </a:rPr>
                                  <m:t>𝑋</m:t>
                                </m:r>
                              </m:e>
                              <m:sub>
                                <m:r>
                                  <a:rPr sz="3600" i="1">
                                    <a:solidFill>
                                      <a:srgbClr val="00B050"/>
                                    </a:solidFill>
                                    <a:latin typeface="Cambria Math" panose="02040503050406030204" pitchFamily="18" charset="0"/>
                                  </a:rPr>
                                  <m:t>𝑖</m:t>
                                </m:r>
                                <m:r>
                                  <a:rPr sz="3600" i="1">
                                    <a:solidFill>
                                      <a:srgbClr val="00B050"/>
                                    </a:solidFill>
                                    <a:latin typeface="Cambria Math" panose="02040503050406030204" pitchFamily="18" charset="0"/>
                                  </a:rPr>
                                  <m:t>+1</m:t>
                                </m:r>
                              </m:sub>
                            </m:sSub>
                          </m:e>
                          <m:e>
                            <m:sSub>
                              <m:sSubPr>
                                <m:ctrlPr>
                                  <a:rPr sz="3600" i="1">
                                    <a:solidFill>
                                      <a:srgbClr val="00B050"/>
                                    </a:solidFill>
                                    <a:latin typeface="Cambria Math" panose="02040503050406030204" pitchFamily="18" charset="0"/>
                                  </a:rPr>
                                </m:ctrlPr>
                              </m:sSubPr>
                              <m:e>
                                <m:r>
                                  <a:rPr sz="3600" i="1">
                                    <a:solidFill>
                                      <a:srgbClr val="C82506"/>
                                    </a:solidFill>
                                    <a:latin typeface="Cambria Math" panose="02040503050406030204" pitchFamily="18" charset="0"/>
                                  </a:rPr>
                                  <m:t>𝑋</m:t>
                                </m:r>
                              </m:e>
                              <m:sub>
                                <m:r>
                                  <a:rPr sz="3600" i="1">
                                    <a:solidFill>
                                      <a:srgbClr val="C82506"/>
                                    </a:solidFill>
                                    <a:latin typeface="Cambria Math" panose="02040503050406030204" pitchFamily="18" charset="0"/>
                                  </a:rPr>
                                  <m:t>𝑖</m:t>
                                </m:r>
                              </m:sub>
                            </m:sSub>
                            <m:r>
                              <a:rPr sz="3600" i="1">
                                <a:solidFill>
                                  <a:srgbClr val="C82506"/>
                                </a:solidFill>
                                <a:latin typeface="Cambria Math" panose="02040503050406030204" pitchFamily="18" charset="0"/>
                              </a:rPr>
                              <m:t>=</m:t>
                            </m:r>
                            <m:sSub>
                              <m:sSubPr>
                                <m:ctrlPr>
                                  <a:rPr sz="3600" i="1">
                                    <a:solidFill>
                                      <a:srgbClr val="C82506"/>
                                    </a:solidFill>
                                    <a:latin typeface="Cambria Math" panose="02040503050406030204" pitchFamily="18" charset="0"/>
                                  </a:rPr>
                                </m:ctrlPr>
                              </m:sSubPr>
                              <m:e>
                                <m:r>
                                  <a:rPr sz="3600" i="1">
                                    <a:solidFill>
                                      <a:srgbClr val="C82506"/>
                                    </a:solidFill>
                                    <a:latin typeface="Cambria Math" panose="02040503050406030204" pitchFamily="18" charset="0"/>
                                  </a:rPr>
                                  <m:t>𝑥</m:t>
                                </m:r>
                              </m:e>
                              <m:sub>
                                <m:r>
                                  <a:rPr sz="3600" i="1">
                                    <a:solidFill>
                                      <a:srgbClr val="C82506"/>
                                    </a:solidFill>
                                    <a:latin typeface="Cambria Math" panose="02040503050406030204" pitchFamily="18" charset="0"/>
                                  </a:rPr>
                                  <m:t>𝑖</m:t>
                                </m:r>
                              </m:sub>
                            </m:sSub>
                            <m:r>
                              <a:rPr sz="3600" i="1">
                                <a:solidFill>
                                  <a:srgbClr val="000000"/>
                                </a:solidFill>
                                <a:latin typeface="Cambria Math" panose="02040503050406030204" pitchFamily="18" charset="0"/>
                              </a:rPr>
                              <m:t> </m:t>
                            </m:r>
                          </m:e>
                        </m:d>
                      </m:oMath>
                    </m:oMathPara>
                  </a14:m>
                  <a:endParaRPr sz="3600"/>
                </a:p>
              </p:txBody>
            </p:sp>
          </mc:Choice>
          <mc:Fallback xmlns="">
            <p:sp>
              <p:nvSpPr>
                <p:cNvPr id="221" name="CasetăText 7"/>
                <p:cNvSpPr txBox="1">
                  <a:spLocks noRot="1" noChangeAspect="1" noMove="1" noResize="1" noEditPoints="1" noAdjustHandles="1" noChangeArrowheads="1" noChangeShapeType="1" noTextEdit="1"/>
                </p:cNvSpPr>
                <p:nvPr/>
              </p:nvSpPr>
              <p:spPr>
                <a:xfrm>
                  <a:off x="0" y="6606402"/>
                  <a:ext cx="11290658" cy="715354"/>
                </a:xfrm>
                <a:prstGeom prst="rect">
                  <a:avLst/>
                </a:prstGeom>
                <a:blipFill>
                  <a:blip r:embed="rId4"/>
                  <a:stretch>
                    <a:fillRect l="-1348" t="-8772" r="-2360" b="-5263"/>
                  </a:stretch>
                </a:blipFill>
                <a:ln w="12700" cap="flat">
                  <a:noFill/>
                  <a:miter lim="400000"/>
                </a:ln>
                <a:effectLst/>
              </p:spPr>
              <p:txBody>
                <a:bodyPr/>
                <a:lstStyle/>
                <a:p>
                  <a:r>
                    <a:rPr lang="en-US">
                      <a:noFill/>
                    </a:rPr>
                    <a:t> </a:t>
                  </a:r>
                </a:p>
              </p:txBody>
            </p:sp>
          </mc:Fallback>
        </mc:AlternateContent>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8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8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83">
                                            <p:txEl>
                                              <p:pRg st="1" end="1"/>
                                            </p:txEl>
                                          </p:spTgt>
                                        </p:tgtEl>
                                        <p:attrNameLst>
                                          <p:attrName>style.visibility</p:attrName>
                                        </p:attrNameLst>
                                      </p:cBhvr>
                                      <p:to>
                                        <p:strVal val="visible"/>
                                      </p:to>
                                    </p:set>
                                  </p:childTnLst>
                                </p:cTn>
                              </p:par>
                              <p:par>
                                <p:cTn id="13" presetID="1" presetClass="entr" presetSubtype="0" fill="hold" grpId="1" nodeType="withEffect">
                                  <p:stCondLst>
                                    <p:cond delay="0"/>
                                  </p:stCondLst>
                                  <p:iterate>
                                    <p:tmAbs val="0"/>
                                  </p:iterate>
                                  <p:childTnLst>
                                    <p:set>
                                      <p:cBhvr>
                                        <p:cTn id="14" fill="hold"/>
                                        <p:tgtEl>
                                          <p:spTgt spid="183">
                                            <p:txEl>
                                              <p:pRg st="2" end="2"/>
                                            </p:txEl>
                                          </p:spTgt>
                                        </p:tgtEl>
                                        <p:attrNameLst>
                                          <p:attrName>style.visibility</p:attrName>
                                        </p:attrNameLst>
                                      </p:cBhvr>
                                      <p:to>
                                        <p:strVal val="visible"/>
                                      </p:to>
                                    </p:set>
                                  </p:childTnLst>
                                </p:cTn>
                              </p:par>
                              <p:par>
                                <p:cTn id="15" presetID="1" presetClass="entr" presetSubtype="0" fill="hold" grpId="1" nodeType="withEffect">
                                  <p:stCondLst>
                                    <p:cond delay="0"/>
                                  </p:stCondLst>
                                  <p:iterate>
                                    <p:tmAbs val="0"/>
                                  </p:iterate>
                                  <p:childTnLst>
                                    <p:set>
                                      <p:cBhvr>
                                        <p:cTn id="16" fill="hold"/>
                                        <p:tgtEl>
                                          <p:spTgt spid="183">
                                            <p:txEl>
                                              <p:pRg st="3" end="3"/>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2" nodeType="afterEffect">
                                  <p:stCondLst>
                                    <p:cond delay="0"/>
                                  </p:stCondLst>
                                  <p:iterate>
                                    <p:tmAbs val="0"/>
                                  </p:iterate>
                                  <p:childTnLst>
                                    <p:set>
                                      <p:cBhvr>
                                        <p:cTn id="19" fill="hold"/>
                                        <p:tgtEl>
                                          <p:spTgt spid="22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1" nodeType="clickEffect">
                                  <p:stCondLst>
                                    <p:cond delay="0"/>
                                  </p:stCondLst>
                                  <p:iterate>
                                    <p:tmAbs val="0"/>
                                  </p:iterate>
                                  <p:childTnLst>
                                    <p:set>
                                      <p:cBhvr>
                                        <p:cTn id="23" fill="hold"/>
                                        <p:tgtEl>
                                          <p:spTgt spid="183">
                                            <p:txEl>
                                              <p:pRg st="4" end="4"/>
                                            </p:txEl>
                                          </p:spTgt>
                                        </p:tgtEl>
                                        <p:attrNameLst>
                                          <p:attrName>style.visibility</p:attrName>
                                        </p:attrNameLst>
                                      </p:cBhvr>
                                      <p:to>
                                        <p:strVal val="visible"/>
                                      </p:to>
                                    </p:set>
                                  </p:childTnLst>
                                </p:cTn>
                              </p:par>
                              <p:par>
                                <p:cTn id="24" presetID="1" presetClass="entr" presetSubtype="0" fill="hold" grpId="1" nodeType="withEffect">
                                  <p:stCondLst>
                                    <p:cond delay="0"/>
                                  </p:stCondLst>
                                  <p:iterate>
                                    <p:tmAbs val="0"/>
                                  </p:iterate>
                                  <p:childTnLst>
                                    <p:set>
                                      <p:cBhvr>
                                        <p:cTn id="25" fill="hold"/>
                                        <p:tgtEl>
                                          <p:spTgt spid="1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1" build="p" animBg="1" advAuto="0"/>
      <p:bldP spid="222" grpId="2"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Molecular Mechanics Potential Energy"/>
          <p:cNvSpPr txBox="1">
            <a:spLocks noGrp="1"/>
          </p:cNvSpPr>
          <p:nvPr>
            <p:ph type="title"/>
          </p:nvPr>
        </p:nvSpPr>
        <p:spPr>
          <a:prstGeom prst="rect">
            <a:avLst/>
          </a:prstGeom>
        </p:spPr>
        <p:txBody>
          <a:bodyPr/>
          <a:lstStyle>
            <a:lvl1pPr defTabSz="722947">
              <a:defRPr sz="9800"/>
            </a:lvl1pPr>
          </a:lstStyle>
          <a:p>
            <a:r>
              <a:t>Representing Transition Probabilities</a:t>
            </a:r>
          </a:p>
        </p:txBody>
      </p:sp>
      <p:sp>
        <p:nvSpPr>
          <p:cNvPr id="225" name="Slide Number"/>
          <p:cNvSpPr txBox="1">
            <a:spLocks noGrp="1"/>
          </p:cNvSpPr>
          <p:nvPr>
            <p:ph type="sldNum" sz="quarter" idx="4294967295"/>
          </p:nvPr>
        </p:nvSpPr>
        <p:spPr>
          <a:xfrm>
            <a:off x="11935814" y="13010554"/>
            <a:ext cx="494513" cy="5111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13</a:t>
            </a:fld>
            <a:endParaRPr/>
          </a:p>
        </p:txBody>
      </p:sp>
      <mc:AlternateContent xmlns:mc="http://schemas.openxmlformats.org/markup-compatibility/2006" xmlns:a14="http://schemas.microsoft.com/office/drawing/2010/main">
        <mc:Choice Requires="a14">
          <p:sp>
            <p:nvSpPr>
              <p:cNvPr id="226" name="Quantum mechanics…"/>
              <p:cNvSpPr txBox="1">
                <a:spLocks noGrp="1"/>
              </p:cNvSpPr>
              <p:nvPr>
                <p:ph type="body" idx="1"/>
              </p:nvPr>
            </p:nvSpPr>
            <p:spPr>
              <a:xfrm>
                <a:off x="735584" y="2635504"/>
                <a:ext cx="23114001" cy="9842501"/>
              </a:xfrm>
              <a:prstGeom prst="rect">
                <a:avLst/>
              </a:prstGeom>
            </p:spPr>
            <p:txBody>
              <a:bodyPr numCol="2" spcCol="1155700"/>
              <a:lstStyle/>
              <a:p>
                <a:pPr marL="598839" indent="-598839" defTabSz="796884">
                  <a:defRPr sz="4800"/>
                </a:pPr>
                <a:r>
                  <a:rPr dirty="0"/>
                  <a:t>Graphs</a:t>
                </a:r>
              </a:p>
              <a:p>
                <a:pPr marL="1043339" lvl="1" indent="-598840" defTabSz="796884">
                  <a:defRPr sz="4800"/>
                </a:pPr>
                <a:r>
                  <a:rPr dirty="0"/>
                  <a:t>nodes are states</a:t>
                </a:r>
              </a:p>
              <a:p>
                <a:pPr marL="1043339" lvl="1" indent="-598840" defTabSz="796884">
                  <a:defRPr sz="4800"/>
                </a:pPr>
                <a:r>
                  <a:rPr dirty="0"/>
                  <a:t>edges are transition probabilities</a:t>
                </a:r>
              </a:p>
              <a:p>
                <a:pPr marL="0" indent="0" algn="ctr" defTabSz="796884">
                  <a:spcBef>
                    <a:spcPts val="2400"/>
                  </a:spcBef>
                  <a:buSzTx/>
                  <a:buNone/>
                  <a:defRPr sz="4800"/>
                </a:pPr>
                <a:endParaRPr dirty="0"/>
              </a:p>
              <a:p>
                <a:pPr marL="598839" indent="-598839" defTabSz="796884">
                  <a:defRPr sz="4800"/>
                </a:pPr>
                <a:endParaRPr lang="en-US" dirty="0"/>
              </a:p>
              <a:p>
                <a:pPr marL="598839" indent="-598839" defTabSz="796884">
                  <a:defRPr sz="4800"/>
                </a:pPr>
                <a:endParaRPr lang="en-US" dirty="0"/>
              </a:p>
              <a:p>
                <a:pPr marL="598839" indent="-598839" defTabSz="796884">
                  <a:defRPr sz="4800"/>
                </a:pPr>
                <a:endParaRPr lang="en-US" dirty="0"/>
              </a:p>
              <a:p>
                <a:pPr marL="598839" indent="-598839" defTabSz="796884">
                  <a:defRPr sz="4800"/>
                </a:pPr>
                <a:endParaRPr lang="en-US" dirty="0"/>
              </a:p>
              <a:p>
                <a:pPr marL="598839" indent="-598839" defTabSz="796884">
                  <a:defRPr sz="4800"/>
                </a:pPr>
                <a:endParaRPr lang="en-US" dirty="0"/>
              </a:p>
              <a:p>
                <a:pPr marL="598839" indent="-598839" defTabSz="796884">
                  <a:defRPr sz="4800"/>
                </a:pPr>
                <a:endParaRPr lang="en-US" dirty="0"/>
              </a:p>
              <a:p>
                <a:pPr marL="598839" indent="-598839" defTabSz="796884">
                  <a:defRPr sz="4800"/>
                </a:pPr>
                <a:endParaRPr lang="en-US" dirty="0"/>
              </a:p>
              <a:p>
                <a:pPr marL="598839" indent="-598839" defTabSz="796884">
                  <a:defRPr sz="4800"/>
                </a:pPr>
                <a:endParaRPr lang="en-US" dirty="0"/>
              </a:p>
              <a:p>
                <a:pPr marL="598839" indent="-598839" defTabSz="796884">
                  <a:defRPr sz="4800"/>
                </a:pPr>
                <a:r>
                  <a:rPr dirty="0"/>
                  <a:t>Matrices</a:t>
                </a:r>
              </a:p>
              <a:p>
                <a:pPr marL="1043339" lvl="1" indent="-598840" defTabSz="796884">
                  <a:defRPr sz="4800"/>
                </a:pPr>
                <a:r>
                  <a:rPr dirty="0"/>
                  <a:t>with </a:t>
                </a:r>
                <a14:m>
                  <m:oMath xmlns:m="http://schemas.openxmlformats.org/officeDocument/2006/math">
                    <m:r>
                      <a:rPr sz="5850" i="1">
                        <a:solidFill>
                          <a:srgbClr val="000000"/>
                        </a:solidFill>
                        <a:latin typeface="Cambria Math" panose="02040503050406030204" pitchFamily="18" charset="0"/>
                      </a:rPr>
                      <m:t>𝑃𝑟</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𝑗</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𝑖</m:t>
                    </m:r>
                    <m:r>
                      <a:rPr sz="5850" i="1">
                        <a:solidFill>
                          <a:srgbClr val="000000"/>
                        </a:solidFill>
                        <a:latin typeface="Cambria Math" panose="02040503050406030204" pitchFamily="18" charset="0"/>
                      </a:rPr>
                      <m:t>)=</m:t>
                    </m:r>
                    <m:sSub>
                      <m:sSubPr>
                        <m:ctrlPr>
                          <a:rPr sz="5850" i="1">
                            <a:solidFill>
                              <a:srgbClr val="000000"/>
                            </a:solidFill>
                            <a:latin typeface="Cambria Math" panose="02040503050406030204" pitchFamily="18" charset="0"/>
                          </a:rPr>
                        </m:ctrlPr>
                      </m:sSubPr>
                      <m:e>
                        <m:r>
                          <a:rPr sz="5850" i="1">
                            <a:solidFill>
                              <a:srgbClr val="000000"/>
                            </a:solidFill>
                            <a:latin typeface="Cambria Math" panose="02040503050406030204" pitchFamily="18" charset="0"/>
                          </a:rPr>
                          <m:t>𝑃</m:t>
                        </m:r>
                      </m:e>
                      <m:sub>
                        <m:r>
                          <a:rPr sz="5850" i="1">
                            <a:solidFill>
                              <a:srgbClr val="000000"/>
                            </a:solidFill>
                            <a:latin typeface="Cambria Math" panose="02040503050406030204" pitchFamily="18" charset="0"/>
                          </a:rPr>
                          <m:t>𝑖</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𝑗</m:t>
                        </m:r>
                      </m:sub>
                    </m:sSub>
                  </m:oMath>
                </a14:m>
                <a:r>
                  <a:rPr dirty="0"/>
                  <a:t>. </a:t>
                </a:r>
              </a:p>
              <a:p>
                <a:pPr marL="1043339" lvl="1" indent="-598840" defTabSz="796884">
                  <a:defRPr sz="4800"/>
                </a:pPr>
                <a:r>
                  <a:rPr dirty="0"/>
                  <a:t>Transition matrices satisfy </a:t>
                </a:r>
                <a14:m>
                  <m:oMath xmlns:m="http://schemas.openxmlformats.org/officeDocument/2006/math">
                    <m:limUpp>
                      <m:limUppPr>
                        <m:ctrlPr>
                          <a:rPr sz="5850" i="1">
                            <a:solidFill>
                              <a:srgbClr val="000000"/>
                            </a:solidFill>
                            <a:latin typeface="Cambria Math" panose="02040503050406030204" pitchFamily="18" charset="0"/>
                          </a:rPr>
                        </m:ctrlPr>
                      </m:limUppPr>
                      <m:e>
                        <m:limLow>
                          <m:limLowPr>
                            <m:ctrlPr>
                              <a:rPr sz="5850" i="1">
                                <a:solidFill>
                                  <a:srgbClr val="000000"/>
                                </a:solidFill>
                                <a:latin typeface="Cambria Math" panose="02040503050406030204" pitchFamily="18" charset="0"/>
                              </a:rPr>
                            </m:ctrlPr>
                          </m:limLowPr>
                          <m:e>
                            <m:r>
                              <a:rPr sz="5850" i="1">
                                <a:solidFill>
                                  <a:srgbClr val="000000"/>
                                </a:solidFill>
                                <a:latin typeface="Cambria Math" panose="02040503050406030204" pitchFamily="18" charset="0"/>
                              </a:rPr>
                              <m:t>∑</m:t>
                            </m:r>
                          </m:e>
                          <m:lim>
                            <m:r>
                              <a:rPr sz="5850" i="1">
                                <a:solidFill>
                                  <a:srgbClr val="000000"/>
                                </a:solidFill>
                                <a:latin typeface="Cambria Math" panose="02040503050406030204" pitchFamily="18" charset="0"/>
                              </a:rPr>
                              <m:t>𝑗</m:t>
                            </m:r>
                            <m:r>
                              <a:rPr sz="5850" i="1">
                                <a:solidFill>
                                  <a:srgbClr val="000000"/>
                                </a:solidFill>
                                <a:latin typeface="Cambria Math" panose="02040503050406030204" pitchFamily="18" charset="0"/>
                              </a:rPr>
                              <m:t>=1</m:t>
                            </m:r>
                          </m:lim>
                        </m:limLow>
                      </m:e>
                      <m:lim>
                        <m:r>
                          <a:rPr sz="5850" i="1">
                            <a:solidFill>
                              <a:srgbClr val="000000"/>
                            </a:solidFill>
                            <a:latin typeface="Cambria Math" panose="02040503050406030204" pitchFamily="18" charset="0"/>
                          </a:rPr>
                          <m:t>𝛼</m:t>
                        </m:r>
                      </m:lim>
                    </m:limUpp>
                    <m:sSub>
                      <m:sSubPr>
                        <m:ctrlPr>
                          <a:rPr sz="5850" i="1">
                            <a:solidFill>
                              <a:srgbClr val="000000"/>
                            </a:solidFill>
                            <a:latin typeface="Cambria Math" panose="02040503050406030204" pitchFamily="18" charset="0"/>
                          </a:rPr>
                        </m:ctrlPr>
                      </m:sSubPr>
                      <m:e>
                        <m:r>
                          <a:rPr sz="5850" i="1">
                            <a:solidFill>
                              <a:srgbClr val="000000"/>
                            </a:solidFill>
                            <a:latin typeface="Cambria Math" panose="02040503050406030204" pitchFamily="18" charset="0"/>
                          </a:rPr>
                          <m:t>𝑃</m:t>
                        </m:r>
                      </m:e>
                      <m:sub>
                        <m:r>
                          <a:rPr sz="5850" i="1">
                            <a:solidFill>
                              <a:srgbClr val="000000"/>
                            </a:solidFill>
                            <a:latin typeface="Cambria Math" panose="02040503050406030204" pitchFamily="18" charset="0"/>
                          </a:rPr>
                          <m:t>𝑖</m:t>
                        </m:r>
                        <m:r>
                          <a:rPr sz="5850" i="1">
                            <a:solidFill>
                              <a:srgbClr val="000000"/>
                            </a:solidFill>
                            <a:latin typeface="Cambria Math" panose="02040503050406030204" pitchFamily="18" charset="0"/>
                          </a:rPr>
                          <m:t>,</m:t>
                        </m:r>
                        <m:r>
                          <a:rPr sz="5850" i="1">
                            <a:solidFill>
                              <a:srgbClr val="000000"/>
                            </a:solidFill>
                            <a:latin typeface="Cambria Math" panose="02040503050406030204" pitchFamily="18" charset="0"/>
                          </a:rPr>
                          <m:t>𝑗</m:t>
                        </m:r>
                      </m:sub>
                    </m:sSub>
                    <m:r>
                      <a:rPr sz="5850" i="1">
                        <a:solidFill>
                          <a:srgbClr val="000000"/>
                        </a:solidFill>
                        <a:latin typeface="Cambria Math" panose="02040503050406030204" pitchFamily="18" charset="0"/>
                      </a:rPr>
                      <m:t>=1</m:t>
                    </m:r>
                  </m:oMath>
                </a14:m>
                <a:endParaRPr dirty="0"/>
              </a:p>
              <a:p>
                <a:pPr marL="0" indent="0" algn="ctr" defTabSz="796884">
                  <a:spcBef>
                    <a:spcPts val="2400"/>
                  </a:spcBef>
                  <a:buSzTx/>
                  <a:buNone/>
                  <a:defRPr sz="4800"/>
                </a:pPr>
                <a:endParaRPr dirty="0"/>
              </a:p>
            </p:txBody>
          </p:sp>
        </mc:Choice>
        <mc:Fallback xmlns="">
          <p:sp>
            <p:nvSpPr>
              <p:cNvPr id="226" name="Quantum mechanics…"/>
              <p:cNvSpPr txBox="1">
                <a:spLocks noGrp="1" noRot="1" noChangeAspect="1" noMove="1" noResize="1" noEditPoints="1" noAdjustHandles="1" noChangeArrowheads="1" noChangeShapeType="1" noTextEdit="1"/>
              </p:cNvSpPr>
              <p:nvPr>
                <p:ph type="body" idx="1"/>
              </p:nvPr>
            </p:nvSpPr>
            <p:spPr>
              <a:xfrm>
                <a:off x="735584" y="2635504"/>
                <a:ext cx="23114001" cy="9842501"/>
              </a:xfrm>
              <a:prstGeom prst="rect">
                <a:avLst/>
              </a:prstGeom>
              <a:blipFill>
                <a:blip r:embed="rId2"/>
                <a:stretch>
                  <a:fillRect l="-714"/>
                </a:stretch>
              </a:blipFill>
            </p:spPr>
            <p:txBody>
              <a:bodyPr/>
              <a:lstStyle/>
              <a:p>
                <a:r>
                  <a:rPr lang="en-US">
                    <a:noFill/>
                  </a:rPr>
                  <a:t> </a:t>
                </a:r>
              </a:p>
            </p:txBody>
          </p:sp>
        </mc:Fallback>
      </mc:AlternateContent>
      <p:pic>
        <p:nvPicPr>
          <p:cNvPr id="227" name="Image" descr="Image"/>
          <p:cNvPicPr>
            <a:picLocks noChangeAspect="1"/>
          </p:cNvPicPr>
          <p:nvPr/>
        </p:nvPicPr>
        <p:blipFill>
          <a:blip r:embed="rId3"/>
          <a:stretch>
            <a:fillRect/>
          </a:stretch>
        </p:blipFill>
        <p:spPr>
          <a:xfrm>
            <a:off x="735584" y="5446874"/>
            <a:ext cx="8951215" cy="2431460"/>
          </a:xfrm>
          <a:prstGeom prst="rect">
            <a:avLst/>
          </a:prstGeom>
          <a:ln w="12700">
            <a:miter lim="400000"/>
          </a:ln>
        </p:spPr>
      </p:pic>
      <p:grpSp>
        <p:nvGrpSpPr>
          <p:cNvPr id="232" name="Group"/>
          <p:cNvGrpSpPr/>
          <p:nvPr/>
        </p:nvGrpSpPr>
        <p:grpSpPr>
          <a:xfrm>
            <a:off x="12430327" y="7878334"/>
            <a:ext cx="11316599" cy="2169924"/>
            <a:chOff x="0" y="0"/>
            <a:chExt cx="11316598" cy="2169923"/>
          </a:xfrm>
        </p:grpSpPr>
        <mc:AlternateContent xmlns:mc="http://schemas.openxmlformats.org/markup-compatibility/2006" xmlns:a14="http://schemas.microsoft.com/office/drawing/2010/main">
          <mc:Choice Requires="a14">
            <p:sp>
              <p:nvSpPr>
                <p:cNvPr id="228" name="CasetăText 40"/>
                <p:cNvSpPr txBox="1"/>
                <p:nvPr/>
              </p:nvSpPr>
              <p:spPr>
                <a:xfrm>
                  <a:off x="0" y="889001"/>
                  <a:ext cx="3604749" cy="1280923"/>
                </a:xfrm>
                <a:prstGeom prst="rect">
                  <a:avLst/>
                </a:prstGeom>
                <a:noFill/>
                <a:ln w="12700" cap="flat">
                  <a:noFill/>
                  <a:miter lim="400000"/>
                </a:ln>
                <a:effectLst/>
              </p:spPr>
              <p:txBody>
                <a:bodyPr wrap="none" lIns="0" tIns="0" rIns="0" bIns="0">
                  <a:spAutoFit/>
                </a:bodyPr>
                <a:lstStyle/>
                <a:p>
                  <a:pPr algn="l" defTabSz="914400" latinLnBrk="1">
                    <a:defRPr sz="1800"/>
                  </a:pPr>
                  <a14:m>
                    <m:oMathPara xmlns:m="http://schemas.openxmlformats.org/officeDocument/2006/math">
                      <m:oMathParaPr>
                        <m:jc m:val="centerGroup"/>
                      </m:oMathParaPr>
                      <m:oMath xmlns:m="http://schemas.openxmlformats.org/officeDocument/2006/math">
                        <m:r>
                          <a:rPr sz="4100" i="1">
                            <a:solidFill>
                              <a:srgbClr val="000000"/>
                            </a:solidFill>
                            <a:latin typeface="Cambria Math" panose="02040503050406030204" pitchFamily="18" charset="0"/>
                          </a:rPr>
                          <m:t>𝑄</m:t>
                        </m:r>
                        <m:r>
                          <a:rPr sz="4100" i="1">
                            <a:solidFill>
                              <a:srgbClr val="000000"/>
                            </a:solidFill>
                            <a:latin typeface="Cambria Math" panose="02040503050406030204" pitchFamily="18" charset="0"/>
                          </a:rPr>
                          <m:t>=</m:t>
                        </m:r>
                        <m:d>
                          <m:dPr>
                            <m:ctrlPr>
                              <a:rPr sz="4100" i="1">
                                <a:solidFill>
                                  <a:srgbClr val="000000"/>
                                </a:solidFill>
                                <a:latin typeface="Cambria Math" panose="02040503050406030204" pitchFamily="18" charset="0"/>
                              </a:rPr>
                            </m:ctrlPr>
                          </m:dPr>
                          <m:e>
                            <m:m>
                              <m:mPr>
                                <m:plcHide m:val="on"/>
                                <m:mcs>
                                  <m:mc>
                                    <m:mcPr>
                                      <m:count m:val="2"/>
                                      <m:mcJc m:val="center"/>
                                    </m:mcPr>
                                  </m:mc>
                                </m:mcs>
                                <m:ctrlPr>
                                  <a:rPr sz="4100" i="1">
                                    <a:solidFill>
                                      <a:srgbClr val="000000"/>
                                    </a:solidFill>
                                    <a:latin typeface="Cambria Math" panose="02040503050406030204" pitchFamily="18" charset="0"/>
                                  </a:rPr>
                                </m:ctrlPr>
                              </m:mPr>
                              <m:mr>
                                <m:e>
                                  <m:r>
                                    <a:rPr sz="4100" i="1">
                                      <a:solidFill>
                                        <a:srgbClr val="000000"/>
                                      </a:solidFill>
                                      <a:latin typeface="Cambria Math" panose="02040503050406030204" pitchFamily="18" charset="0"/>
                                    </a:rPr>
                                    <m:t>0.9</m:t>
                                  </m:r>
                                </m:e>
                                <m:e>
                                  <m:r>
                                    <a:rPr sz="4100" i="1">
                                      <a:solidFill>
                                        <a:srgbClr val="000000"/>
                                      </a:solidFill>
                                      <a:latin typeface="Cambria Math" panose="02040503050406030204" pitchFamily="18" charset="0"/>
                                    </a:rPr>
                                    <m:t>0.1</m:t>
                                  </m:r>
                                </m:e>
                              </m:mr>
                              <m:mr>
                                <m:e>
                                  <m:r>
                                    <a:rPr sz="4100" i="1">
                                      <a:solidFill>
                                        <a:srgbClr val="000000"/>
                                      </a:solidFill>
                                      <a:latin typeface="Cambria Math" panose="02040503050406030204" pitchFamily="18" charset="0"/>
                                    </a:rPr>
                                    <m:t>0.5</m:t>
                                  </m:r>
                                </m:e>
                                <m:e>
                                  <m:r>
                                    <a:rPr sz="4100" i="1">
                                      <a:solidFill>
                                        <a:srgbClr val="000000"/>
                                      </a:solidFill>
                                      <a:latin typeface="Cambria Math" panose="02040503050406030204" pitchFamily="18" charset="0"/>
                                    </a:rPr>
                                    <m:t>0.5</m:t>
                                  </m:r>
                                </m:e>
                              </m:mr>
                            </m:m>
                          </m:e>
                        </m:d>
                      </m:oMath>
                    </m:oMathPara>
                  </a14:m>
                  <a:endParaRPr sz="4100" dirty="0"/>
                </a:p>
              </p:txBody>
            </p:sp>
          </mc:Choice>
          <mc:Fallback xmlns="">
            <p:sp>
              <p:nvSpPr>
                <p:cNvPr id="228" name="CasetăText 40"/>
                <p:cNvSpPr txBox="1">
                  <a:spLocks noRot="1" noChangeAspect="1" noMove="1" noResize="1" noEditPoints="1" noAdjustHandles="1" noChangeArrowheads="1" noChangeShapeType="1" noTextEdit="1"/>
                </p:cNvSpPr>
                <p:nvPr/>
              </p:nvSpPr>
              <p:spPr>
                <a:xfrm>
                  <a:off x="0" y="889001"/>
                  <a:ext cx="3604749" cy="1280923"/>
                </a:xfrm>
                <a:prstGeom prst="rect">
                  <a:avLst/>
                </a:prstGeom>
                <a:blipFill>
                  <a:blip r:embed="rId4"/>
                  <a:stretch>
                    <a:fillRect l="-4211" t="-1961"/>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9" name="CasetăText 41"/>
                <p:cNvSpPr txBox="1"/>
                <p:nvPr/>
              </p:nvSpPr>
              <p:spPr>
                <a:xfrm>
                  <a:off x="7271577" y="950672"/>
                  <a:ext cx="2411505" cy="492640"/>
                </a:xfrm>
                <a:prstGeom prst="rect">
                  <a:avLst/>
                </a:prstGeom>
                <a:noFill/>
                <a:ln w="12700" cap="flat">
                  <a:noFill/>
                  <a:miter lim="400000"/>
                </a:ln>
                <a:effectLst/>
              </p:spPr>
              <p:txBody>
                <a:bodyPr wrap="none" lIns="0" tIns="0" rIns="0" bIns="0">
                  <a:spAutoFit/>
                </a:bodyPr>
                <a:lstStyle/>
                <a:p>
                  <a:pPr algn="l" defTabSz="914400" latinLnBrk="1">
                    <a:defRPr sz="1800"/>
                  </a:pPr>
                  <a14:m>
                    <m:oMathPara xmlns:m="http://schemas.openxmlformats.org/officeDocument/2006/math">
                      <m:oMathParaPr>
                        <m:jc m:val="centerGroup"/>
                      </m:oMathParaPr>
                      <m:oMath xmlns:m="http://schemas.openxmlformats.org/officeDocument/2006/math">
                        <m:sSub>
                          <m:sSubPr>
                            <m:ctrlPr>
                              <a:rPr sz="4100" i="1">
                                <a:solidFill>
                                  <a:srgbClr val="000000"/>
                                </a:solidFill>
                                <a:latin typeface="Cambria Math" panose="02040503050406030204" pitchFamily="18" charset="0"/>
                              </a:rPr>
                            </m:ctrlPr>
                          </m:sSubPr>
                          <m:e>
                            <m:r>
                              <a:rPr sz="4100" i="1">
                                <a:solidFill>
                                  <a:srgbClr val="000000"/>
                                </a:solidFill>
                                <a:latin typeface="Cambria Math" panose="02040503050406030204" pitchFamily="18" charset="0"/>
                              </a:rPr>
                              <m:t>𝝅</m:t>
                            </m:r>
                          </m:e>
                          <m:sub>
                            <m:r>
                              <a:rPr sz="4100" i="1">
                                <a:solidFill>
                                  <a:srgbClr val="000000"/>
                                </a:solidFill>
                                <a:latin typeface="Cambria Math" panose="02040503050406030204" pitchFamily="18" charset="0"/>
                              </a:rPr>
                              <m:t>𝑘</m:t>
                            </m:r>
                            <m:r>
                              <a:rPr sz="4100" i="1">
                                <a:solidFill>
                                  <a:srgbClr val="000000"/>
                                </a:solidFill>
                                <a:latin typeface="Cambria Math" panose="02040503050406030204" pitchFamily="18" charset="0"/>
                              </a:rPr>
                              <m:t>+1</m:t>
                            </m:r>
                          </m:sub>
                        </m:sSub>
                        <m:r>
                          <a:rPr sz="4100" i="1">
                            <a:solidFill>
                              <a:srgbClr val="000000"/>
                            </a:solidFill>
                            <a:latin typeface="Cambria Math" panose="02040503050406030204" pitchFamily="18" charset="0"/>
                          </a:rPr>
                          <m:t>=</m:t>
                        </m:r>
                        <m:sSub>
                          <m:sSubPr>
                            <m:ctrlPr>
                              <a:rPr sz="4100" i="1">
                                <a:solidFill>
                                  <a:srgbClr val="000000"/>
                                </a:solidFill>
                                <a:latin typeface="Cambria Math" panose="02040503050406030204" pitchFamily="18" charset="0"/>
                              </a:rPr>
                            </m:ctrlPr>
                          </m:sSubPr>
                          <m:e>
                            <m:r>
                              <a:rPr sz="4100" i="1">
                                <a:solidFill>
                                  <a:srgbClr val="000000"/>
                                </a:solidFill>
                                <a:latin typeface="Cambria Math" panose="02040503050406030204" pitchFamily="18" charset="0"/>
                              </a:rPr>
                              <m:t>𝝅</m:t>
                            </m:r>
                          </m:e>
                          <m:sub>
                            <m:r>
                              <a:rPr sz="4100" i="1">
                                <a:solidFill>
                                  <a:srgbClr val="000000"/>
                                </a:solidFill>
                                <a:latin typeface="Cambria Math" panose="02040503050406030204" pitchFamily="18" charset="0"/>
                              </a:rPr>
                              <m:t>𝑘</m:t>
                            </m:r>
                          </m:sub>
                        </m:sSub>
                        <m:r>
                          <a:rPr sz="4100" i="1">
                            <a:solidFill>
                              <a:srgbClr val="000000"/>
                            </a:solidFill>
                            <a:latin typeface="Cambria Math" panose="02040503050406030204" pitchFamily="18" charset="0"/>
                          </a:rPr>
                          <m:t>𝑄</m:t>
                        </m:r>
                      </m:oMath>
                    </m:oMathPara>
                  </a14:m>
                  <a:endParaRPr sz="4100"/>
                </a:p>
              </p:txBody>
            </p:sp>
          </mc:Choice>
          <mc:Fallback xmlns="">
            <p:sp>
              <p:nvSpPr>
                <p:cNvPr id="229" name="CasetăText 41"/>
                <p:cNvSpPr txBox="1">
                  <a:spLocks noRot="1" noChangeAspect="1" noMove="1" noResize="1" noEditPoints="1" noAdjustHandles="1" noChangeArrowheads="1" noChangeShapeType="1" noTextEdit="1"/>
                </p:cNvSpPr>
                <p:nvPr/>
              </p:nvSpPr>
              <p:spPr>
                <a:xfrm>
                  <a:off x="7271577" y="950672"/>
                  <a:ext cx="2411505" cy="492640"/>
                </a:xfrm>
                <a:prstGeom prst="rect">
                  <a:avLst/>
                </a:prstGeom>
                <a:blipFill>
                  <a:blip r:embed="rId5"/>
                  <a:stretch>
                    <a:fillRect l="-5236" r="-24084" b="-66667"/>
                  </a:stretch>
                </a:blipFill>
                <a:ln w="12700" cap="flat">
                  <a:noFill/>
                  <a:miter lim="400000"/>
                </a:ln>
                <a:effectLst/>
              </p:spPr>
              <p:txBody>
                <a:bodyPr/>
                <a:lstStyle/>
                <a:p>
                  <a:r>
                    <a:rPr lang="en-US">
                      <a:noFill/>
                    </a:rPr>
                    <a:t> </a:t>
                  </a:r>
                </a:p>
              </p:txBody>
            </p:sp>
          </mc:Fallback>
        </mc:AlternateContent>
        <p:sp>
          <p:nvSpPr>
            <p:cNvPr id="230" name="CasetăText 1"/>
            <p:cNvSpPr txBox="1"/>
            <p:nvPr/>
          </p:nvSpPr>
          <p:spPr>
            <a:xfrm>
              <a:off x="80962" y="0"/>
              <a:ext cx="3452651" cy="71418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6" tIns="71436" rIns="71436" bIns="71436" numCol="1" anchor="ctr">
              <a:noAutofit/>
            </a:bodyPr>
            <a:lstStyle/>
            <a:p>
              <a:r>
                <a:t>transition matrix</a:t>
              </a:r>
            </a:p>
          </p:txBody>
        </p:sp>
        <p:sp>
          <p:nvSpPr>
            <p:cNvPr id="231" name="CasetăText 44"/>
            <p:cNvSpPr txBox="1"/>
            <p:nvPr/>
          </p:nvSpPr>
          <p:spPr>
            <a:xfrm>
              <a:off x="5644808" y="0"/>
              <a:ext cx="5671791" cy="71418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6" tIns="71436" rIns="71436" bIns="71436" numCol="1" anchor="ctr">
              <a:noAutofit/>
            </a:bodyPr>
            <a:lstStyle/>
            <a:p>
              <a:r>
                <a:t>probability vector evolution</a:t>
              </a:r>
            </a:p>
          </p:txBody>
        </p:sp>
      </p:grpSp>
      <p:sp>
        <p:nvSpPr>
          <p:cNvPr id="233" name="If it is sunny on Monday, what is the probability that it is sunny on Tuesday?"/>
          <p:cNvSpPr txBox="1"/>
          <p:nvPr/>
        </p:nvSpPr>
        <p:spPr>
          <a:xfrm>
            <a:off x="5334038" y="11624344"/>
            <a:ext cx="13715924" cy="6254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anchor="ctr">
            <a:spAutoFit/>
          </a:bodyPr>
          <a:lstStyle/>
          <a:p>
            <a:r>
              <a:rPr dirty="0"/>
              <a:t>If it is sunny on Monday, what is the probability that it is sunny on Tuesday?</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2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26">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iterate>
                                    <p:tmAbs val="0"/>
                                  </p:iterate>
                                  <p:childTnLst>
                                    <p:set>
                                      <p:cBhvr>
                                        <p:cTn id="10" fill="hold"/>
                                        <p:tgtEl>
                                          <p:spTgt spid="226">
                                            <p:txEl>
                                              <p:pRg st="1" end="1"/>
                                            </p:txEl>
                                          </p:spTgt>
                                        </p:tgtEl>
                                        <p:attrNameLst>
                                          <p:attrName>style.visibility</p:attrName>
                                        </p:attrNameLst>
                                      </p:cBhvr>
                                      <p:to>
                                        <p:strVal val="visible"/>
                                      </p:to>
                                    </p:set>
                                  </p:childTnLst>
                                </p:cTn>
                              </p:par>
                              <p:par>
                                <p:cTn id="11" presetID="1" presetClass="entr" presetSubtype="0" fill="hold" grpId="1" nodeType="withEffect">
                                  <p:stCondLst>
                                    <p:cond delay="0"/>
                                  </p:stCondLst>
                                  <p:iterate>
                                    <p:tmAbs val="0"/>
                                  </p:iterate>
                                  <p:childTnLst>
                                    <p:set>
                                      <p:cBhvr>
                                        <p:cTn id="12" fill="hold"/>
                                        <p:tgtEl>
                                          <p:spTgt spid="22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iterate>
                                    <p:tmAbs val="0"/>
                                  </p:iterate>
                                  <p:childTnLst>
                                    <p:set>
                                      <p:cBhvr>
                                        <p:cTn id="14" fill="hold"/>
                                        <p:tgtEl>
                                          <p:spTgt spid="227"/>
                                        </p:tgtEl>
                                        <p:attrNameLst>
                                          <p:attrName>style.visibility</p:attrName>
                                        </p:attrNameLst>
                                      </p:cBhvr>
                                      <p:to>
                                        <p:strVal val="visible"/>
                                      </p:to>
                                    </p:set>
                                  </p:childTnLst>
                                </p:cTn>
                              </p:par>
                              <p:par>
                                <p:cTn id="15" presetID="1" presetClass="entr" presetSubtype="0" fill="hold" nodeType="withEffect">
                                  <p:stCondLst>
                                    <p:cond delay="0"/>
                                  </p:stCondLst>
                                  <p:iterate>
                                    <p:tmAbs val="0"/>
                                  </p:iterate>
                                  <p:childTnLst>
                                    <p:set>
                                      <p:cBhvr>
                                        <p:cTn id="16" fill="hold"/>
                                        <p:tgtEl>
                                          <p:spTgt spid="2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26">
                                            <p:txEl>
                                              <p:pRg st="12" end="12"/>
                                            </p:txEl>
                                          </p:spTgt>
                                        </p:tgtEl>
                                        <p:attrNameLst>
                                          <p:attrName>style.visibility</p:attrName>
                                        </p:attrNameLst>
                                      </p:cBhvr>
                                      <p:to>
                                        <p:strVal val="visible"/>
                                      </p:to>
                                    </p:set>
                                  </p:childTnLst>
                                </p:cTn>
                              </p:par>
                              <p:par>
                                <p:cTn id="21" presetID="1" presetClass="entr" presetSubtype="0" fill="hold" grpId="1" nodeType="withEffect">
                                  <p:stCondLst>
                                    <p:cond delay="0"/>
                                  </p:stCondLst>
                                  <p:iterate>
                                    <p:tmAbs val="0"/>
                                  </p:iterate>
                                  <p:childTnLst>
                                    <p:set>
                                      <p:cBhvr>
                                        <p:cTn id="22" fill="hold"/>
                                        <p:tgtEl>
                                          <p:spTgt spid="226">
                                            <p:txEl>
                                              <p:pRg st="13" end="13"/>
                                            </p:txEl>
                                          </p:spTgt>
                                        </p:tgtEl>
                                        <p:attrNameLst>
                                          <p:attrName>style.visibility</p:attrName>
                                        </p:attrNameLst>
                                      </p:cBhvr>
                                      <p:to>
                                        <p:strVal val="visible"/>
                                      </p:to>
                                    </p:set>
                                  </p:childTnLst>
                                </p:cTn>
                              </p:par>
                              <p:par>
                                <p:cTn id="23" presetID="1" presetClass="entr" presetSubtype="0" fill="hold" grpId="1" nodeType="withEffect">
                                  <p:stCondLst>
                                    <p:cond delay="0"/>
                                  </p:stCondLst>
                                  <p:iterate>
                                    <p:tmAbs val="0"/>
                                  </p:iterate>
                                  <p:childTnLst>
                                    <p:set>
                                      <p:cBhvr>
                                        <p:cTn id="24" fill="hold"/>
                                        <p:tgtEl>
                                          <p:spTgt spid="226">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2" nodeType="clickEffect">
                                  <p:stCondLst>
                                    <p:cond delay="0"/>
                                  </p:stCondLst>
                                  <p:iterate>
                                    <p:tmAbs val="0"/>
                                  </p:iterate>
                                  <p:childTnLst>
                                    <p:set>
                                      <p:cBhvr>
                                        <p:cTn id="30" fill="hold"/>
                                        <p:tgtEl>
                                          <p:spTgt spid="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1" build="p" animBg="1" advAuto="0"/>
      <p:bldP spid="233" grpId="2"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Stationary Probability"/>
          <p:cNvSpPr txBox="1">
            <a:spLocks noGrp="1"/>
          </p:cNvSpPr>
          <p:nvPr>
            <p:ph type="title"/>
          </p:nvPr>
        </p:nvSpPr>
        <p:spPr>
          <a:prstGeom prst="rect">
            <a:avLst/>
          </a:prstGeom>
        </p:spPr>
        <p:txBody>
          <a:bodyPr/>
          <a:lstStyle/>
          <a:p>
            <a:r>
              <a:t>Stationary Probability</a:t>
            </a:r>
          </a:p>
        </p:txBody>
      </p:sp>
      <p:sp>
        <p:nvSpPr>
          <p:cNvPr id="236" name="If the probability of Monday being sunny is 1/2, what is the probability of it being sunny on Tuesday?…"/>
          <p:cNvSpPr txBox="1">
            <a:spLocks noGrp="1"/>
          </p:cNvSpPr>
          <p:nvPr>
            <p:ph type="body" idx="1"/>
          </p:nvPr>
        </p:nvSpPr>
        <p:spPr>
          <a:prstGeom prst="rect">
            <a:avLst/>
          </a:prstGeom>
        </p:spPr>
        <p:txBody>
          <a:bodyPr/>
          <a:lstStyle/>
          <a:p>
            <a:pPr marL="0" indent="0" algn="ctr">
              <a:spcBef>
                <a:spcPts val="2400"/>
              </a:spcBef>
              <a:buSzTx/>
              <a:buNone/>
            </a:pPr>
            <a:endParaRPr/>
          </a:p>
          <a:p>
            <a:r>
              <a:t>If the probability of Monday being sunny is 1/2, what is the probability of it being sunny on Tuesday?</a:t>
            </a:r>
          </a:p>
          <a:p>
            <a:pPr lvl="1"/>
            <a:r>
              <a:t>1/2*0.9 + 1/2*0.5 = 0.7</a:t>
            </a:r>
          </a:p>
          <a:p>
            <a:r>
              <a:t>If the probability of Monday being sunny is 5/6, what is the probability of it being sunny on Tuesday?</a:t>
            </a:r>
          </a:p>
          <a:p>
            <a:pPr lvl="1"/>
            <a:r>
              <a:t>5/6*0.9 + 1/6*0.5 = (4.5 + 0.5)/6 = 5/6</a:t>
            </a:r>
          </a:p>
          <a:p>
            <a:r>
              <a:t>This is known as the stationary probability, which does not change under application of the transition matrix</a:t>
            </a:r>
          </a:p>
        </p:txBody>
      </p:sp>
      <p:grpSp>
        <p:nvGrpSpPr>
          <p:cNvPr id="241" name="Group"/>
          <p:cNvGrpSpPr/>
          <p:nvPr/>
        </p:nvGrpSpPr>
        <p:grpSpPr>
          <a:xfrm>
            <a:off x="635000" y="3175000"/>
            <a:ext cx="11316599" cy="2169924"/>
            <a:chOff x="0" y="0"/>
            <a:chExt cx="11316598" cy="2169923"/>
          </a:xfrm>
        </p:grpSpPr>
        <mc:AlternateContent xmlns:mc="http://schemas.openxmlformats.org/markup-compatibility/2006" xmlns:a14="http://schemas.microsoft.com/office/drawing/2010/main">
          <mc:Choice Requires="a14">
            <p:sp>
              <p:nvSpPr>
                <p:cNvPr id="237" name="CasetăText 40"/>
                <p:cNvSpPr txBox="1"/>
                <p:nvPr/>
              </p:nvSpPr>
              <p:spPr>
                <a:xfrm>
                  <a:off x="0" y="889001"/>
                  <a:ext cx="3604749" cy="1280923"/>
                </a:xfrm>
                <a:prstGeom prst="rect">
                  <a:avLst/>
                </a:prstGeom>
                <a:noFill/>
                <a:ln w="12700" cap="flat">
                  <a:noFill/>
                  <a:miter lim="400000"/>
                </a:ln>
                <a:effectLst/>
              </p:spPr>
              <p:txBody>
                <a:bodyPr wrap="none" lIns="0" tIns="0" rIns="0" bIns="0">
                  <a:spAutoFit/>
                </a:bodyPr>
                <a:lstStyle/>
                <a:p>
                  <a:pPr algn="l" defTabSz="914400" latinLnBrk="1">
                    <a:defRPr sz="1800"/>
                  </a:pPr>
                  <a14:m>
                    <m:oMathPara xmlns:m="http://schemas.openxmlformats.org/officeDocument/2006/math">
                      <m:oMathParaPr>
                        <m:jc m:val="centerGroup"/>
                      </m:oMathParaPr>
                      <m:oMath xmlns:m="http://schemas.openxmlformats.org/officeDocument/2006/math">
                        <m:r>
                          <a:rPr sz="4100" i="1">
                            <a:solidFill>
                              <a:srgbClr val="000000"/>
                            </a:solidFill>
                            <a:latin typeface="Cambria Math" panose="02040503050406030204" pitchFamily="18" charset="0"/>
                          </a:rPr>
                          <m:t>𝑄</m:t>
                        </m:r>
                        <m:r>
                          <a:rPr sz="4100" i="1">
                            <a:solidFill>
                              <a:srgbClr val="000000"/>
                            </a:solidFill>
                            <a:latin typeface="Cambria Math" panose="02040503050406030204" pitchFamily="18" charset="0"/>
                          </a:rPr>
                          <m:t>=</m:t>
                        </m:r>
                        <m:d>
                          <m:dPr>
                            <m:ctrlPr>
                              <a:rPr sz="4100" i="1">
                                <a:solidFill>
                                  <a:srgbClr val="000000"/>
                                </a:solidFill>
                                <a:latin typeface="Cambria Math" panose="02040503050406030204" pitchFamily="18" charset="0"/>
                              </a:rPr>
                            </m:ctrlPr>
                          </m:dPr>
                          <m:e>
                            <m:m>
                              <m:mPr>
                                <m:plcHide m:val="on"/>
                                <m:mcs>
                                  <m:mc>
                                    <m:mcPr>
                                      <m:count m:val="2"/>
                                      <m:mcJc m:val="center"/>
                                    </m:mcPr>
                                  </m:mc>
                                </m:mcs>
                                <m:ctrlPr>
                                  <a:rPr sz="4100" i="1">
                                    <a:solidFill>
                                      <a:srgbClr val="000000"/>
                                    </a:solidFill>
                                    <a:latin typeface="Cambria Math" panose="02040503050406030204" pitchFamily="18" charset="0"/>
                                  </a:rPr>
                                </m:ctrlPr>
                              </m:mPr>
                              <m:mr>
                                <m:e>
                                  <m:r>
                                    <a:rPr sz="4100" i="1">
                                      <a:solidFill>
                                        <a:srgbClr val="000000"/>
                                      </a:solidFill>
                                      <a:latin typeface="Cambria Math" panose="02040503050406030204" pitchFamily="18" charset="0"/>
                                    </a:rPr>
                                    <m:t>0.9</m:t>
                                  </m:r>
                                </m:e>
                                <m:e>
                                  <m:r>
                                    <a:rPr sz="4100" i="1">
                                      <a:solidFill>
                                        <a:srgbClr val="000000"/>
                                      </a:solidFill>
                                      <a:latin typeface="Cambria Math" panose="02040503050406030204" pitchFamily="18" charset="0"/>
                                    </a:rPr>
                                    <m:t>0.1</m:t>
                                  </m:r>
                                </m:e>
                              </m:mr>
                              <m:mr>
                                <m:e>
                                  <m:r>
                                    <a:rPr sz="4100" i="1">
                                      <a:solidFill>
                                        <a:srgbClr val="000000"/>
                                      </a:solidFill>
                                      <a:latin typeface="Cambria Math" panose="02040503050406030204" pitchFamily="18" charset="0"/>
                                    </a:rPr>
                                    <m:t>0.5</m:t>
                                  </m:r>
                                </m:e>
                                <m:e>
                                  <m:r>
                                    <a:rPr sz="4100" i="1">
                                      <a:solidFill>
                                        <a:srgbClr val="000000"/>
                                      </a:solidFill>
                                      <a:latin typeface="Cambria Math" panose="02040503050406030204" pitchFamily="18" charset="0"/>
                                    </a:rPr>
                                    <m:t>0.5</m:t>
                                  </m:r>
                                </m:e>
                              </m:mr>
                            </m:m>
                          </m:e>
                        </m:d>
                      </m:oMath>
                    </m:oMathPara>
                  </a14:m>
                  <a:endParaRPr sz="4100"/>
                </a:p>
              </p:txBody>
            </p:sp>
          </mc:Choice>
          <mc:Fallback xmlns="">
            <p:sp>
              <p:nvSpPr>
                <p:cNvPr id="237" name="CasetăText 40"/>
                <p:cNvSpPr txBox="1">
                  <a:spLocks noRot="1" noChangeAspect="1" noMove="1" noResize="1" noEditPoints="1" noAdjustHandles="1" noChangeArrowheads="1" noChangeShapeType="1" noTextEdit="1"/>
                </p:cNvSpPr>
                <p:nvPr/>
              </p:nvSpPr>
              <p:spPr>
                <a:xfrm>
                  <a:off x="0" y="889001"/>
                  <a:ext cx="3604749" cy="1280923"/>
                </a:xfrm>
                <a:prstGeom prst="rect">
                  <a:avLst/>
                </a:prstGeom>
                <a:blipFill>
                  <a:blip r:embed="rId2"/>
                  <a:stretch>
                    <a:fillRect l="-4211" t="-1980"/>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8" name="CasetăText 41"/>
                <p:cNvSpPr txBox="1"/>
                <p:nvPr/>
              </p:nvSpPr>
              <p:spPr>
                <a:xfrm>
                  <a:off x="7271577" y="950672"/>
                  <a:ext cx="2411505" cy="492640"/>
                </a:xfrm>
                <a:prstGeom prst="rect">
                  <a:avLst/>
                </a:prstGeom>
                <a:noFill/>
                <a:ln w="12700" cap="flat">
                  <a:noFill/>
                  <a:miter lim="400000"/>
                </a:ln>
                <a:effectLst/>
              </p:spPr>
              <p:txBody>
                <a:bodyPr wrap="none" lIns="0" tIns="0" rIns="0" bIns="0">
                  <a:spAutoFit/>
                </a:bodyPr>
                <a:lstStyle/>
                <a:p>
                  <a:pPr algn="l" defTabSz="914400" latinLnBrk="1">
                    <a:defRPr sz="1800"/>
                  </a:pPr>
                  <a14:m>
                    <m:oMathPara xmlns:m="http://schemas.openxmlformats.org/officeDocument/2006/math">
                      <m:oMathParaPr>
                        <m:jc m:val="centerGroup"/>
                      </m:oMathParaPr>
                      <m:oMath xmlns:m="http://schemas.openxmlformats.org/officeDocument/2006/math">
                        <m:sSub>
                          <m:sSubPr>
                            <m:ctrlPr>
                              <a:rPr sz="4100" i="1">
                                <a:solidFill>
                                  <a:srgbClr val="000000"/>
                                </a:solidFill>
                                <a:latin typeface="Cambria Math" panose="02040503050406030204" pitchFamily="18" charset="0"/>
                              </a:rPr>
                            </m:ctrlPr>
                          </m:sSubPr>
                          <m:e>
                            <m:r>
                              <a:rPr sz="4100" i="1">
                                <a:solidFill>
                                  <a:srgbClr val="000000"/>
                                </a:solidFill>
                                <a:latin typeface="Cambria Math" panose="02040503050406030204" pitchFamily="18" charset="0"/>
                              </a:rPr>
                              <m:t>𝝅</m:t>
                            </m:r>
                          </m:e>
                          <m:sub>
                            <m:r>
                              <a:rPr sz="4100" i="1">
                                <a:solidFill>
                                  <a:srgbClr val="000000"/>
                                </a:solidFill>
                                <a:latin typeface="Cambria Math" panose="02040503050406030204" pitchFamily="18" charset="0"/>
                              </a:rPr>
                              <m:t>𝑘</m:t>
                            </m:r>
                            <m:r>
                              <a:rPr sz="4100" i="1">
                                <a:solidFill>
                                  <a:srgbClr val="000000"/>
                                </a:solidFill>
                                <a:latin typeface="Cambria Math" panose="02040503050406030204" pitchFamily="18" charset="0"/>
                              </a:rPr>
                              <m:t>+1</m:t>
                            </m:r>
                          </m:sub>
                        </m:sSub>
                        <m:r>
                          <a:rPr sz="4100" i="1">
                            <a:solidFill>
                              <a:srgbClr val="000000"/>
                            </a:solidFill>
                            <a:latin typeface="Cambria Math" panose="02040503050406030204" pitchFamily="18" charset="0"/>
                          </a:rPr>
                          <m:t>=</m:t>
                        </m:r>
                        <m:sSub>
                          <m:sSubPr>
                            <m:ctrlPr>
                              <a:rPr sz="4100" i="1">
                                <a:solidFill>
                                  <a:srgbClr val="000000"/>
                                </a:solidFill>
                                <a:latin typeface="Cambria Math" panose="02040503050406030204" pitchFamily="18" charset="0"/>
                              </a:rPr>
                            </m:ctrlPr>
                          </m:sSubPr>
                          <m:e>
                            <m:r>
                              <a:rPr sz="4100" i="1">
                                <a:solidFill>
                                  <a:srgbClr val="000000"/>
                                </a:solidFill>
                                <a:latin typeface="Cambria Math" panose="02040503050406030204" pitchFamily="18" charset="0"/>
                              </a:rPr>
                              <m:t>𝝅</m:t>
                            </m:r>
                          </m:e>
                          <m:sub>
                            <m:r>
                              <a:rPr sz="4100" i="1">
                                <a:solidFill>
                                  <a:srgbClr val="000000"/>
                                </a:solidFill>
                                <a:latin typeface="Cambria Math" panose="02040503050406030204" pitchFamily="18" charset="0"/>
                              </a:rPr>
                              <m:t>𝑘</m:t>
                            </m:r>
                          </m:sub>
                        </m:sSub>
                        <m:r>
                          <a:rPr sz="4100" i="1">
                            <a:solidFill>
                              <a:srgbClr val="000000"/>
                            </a:solidFill>
                            <a:latin typeface="Cambria Math" panose="02040503050406030204" pitchFamily="18" charset="0"/>
                          </a:rPr>
                          <m:t>𝑄</m:t>
                        </m:r>
                      </m:oMath>
                    </m:oMathPara>
                  </a14:m>
                  <a:endParaRPr sz="4100"/>
                </a:p>
              </p:txBody>
            </p:sp>
          </mc:Choice>
          <mc:Fallback xmlns="">
            <p:sp>
              <p:nvSpPr>
                <p:cNvPr id="238" name="CasetăText 41"/>
                <p:cNvSpPr txBox="1">
                  <a:spLocks noRot="1" noChangeAspect="1" noMove="1" noResize="1" noEditPoints="1" noAdjustHandles="1" noChangeArrowheads="1" noChangeShapeType="1" noTextEdit="1"/>
                </p:cNvSpPr>
                <p:nvPr/>
              </p:nvSpPr>
              <p:spPr>
                <a:xfrm>
                  <a:off x="7271577" y="950672"/>
                  <a:ext cx="2411505" cy="492640"/>
                </a:xfrm>
                <a:prstGeom prst="rect">
                  <a:avLst/>
                </a:prstGeom>
                <a:blipFill>
                  <a:blip r:embed="rId3"/>
                  <a:stretch>
                    <a:fillRect l="-5236" r="-24084" b="-65000"/>
                  </a:stretch>
                </a:blipFill>
                <a:ln w="12700" cap="flat">
                  <a:noFill/>
                  <a:miter lim="400000"/>
                </a:ln>
                <a:effectLst/>
              </p:spPr>
              <p:txBody>
                <a:bodyPr/>
                <a:lstStyle/>
                <a:p>
                  <a:r>
                    <a:rPr lang="en-US">
                      <a:noFill/>
                    </a:rPr>
                    <a:t> </a:t>
                  </a:r>
                </a:p>
              </p:txBody>
            </p:sp>
          </mc:Fallback>
        </mc:AlternateContent>
        <p:sp>
          <p:nvSpPr>
            <p:cNvPr id="239" name="CasetăText 1"/>
            <p:cNvSpPr txBox="1"/>
            <p:nvPr/>
          </p:nvSpPr>
          <p:spPr>
            <a:xfrm>
              <a:off x="80962" y="0"/>
              <a:ext cx="3452651" cy="71418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6" tIns="71436" rIns="71436" bIns="71436" numCol="1" anchor="ctr">
              <a:noAutofit/>
            </a:bodyPr>
            <a:lstStyle/>
            <a:p>
              <a:r>
                <a:t>transition matrix</a:t>
              </a:r>
            </a:p>
          </p:txBody>
        </p:sp>
        <p:sp>
          <p:nvSpPr>
            <p:cNvPr id="240" name="CasetăText 44"/>
            <p:cNvSpPr txBox="1"/>
            <p:nvPr/>
          </p:nvSpPr>
          <p:spPr>
            <a:xfrm>
              <a:off x="5644808" y="0"/>
              <a:ext cx="5671791" cy="71418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6" tIns="71436" rIns="71436" bIns="71436" numCol="1" anchor="ctr">
              <a:noAutofit/>
            </a:bodyPr>
            <a:lstStyle/>
            <a:p>
              <a:r>
                <a:t>probability vector evolution</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3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36">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iterate>
                                    <p:tmAbs val="0"/>
                                  </p:iterate>
                                  <p:childTnLst>
                                    <p:set>
                                      <p:cBhvr>
                                        <p:cTn id="10" fill="hold"/>
                                        <p:tgtEl>
                                          <p:spTgt spid="2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23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23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iterate>
                                    <p:tmAbs val="0"/>
                                  </p:iterate>
                                  <p:childTnLst>
                                    <p:set>
                                      <p:cBhvr>
                                        <p:cTn id="22" fill="hold"/>
                                        <p:tgtEl>
                                          <p:spTgt spid="23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iterate>
                                    <p:tmAbs val="0"/>
                                  </p:iterate>
                                  <p:childTnLst>
                                    <p:set>
                                      <p:cBhvr>
                                        <p:cTn id="26" fill="hold"/>
                                        <p:tgtEl>
                                          <p:spTgt spid="23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iterate>
                                    <p:tmAbs val="0"/>
                                  </p:iterate>
                                  <p:childTnLst>
                                    <p:set>
                                      <p:cBhvr>
                                        <p:cTn id="30" fill="hold"/>
                                        <p:tgtEl>
                                          <p:spTgt spid="23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 grpId="1" build="p" bldLvl="5"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Markov State Model"/>
          <p:cNvSpPr txBox="1">
            <a:spLocks noGrp="1"/>
          </p:cNvSpPr>
          <p:nvPr>
            <p:ph type="title"/>
          </p:nvPr>
        </p:nvSpPr>
        <p:spPr>
          <a:prstGeom prst="rect">
            <a:avLst/>
          </a:prstGeom>
        </p:spPr>
        <p:txBody>
          <a:bodyPr/>
          <a:lstStyle/>
          <a:p>
            <a:r>
              <a:t>Markov State Model</a:t>
            </a:r>
          </a:p>
        </p:txBody>
      </p:sp>
      <p:pic>
        <p:nvPicPr>
          <p:cNvPr id="244" name="Image" descr="Image"/>
          <p:cNvPicPr>
            <a:picLocks noChangeAspect="1"/>
          </p:cNvPicPr>
          <p:nvPr/>
        </p:nvPicPr>
        <p:blipFill>
          <a:blip r:embed="rId2"/>
          <a:stretch>
            <a:fillRect/>
          </a:stretch>
        </p:blipFill>
        <p:spPr>
          <a:xfrm>
            <a:off x="4572000" y="3305943"/>
            <a:ext cx="15240000" cy="9258055"/>
          </a:xfrm>
          <a:prstGeom prst="rect">
            <a:avLst/>
          </a:prstGeom>
          <a:ln w="12700">
            <a:miter lim="400000"/>
          </a:ln>
        </p:spPr>
      </p:pic>
      <p:sp>
        <p:nvSpPr>
          <p:cNvPr id="245" name=". V.A. Voelz et al., J. Am. Chem. Soc. 132 (5) (2010) 1526–1528."/>
          <p:cNvSpPr txBox="1"/>
          <p:nvPr/>
        </p:nvSpPr>
        <p:spPr>
          <a:xfrm>
            <a:off x="7030605" y="12694941"/>
            <a:ext cx="10322790"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r" defTabSz="820737">
              <a:defRPr sz="2400"/>
            </a:lvl1pPr>
          </a:lstStyle>
          <a:p>
            <a:r>
              <a:t>	.	V.A. Voelz et al., J. Am. Chem. Soc. 132 (5) (2010) 1526–1528. </a:t>
            </a:r>
          </a:p>
        </p:txBody>
      </p:sp>
      <p:sp>
        <p:nvSpPr>
          <p:cNvPr id="246" name="Slide Number"/>
          <p:cNvSpPr txBox="1">
            <a:spLocks noGrp="1"/>
          </p:cNvSpPr>
          <p:nvPr>
            <p:ph type="sldNum" sz="quarter" idx="429496729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15</a:t>
            </a:fld>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Expectations from Stochastic Processes"/>
          <p:cNvSpPr txBox="1">
            <a:spLocks noGrp="1"/>
          </p:cNvSpPr>
          <p:nvPr>
            <p:ph type="title"/>
          </p:nvPr>
        </p:nvSpPr>
        <p:spPr>
          <a:prstGeom prst="rect">
            <a:avLst/>
          </a:prstGeom>
        </p:spPr>
        <p:txBody>
          <a:bodyPr/>
          <a:lstStyle>
            <a:lvl1pPr defTabSz="681870">
              <a:defRPr sz="9296"/>
            </a:lvl1pPr>
          </a:lstStyle>
          <a:p>
            <a:r>
              <a:t>Expectations from Stochastic Processes</a:t>
            </a:r>
          </a:p>
        </p:txBody>
      </p:sp>
      <mc:AlternateContent xmlns:mc="http://schemas.openxmlformats.org/markup-compatibility/2006" xmlns:a14="http://schemas.microsoft.com/office/drawing/2010/main">
        <mc:Choice Requires="a14">
          <p:sp>
            <p:nvSpPr>
              <p:cNvPr id="249" name="Samples from a Markov chain can be used to estimate expectation values if…"/>
              <p:cNvSpPr txBox="1">
                <a:spLocks noGrp="1"/>
              </p:cNvSpPr>
              <p:nvPr>
                <p:ph type="body" idx="1"/>
              </p:nvPr>
            </p:nvSpPr>
            <p:spPr>
              <a:xfrm>
                <a:off x="635000" y="3175000"/>
                <a:ext cx="16511255" cy="9842500"/>
              </a:xfrm>
              <a:prstGeom prst="rect">
                <a:avLst/>
              </a:prstGeom>
            </p:spPr>
            <p:txBody>
              <a:bodyPr/>
              <a:lstStyle/>
              <a:p>
                <a:r>
                  <a:rPr dirty="0"/>
                  <a:t>Samples from a Markov chain can be used to estimate expectation values if</a:t>
                </a:r>
              </a:p>
              <a:p>
                <a:pPr lvl="1"/>
                <a:r>
                  <a:rPr dirty="0"/>
                  <a:t>it is irreducible / ergodic - simulations starting at one state will visit all other states</a:t>
                </a:r>
              </a:p>
              <a:p>
                <a:pPr lvl="1"/>
                <a:r>
                  <a:rPr dirty="0"/>
                  <a:t>it is aperiodic</a:t>
                </a:r>
              </a:p>
              <a:p>
                <a:pPr lvl="1"/>
                <a:r>
                  <a:rPr dirty="0"/>
                  <a:t>the stationary distribution is the target distribution </a:t>
                </a:r>
                <a:br>
                  <a:rPr lang="en-US" dirty="0"/>
                </a:br>
                <a14:m>
                  <m:oMath xmlns:m="http://schemas.openxmlformats.org/officeDocument/2006/math">
                    <m:r>
                      <a:rPr sz="6100" i="1">
                        <a:solidFill>
                          <a:srgbClr val="000000"/>
                        </a:solidFill>
                        <a:latin typeface="Cambria Math" panose="02040503050406030204" pitchFamily="18" charset="0"/>
                      </a:rPr>
                      <m:t>𝜋</m:t>
                    </m:r>
                    <m:r>
                      <a:rPr sz="6100" i="1">
                        <a:solidFill>
                          <a:srgbClr val="000000"/>
                        </a:solidFill>
                        <a:latin typeface="Cambria Math" panose="02040503050406030204" pitchFamily="18" charset="0"/>
                      </a:rPr>
                      <m:t>(⋅)</m:t>
                    </m:r>
                  </m:oMath>
                </a14:m>
                <a:r>
                  <a:rPr dirty="0"/>
                  <a:t> (e.g. Boltzmann)</a:t>
                </a:r>
              </a:p>
              <a:p>
                <a:r>
                  <a:rPr dirty="0"/>
                  <a:t>Distribution of </a:t>
                </a:r>
                <a14:m>
                  <m:oMath xmlns:m="http://schemas.openxmlformats.org/officeDocument/2006/math">
                    <m:d>
                      <m:dPr>
                        <m:begChr m:val="{"/>
                        <m:endChr m:val="}"/>
                        <m:ctrlPr>
                          <a:rPr sz="6100" i="1">
                            <a:solidFill>
                              <a:srgbClr val="000000"/>
                            </a:solidFill>
                            <a:latin typeface="Cambria Math" panose="02040503050406030204" pitchFamily="18" charset="0"/>
                          </a:rPr>
                        </m:ctrlPr>
                      </m:dPr>
                      <m:e>
                        <m:sSub>
                          <m:sSubPr>
                            <m:ctrlPr>
                              <a:rPr sz="6100" i="1">
                                <a:solidFill>
                                  <a:srgbClr val="000000"/>
                                </a:solidFill>
                                <a:latin typeface="Cambria Math" panose="02040503050406030204" pitchFamily="18" charset="0"/>
                              </a:rPr>
                            </m:ctrlPr>
                          </m:sSubPr>
                          <m:e>
                            <m:r>
                              <a:rPr sz="6100" i="1">
                                <a:solidFill>
                                  <a:srgbClr val="000000"/>
                                </a:solidFill>
                                <a:latin typeface="Cambria Math" panose="02040503050406030204" pitchFamily="18" charset="0"/>
                              </a:rPr>
                              <m:t>𝑋</m:t>
                            </m:r>
                          </m:e>
                          <m:sub>
                            <m:r>
                              <a:rPr sz="6100" i="1">
                                <a:solidFill>
                                  <a:srgbClr val="000000"/>
                                </a:solidFill>
                                <a:latin typeface="Cambria Math" panose="02040503050406030204" pitchFamily="18" charset="0"/>
                              </a:rPr>
                              <m:t>𝑛</m:t>
                            </m:r>
                          </m:sub>
                        </m:sSub>
                      </m:e>
                    </m:d>
                  </m:oMath>
                </a14:m>
                <a:r>
                  <a:rPr dirty="0"/>
                  <a:t> converges to </a:t>
                </a:r>
                <a14:m>
                  <m:oMath xmlns:m="http://schemas.openxmlformats.org/officeDocument/2006/math">
                    <m:r>
                      <a:rPr sz="6100" i="1">
                        <a:solidFill>
                          <a:srgbClr val="000000"/>
                        </a:solidFill>
                        <a:latin typeface="Cambria Math" panose="02040503050406030204" pitchFamily="18" charset="0"/>
                      </a:rPr>
                      <m:t>𝜋</m:t>
                    </m:r>
                    <m:r>
                      <a:rPr sz="6100" i="1">
                        <a:solidFill>
                          <a:srgbClr val="000000"/>
                        </a:solidFill>
                        <a:latin typeface="Cambria Math" panose="02040503050406030204" pitchFamily="18" charset="0"/>
                      </a:rPr>
                      <m:t>(⋅)</m:t>
                    </m:r>
                  </m:oMath>
                </a14:m>
                <a:r>
                  <a:rPr dirty="0"/>
                  <a:t>; expectations based on average</a:t>
                </a:r>
              </a:p>
              <a:p>
                <a:r>
                  <a:rPr dirty="0"/>
                  <a:t>For more details, see Minh, Minh, and Nguyen (2012)</a:t>
                </a:r>
              </a:p>
            </p:txBody>
          </p:sp>
        </mc:Choice>
        <mc:Fallback xmlns="">
          <p:sp>
            <p:nvSpPr>
              <p:cNvPr id="249" name="Samples from a Markov chain can be used to estimate expectation values if…"/>
              <p:cNvSpPr txBox="1">
                <a:spLocks noGrp="1" noRot="1" noChangeAspect="1" noMove="1" noResize="1" noEditPoints="1" noAdjustHandles="1" noChangeArrowheads="1" noChangeShapeType="1" noTextEdit="1"/>
              </p:cNvSpPr>
              <p:nvPr>
                <p:ph type="body" idx="1"/>
              </p:nvPr>
            </p:nvSpPr>
            <p:spPr>
              <a:xfrm>
                <a:off x="635000" y="3175000"/>
                <a:ext cx="16511255" cy="9842500"/>
              </a:xfrm>
              <a:prstGeom prst="rect">
                <a:avLst/>
              </a:prstGeom>
              <a:blipFill>
                <a:blip r:embed="rId2"/>
                <a:stretch>
                  <a:fillRect l="-998" r="-998"/>
                </a:stretch>
              </a:blipFill>
            </p:spPr>
            <p:txBody>
              <a:bodyPr/>
              <a:lstStyle/>
              <a:p>
                <a:r>
                  <a:rPr lang="en-US">
                    <a:noFill/>
                  </a:rPr>
                  <a:t> </a:t>
                </a:r>
              </a:p>
            </p:txBody>
          </p:sp>
        </mc:Fallback>
      </mc:AlternateContent>
      <p:grpSp>
        <p:nvGrpSpPr>
          <p:cNvPr id="274" name="Group"/>
          <p:cNvGrpSpPr/>
          <p:nvPr/>
        </p:nvGrpSpPr>
        <p:grpSpPr>
          <a:xfrm>
            <a:off x="17265676" y="6536918"/>
            <a:ext cx="6758356" cy="3118664"/>
            <a:chOff x="0" y="0"/>
            <a:chExt cx="6758354" cy="3118662"/>
          </a:xfrm>
        </p:grpSpPr>
        <p:grpSp>
          <p:nvGrpSpPr>
            <p:cNvPr id="272" name="Grupare 1"/>
            <p:cNvGrpSpPr/>
            <p:nvPr/>
          </p:nvGrpSpPr>
          <p:grpSpPr>
            <a:xfrm>
              <a:off x="446809" y="-1"/>
              <a:ext cx="5864736" cy="1697440"/>
              <a:chOff x="0" y="0"/>
              <a:chExt cx="5864735" cy="1697438"/>
            </a:xfrm>
          </p:grpSpPr>
          <p:grpSp>
            <p:nvGrpSpPr>
              <p:cNvPr id="260" name="Grupare 38"/>
              <p:cNvGrpSpPr/>
              <p:nvPr/>
            </p:nvGrpSpPr>
            <p:grpSpPr>
              <a:xfrm>
                <a:off x="-1" y="0"/>
                <a:ext cx="2399642" cy="1697439"/>
                <a:chOff x="0" y="0"/>
                <a:chExt cx="2399640" cy="1697438"/>
              </a:xfrm>
            </p:grpSpPr>
            <p:grpSp>
              <p:nvGrpSpPr>
                <p:cNvPr id="252" name="CasetăText 39"/>
                <p:cNvGrpSpPr/>
                <p:nvPr/>
              </p:nvGrpSpPr>
              <p:grpSpPr>
                <a:xfrm>
                  <a:off x="316691" y="595566"/>
                  <a:ext cx="566207" cy="502344"/>
                  <a:chOff x="0" y="0"/>
                  <a:chExt cx="566205" cy="502343"/>
                </a:xfrm>
              </p:grpSpPr>
              <p:sp>
                <p:nvSpPr>
                  <p:cNvPr id="250" name="Rectangle"/>
                  <p:cNvSpPr/>
                  <p:nvPr/>
                </p:nvSpPr>
                <p:spPr>
                  <a:xfrm>
                    <a:off x="0" y="-1"/>
                    <a:ext cx="566206" cy="502345"/>
                  </a:xfrm>
                  <a:prstGeom prst="rect">
                    <a:avLst/>
                  </a:prstGeom>
                  <a:noFill/>
                  <a:ln w="12700" cap="flat">
                    <a:solidFill>
                      <a:srgbClr val="000000"/>
                    </a:solidFill>
                    <a:prstDash val="solid"/>
                    <a:miter lim="400000"/>
                  </a:ln>
                  <a:effectLst/>
                </p:spPr>
                <p:txBody>
                  <a:bodyPr wrap="square" lIns="71436" tIns="71436" rIns="71436" bIns="71436" numCol="1" anchor="ctr">
                    <a:noAutofit/>
                  </a:bodyPr>
                  <a:lstStyle/>
                  <a:p>
                    <a:pPr>
                      <a:defRPr>
                        <a:latin typeface="+mj-lt"/>
                        <a:ea typeface="+mj-ea"/>
                        <a:cs typeface="+mj-cs"/>
                        <a:sym typeface="Helvetica"/>
                      </a:defRPr>
                    </a:pPr>
                    <a:endParaRPr/>
                  </a:p>
                </p:txBody>
              </p:sp>
              <p:sp>
                <p:nvSpPr>
                  <p:cNvPr id="251" name="A"/>
                  <p:cNvSpPr txBox="1"/>
                  <p:nvPr/>
                </p:nvSpPr>
                <p:spPr>
                  <a:xfrm>
                    <a:off x="113600" y="27334"/>
                    <a:ext cx="339006" cy="4476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defRPr sz="2000" b="1">
                        <a:latin typeface="+mj-lt"/>
                        <a:ea typeface="+mj-ea"/>
                        <a:cs typeface="+mj-cs"/>
                        <a:sym typeface="Helvetica"/>
                      </a:defRPr>
                    </a:lvl1pPr>
                  </a:lstStyle>
                  <a:p>
                    <a:r>
                      <a:t>A</a:t>
                    </a:r>
                  </a:p>
                </p:txBody>
              </p:sp>
            </p:grpSp>
            <p:grpSp>
              <p:nvGrpSpPr>
                <p:cNvPr id="255" name="CasetăText 40"/>
                <p:cNvGrpSpPr/>
                <p:nvPr/>
              </p:nvGrpSpPr>
              <p:grpSpPr>
                <a:xfrm>
                  <a:off x="1493831" y="595566"/>
                  <a:ext cx="566207" cy="502344"/>
                  <a:chOff x="0" y="0"/>
                  <a:chExt cx="566205" cy="502343"/>
                </a:xfrm>
              </p:grpSpPr>
              <p:sp>
                <p:nvSpPr>
                  <p:cNvPr id="253" name="Rectangle"/>
                  <p:cNvSpPr/>
                  <p:nvPr/>
                </p:nvSpPr>
                <p:spPr>
                  <a:xfrm>
                    <a:off x="0" y="-1"/>
                    <a:ext cx="566206" cy="502345"/>
                  </a:xfrm>
                  <a:prstGeom prst="rect">
                    <a:avLst/>
                  </a:prstGeom>
                  <a:noFill/>
                  <a:ln w="12700" cap="flat">
                    <a:solidFill>
                      <a:srgbClr val="000000"/>
                    </a:solidFill>
                    <a:prstDash val="solid"/>
                    <a:miter lim="400000"/>
                  </a:ln>
                  <a:effectLst/>
                </p:spPr>
                <p:txBody>
                  <a:bodyPr wrap="square" lIns="71436" tIns="71436" rIns="71436" bIns="71436" numCol="1" anchor="ctr">
                    <a:noAutofit/>
                  </a:bodyPr>
                  <a:lstStyle/>
                  <a:p>
                    <a:pPr>
                      <a:defRPr>
                        <a:latin typeface="+mj-lt"/>
                        <a:ea typeface="+mj-ea"/>
                        <a:cs typeface="+mj-cs"/>
                        <a:sym typeface="Helvetica"/>
                      </a:defRPr>
                    </a:pPr>
                    <a:endParaRPr/>
                  </a:p>
                </p:txBody>
              </p:sp>
              <p:sp>
                <p:nvSpPr>
                  <p:cNvPr id="254" name="B"/>
                  <p:cNvSpPr txBox="1"/>
                  <p:nvPr/>
                </p:nvSpPr>
                <p:spPr>
                  <a:xfrm>
                    <a:off x="113600" y="27334"/>
                    <a:ext cx="339006" cy="4476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defRPr sz="2000" b="1">
                        <a:latin typeface="+mj-lt"/>
                        <a:ea typeface="+mj-ea"/>
                        <a:cs typeface="+mj-cs"/>
                        <a:sym typeface="Helvetica"/>
                      </a:defRPr>
                    </a:lvl1pPr>
                  </a:lstStyle>
                  <a:p>
                    <a:r>
                      <a:t>B</a:t>
                    </a:r>
                  </a:p>
                </p:txBody>
              </p:sp>
            </p:grpSp>
            <p:sp>
              <p:nvSpPr>
                <p:cNvPr id="256" name="Formă liberă: formă 41"/>
                <p:cNvSpPr/>
                <p:nvPr/>
              </p:nvSpPr>
              <p:spPr>
                <a:xfrm rot="18935627">
                  <a:off x="782745" y="705467"/>
                  <a:ext cx="856786" cy="807523"/>
                </a:xfrm>
                <a:custGeom>
                  <a:avLst/>
                  <a:gdLst/>
                  <a:ahLst/>
                  <a:cxnLst>
                    <a:cxn ang="0">
                      <a:pos x="wd2" y="hd2"/>
                    </a:cxn>
                    <a:cxn ang="5400000">
                      <a:pos x="wd2" y="hd2"/>
                    </a:cxn>
                    <a:cxn ang="10800000">
                      <a:pos x="wd2" y="hd2"/>
                    </a:cxn>
                    <a:cxn ang="16200000">
                      <a:pos x="wd2" y="hd2"/>
                    </a:cxn>
                  </a:cxnLst>
                  <a:rect l="0" t="0" r="r" b="b"/>
                  <a:pathLst>
                    <a:path w="21600" h="21379" extrusionOk="0">
                      <a:moveTo>
                        <a:pt x="0" y="0"/>
                      </a:moveTo>
                      <a:cubicBezTo>
                        <a:pt x="455" y="7246"/>
                        <a:pt x="910" y="14491"/>
                        <a:pt x="4510" y="18046"/>
                      </a:cubicBezTo>
                      <a:cubicBezTo>
                        <a:pt x="8110" y="21600"/>
                        <a:pt x="14855" y="21463"/>
                        <a:pt x="21600" y="21327"/>
                      </a:cubicBezTo>
                    </a:path>
                  </a:pathLst>
                </a:custGeom>
                <a:noFill/>
                <a:ln w="57150" cap="flat">
                  <a:solidFill>
                    <a:srgbClr val="000000"/>
                  </a:solidFill>
                  <a:prstDash val="solid"/>
                  <a:miter lim="400000"/>
                  <a:tailEnd type="triangle" w="med" len="med"/>
                </a:ln>
                <a:effectLst>
                  <a:outerShdw blurRad="50800" dist="25400" dir="5400000" rotWithShape="0">
                    <a:srgbClr val="000000">
                      <a:alpha val="50000"/>
                    </a:srgbClr>
                  </a:outerShdw>
                </a:effectLst>
              </p:spPr>
              <p:txBody>
                <a:bodyPr wrap="square" lIns="71436" tIns="71436" rIns="71436" bIns="71436" numCol="1" anchor="t">
                  <a:noAutofit/>
                </a:bodyPr>
                <a:lstStyle/>
                <a:p>
                  <a:pPr algn="l" defTabSz="914400">
                    <a:defRPr sz="2000">
                      <a:latin typeface="+mj-lt"/>
                      <a:ea typeface="+mj-ea"/>
                      <a:cs typeface="+mj-cs"/>
                      <a:sym typeface="Helvetica"/>
                    </a:defRPr>
                  </a:pPr>
                  <a:endParaRPr/>
                </a:p>
              </p:txBody>
            </p:sp>
            <p:sp>
              <p:nvSpPr>
                <p:cNvPr id="257" name="Formă liberă: formă 42"/>
                <p:cNvSpPr/>
                <p:nvPr/>
              </p:nvSpPr>
              <p:spPr>
                <a:xfrm rot="8135627">
                  <a:off x="786087" y="178106"/>
                  <a:ext cx="839660" cy="809971"/>
                </a:xfrm>
                <a:custGeom>
                  <a:avLst/>
                  <a:gdLst/>
                  <a:ahLst/>
                  <a:cxnLst>
                    <a:cxn ang="0">
                      <a:pos x="wd2" y="hd2"/>
                    </a:cxn>
                    <a:cxn ang="5400000">
                      <a:pos x="wd2" y="hd2"/>
                    </a:cxn>
                    <a:cxn ang="10800000">
                      <a:pos x="wd2" y="hd2"/>
                    </a:cxn>
                    <a:cxn ang="16200000">
                      <a:pos x="wd2" y="hd2"/>
                    </a:cxn>
                  </a:cxnLst>
                  <a:rect l="0" t="0" r="r" b="b"/>
                  <a:pathLst>
                    <a:path w="21600" h="21379" extrusionOk="0">
                      <a:moveTo>
                        <a:pt x="0" y="0"/>
                      </a:moveTo>
                      <a:cubicBezTo>
                        <a:pt x="455" y="7246"/>
                        <a:pt x="910" y="14491"/>
                        <a:pt x="4510" y="18046"/>
                      </a:cubicBezTo>
                      <a:cubicBezTo>
                        <a:pt x="8110" y="21600"/>
                        <a:pt x="14855" y="21463"/>
                        <a:pt x="21600" y="21327"/>
                      </a:cubicBezTo>
                    </a:path>
                  </a:pathLst>
                </a:custGeom>
                <a:noFill/>
                <a:ln w="57150" cap="flat">
                  <a:solidFill>
                    <a:srgbClr val="000000"/>
                  </a:solidFill>
                  <a:prstDash val="solid"/>
                  <a:miter lim="400000"/>
                  <a:tailEnd type="triangle" w="med" len="med"/>
                </a:ln>
                <a:effectLst>
                  <a:outerShdw blurRad="50800" dist="25400" dir="5400000" rotWithShape="0">
                    <a:srgbClr val="000000">
                      <a:alpha val="50000"/>
                    </a:srgbClr>
                  </a:outerShdw>
                </a:effectLst>
              </p:spPr>
              <p:txBody>
                <a:bodyPr wrap="square" lIns="71436" tIns="71436" rIns="71436" bIns="71436" numCol="1" anchor="t">
                  <a:noAutofit/>
                </a:bodyPr>
                <a:lstStyle/>
                <a:p>
                  <a:pPr algn="l" defTabSz="914400">
                    <a:defRPr sz="2000">
                      <a:latin typeface="+mj-lt"/>
                      <a:ea typeface="+mj-ea"/>
                      <a:cs typeface="+mj-cs"/>
                      <a:sym typeface="Helvetica"/>
                    </a:defRPr>
                  </a:pPr>
                  <a:endParaRPr/>
                </a:p>
              </p:txBody>
            </p:sp>
            <p:sp>
              <p:nvSpPr>
                <p:cNvPr id="258" name="Arc 43"/>
                <p:cNvSpPr/>
                <p:nvPr/>
              </p:nvSpPr>
              <p:spPr>
                <a:xfrm>
                  <a:off x="2063948" y="645121"/>
                  <a:ext cx="335693" cy="441470"/>
                </a:xfrm>
                <a:custGeom>
                  <a:avLst/>
                  <a:gdLst/>
                  <a:ahLst/>
                  <a:cxnLst>
                    <a:cxn ang="0">
                      <a:pos x="wd2" y="hd2"/>
                    </a:cxn>
                    <a:cxn ang="5400000">
                      <a:pos x="wd2" y="hd2"/>
                    </a:cxn>
                    <a:cxn ang="10800000">
                      <a:pos x="wd2" y="hd2"/>
                    </a:cxn>
                    <a:cxn ang="16200000">
                      <a:pos x="wd2" y="hd2"/>
                    </a:cxn>
                  </a:cxnLst>
                  <a:rect l="0" t="0" r="r" b="b"/>
                  <a:pathLst>
                    <a:path w="19710" h="19783" extrusionOk="0">
                      <a:moveTo>
                        <a:pt x="0" y="1231"/>
                      </a:moveTo>
                      <a:lnTo>
                        <a:pt x="0" y="1231"/>
                      </a:lnTo>
                      <a:cubicBezTo>
                        <a:pt x="6429" y="-1406"/>
                        <a:pt x="14513" y="334"/>
                        <a:pt x="18056" y="5118"/>
                      </a:cubicBezTo>
                      <a:cubicBezTo>
                        <a:pt x="21600" y="9902"/>
                        <a:pt x="19261" y="15918"/>
                        <a:pt x="12832" y="18555"/>
                      </a:cubicBezTo>
                      <a:cubicBezTo>
                        <a:pt x="9004" y="20125"/>
                        <a:pt x="4383" y="20194"/>
                        <a:pt x="473" y="18740"/>
                      </a:cubicBezTo>
                    </a:path>
                  </a:pathLst>
                </a:custGeom>
                <a:noFill/>
                <a:ln w="57150" cap="flat">
                  <a:solidFill>
                    <a:srgbClr val="000000"/>
                  </a:solidFill>
                  <a:prstDash val="solid"/>
                  <a:miter lim="400000"/>
                  <a:tailEnd type="triangle" w="med" len="med"/>
                </a:ln>
                <a:effectLst/>
              </p:spPr>
              <p:txBody>
                <a:bodyPr wrap="square" lIns="71436" tIns="71436" rIns="71436" bIns="71436" numCol="1" anchor="t">
                  <a:noAutofit/>
                </a:bodyPr>
                <a:lstStyle/>
                <a:p>
                  <a:pPr algn="l" defTabSz="914400">
                    <a:defRPr sz="2000">
                      <a:latin typeface="+mj-lt"/>
                      <a:ea typeface="+mj-ea"/>
                      <a:cs typeface="+mj-cs"/>
                      <a:sym typeface="Helvetica"/>
                    </a:defRPr>
                  </a:pPr>
                  <a:endParaRPr/>
                </a:p>
              </p:txBody>
            </p:sp>
            <p:sp>
              <p:nvSpPr>
                <p:cNvPr id="259" name="Arc 44"/>
                <p:cNvSpPr/>
                <p:nvPr/>
              </p:nvSpPr>
              <p:spPr>
                <a:xfrm rot="10800000">
                  <a:off x="0" y="656481"/>
                  <a:ext cx="335692" cy="441470"/>
                </a:xfrm>
                <a:custGeom>
                  <a:avLst/>
                  <a:gdLst/>
                  <a:ahLst/>
                  <a:cxnLst>
                    <a:cxn ang="0">
                      <a:pos x="wd2" y="hd2"/>
                    </a:cxn>
                    <a:cxn ang="5400000">
                      <a:pos x="wd2" y="hd2"/>
                    </a:cxn>
                    <a:cxn ang="10800000">
                      <a:pos x="wd2" y="hd2"/>
                    </a:cxn>
                    <a:cxn ang="16200000">
                      <a:pos x="wd2" y="hd2"/>
                    </a:cxn>
                  </a:cxnLst>
                  <a:rect l="0" t="0" r="r" b="b"/>
                  <a:pathLst>
                    <a:path w="19710" h="19783" extrusionOk="0">
                      <a:moveTo>
                        <a:pt x="0" y="1231"/>
                      </a:moveTo>
                      <a:lnTo>
                        <a:pt x="0" y="1231"/>
                      </a:lnTo>
                      <a:cubicBezTo>
                        <a:pt x="6429" y="-1406"/>
                        <a:pt x="14513" y="334"/>
                        <a:pt x="18056" y="5118"/>
                      </a:cubicBezTo>
                      <a:cubicBezTo>
                        <a:pt x="21600" y="9902"/>
                        <a:pt x="19261" y="15918"/>
                        <a:pt x="12832" y="18555"/>
                      </a:cubicBezTo>
                      <a:cubicBezTo>
                        <a:pt x="9004" y="20125"/>
                        <a:pt x="4383" y="20194"/>
                        <a:pt x="473" y="18740"/>
                      </a:cubicBezTo>
                    </a:path>
                  </a:pathLst>
                </a:custGeom>
                <a:noFill/>
                <a:ln w="57150" cap="flat">
                  <a:solidFill>
                    <a:srgbClr val="000000"/>
                  </a:solidFill>
                  <a:prstDash val="solid"/>
                  <a:miter lim="400000"/>
                  <a:tailEnd type="triangle" w="med" len="med"/>
                </a:ln>
                <a:effectLst/>
              </p:spPr>
              <p:txBody>
                <a:bodyPr wrap="square" lIns="71436" tIns="71436" rIns="71436" bIns="71436" numCol="1" anchor="t">
                  <a:noAutofit/>
                </a:bodyPr>
                <a:lstStyle/>
                <a:p>
                  <a:pPr algn="l" defTabSz="914400">
                    <a:defRPr sz="2000">
                      <a:latin typeface="+mj-lt"/>
                      <a:ea typeface="+mj-ea"/>
                      <a:cs typeface="+mj-cs"/>
                      <a:sym typeface="Helvetica"/>
                    </a:defRPr>
                  </a:pPr>
                  <a:endParaRPr/>
                </a:p>
              </p:txBody>
            </p:sp>
          </p:grpSp>
          <p:grpSp>
            <p:nvGrpSpPr>
              <p:cNvPr id="271" name="Grupare 49"/>
              <p:cNvGrpSpPr/>
              <p:nvPr/>
            </p:nvGrpSpPr>
            <p:grpSpPr>
              <a:xfrm>
                <a:off x="3465095" y="0"/>
                <a:ext cx="2399641" cy="1697439"/>
                <a:chOff x="0" y="0"/>
                <a:chExt cx="2399640" cy="1697438"/>
              </a:xfrm>
            </p:grpSpPr>
            <p:grpSp>
              <p:nvGrpSpPr>
                <p:cNvPr id="263" name="CasetăText 50"/>
                <p:cNvGrpSpPr/>
                <p:nvPr/>
              </p:nvGrpSpPr>
              <p:grpSpPr>
                <a:xfrm>
                  <a:off x="316691" y="595566"/>
                  <a:ext cx="566207" cy="502344"/>
                  <a:chOff x="0" y="0"/>
                  <a:chExt cx="566205" cy="502343"/>
                </a:xfrm>
              </p:grpSpPr>
              <p:sp>
                <p:nvSpPr>
                  <p:cNvPr id="261" name="Rectangle"/>
                  <p:cNvSpPr/>
                  <p:nvPr/>
                </p:nvSpPr>
                <p:spPr>
                  <a:xfrm>
                    <a:off x="0" y="-1"/>
                    <a:ext cx="566206" cy="502345"/>
                  </a:xfrm>
                  <a:prstGeom prst="rect">
                    <a:avLst/>
                  </a:prstGeom>
                  <a:noFill/>
                  <a:ln w="12700" cap="flat">
                    <a:solidFill>
                      <a:srgbClr val="000000"/>
                    </a:solidFill>
                    <a:prstDash val="solid"/>
                    <a:miter lim="400000"/>
                  </a:ln>
                  <a:effectLst/>
                </p:spPr>
                <p:txBody>
                  <a:bodyPr wrap="square" lIns="71436" tIns="71436" rIns="71436" bIns="71436" numCol="1" anchor="ctr">
                    <a:noAutofit/>
                  </a:bodyPr>
                  <a:lstStyle/>
                  <a:p>
                    <a:pPr>
                      <a:defRPr>
                        <a:latin typeface="+mj-lt"/>
                        <a:ea typeface="+mj-ea"/>
                        <a:cs typeface="+mj-cs"/>
                        <a:sym typeface="Helvetica"/>
                      </a:defRPr>
                    </a:pPr>
                    <a:endParaRPr/>
                  </a:p>
                </p:txBody>
              </p:sp>
              <p:sp>
                <p:nvSpPr>
                  <p:cNvPr id="262" name="C"/>
                  <p:cNvSpPr txBox="1"/>
                  <p:nvPr/>
                </p:nvSpPr>
                <p:spPr>
                  <a:xfrm>
                    <a:off x="113600" y="27334"/>
                    <a:ext cx="339006" cy="4476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defRPr sz="2000" b="1">
                        <a:latin typeface="+mj-lt"/>
                        <a:ea typeface="+mj-ea"/>
                        <a:cs typeface="+mj-cs"/>
                        <a:sym typeface="Helvetica"/>
                      </a:defRPr>
                    </a:lvl1pPr>
                  </a:lstStyle>
                  <a:p>
                    <a:r>
                      <a:t>C</a:t>
                    </a:r>
                  </a:p>
                </p:txBody>
              </p:sp>
            </p:grpSp>
            <p:grpSp>
              <p:nvGrpSpPr>
                <p:cNvPr id="266" name="CasetăText 51"/>
                <p:cNvGrpSpPr/>
                <p:nvPr/>
              </p:nvGrpSpPr>
              <p:grpSpPr>
                <a:xfrm>
                  <a:off x="1493831" y="595566"/>
                  <a:ext cx="566207" cy="502344"/>
                  <a:chOff x="0" y="0"/>
                  <a:chExt cx="566205" cy="502343"/>
                </a:xfrm>
              </p:grpSpPr>
              <p:sp>
                <p:nvSpPr>
                  <p:cNvPr id="264" name="Rectangle"/>
                  <p:cNvSpPr/>
                  <p:nvPr/>
                </p:nvSpPr>
                <p:spPr>
                  <a:xfrm>
                    <a:off x="0" y="-1"/>
                    <a:ext cx="566206" cy="502345"/>
                  </a:xfrm>
                  <a:prstGeom prst="rect">
                    <a:avLst/>
                  </a:prstGeom>
                  <a:noFill/>
                  <a:ln w="12700" cap="flat">
                    <a:solidFill>
                      <a:srgbClr val="000000"/>
                    </a:solidFill>
                    <a:prstDash val="solid"/>
                    <a:miter lim="400000"/>
                  </a:ln>
                  <a:effectLst/>
                </p:spPr>
                <p:txBody>
                  <a:bodyPr wrap="square" lIns="71436" tIns="71436" rIns="71436" bIns="71436" numCol="1" anchor="ctr">
                    <a:noAutofit/>
                  </a:bodyPr>
                  <a:lstStyle/>
                  <a:p>
                    <a:pPr>
                      <a:defRPr>
                        <a:latin typeface="+mj-lt"/>
                        <a:ea typeface="+mj-ea"/>
                        <a:cs typeface="+mj-cs"/>
                        <a:sym typeface="Helvetica"/>
                      </a:defRPr>
                    </a:pPr>
                    <a:endParaRPr/>
                  </a:p>
                </p:txBody>
              </p:sp>
              <p:sp>
                <p:nvSpPr>
                  <p:cNvPr id="265" name="D"/>
                  <p:cNvSpPr txBox="1"/>
                  <p:nvPr/>
                </p:nvSpPr>
                <p:spPr>
                  <a:xfrm>
                    <a:off x="113600" y="27334"/>
                    <a:ext cx="339006" cy="4476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defRPr sz="2000" b="1">
                        <a:latin typeface="+mj-lt"/>
                        <a:ea typeface="+mj-ea"/>
                        <a:cs typeface="+mj-cs"/>
                        <a:sym typeface="Helvetica"/>
                      </a:defRPr>
                    </a:lvl1pPr>
                  </a:lstStyle>
                  <a:p>
                    <a:r>
                      <a:t>D</a:t>
                    </a:r>
                  </a:p>
                </p:txBody>
              </p:sp>
            </p:grpSp>
            <p:sp>
              <p:nvSpPr>
                <p:cNvPr id="267" name="Formă liberă: formă 52"/>
                <p:cNvSpPr/>
                <p:nvPr/>
              </p:nvSpPr>
              <p:spPr>
                <a:xfrm rot="18935627">
                  <a:off x="782745" y="705467"/>
                  <a:ext cx="856786" cy="807523"/>
                </a:xfrm>
                <a:custGeom>
                  <a:avLst/>
                  <a:gdLst/>
                  <a:ahLst/>
                  <a:cxnLst>
                    <a:cxn ang="0">
                      <a:pos x="wd2" y="hd2"/>
                    </a:cxn>
                    <a:cxn ang="5400000">
                      <a:pos x="wd2" y="hd2"/>
                    </a:cxn>
                    <a:cxn ang="10800000">
                      <a:pos x="wd2" y="hd2"/>
                    </a:cxn>
                    <a:cxn ang="16200000">
                      <a:pos x="wd2" y="hd2"/>
                    </a:cxn>
                  </a:cxnLst>
                  <a:rect l="0" t="0" r="r" b="b"/>
                  <a:pathLst>
                    <a:path w="21600" h="21379" extrusionOk="0">
                      <a:moveTo>
                        <a:pt x="0" y="0"/>
                      </a:moveTo>
                      <a:cubicBezTo>
                        <a:pt x="455" y="7246"/>
                        <a:pt x="910" y="14491"/>
                        <a:pt x="4510" y="18046"/>
                      </a:cubicBezTo>
                      <a:cubicBezTo>
                        <a:pt x="8110" y="21600"/>
                        <a:pt x="14855" y="21463"/>
                        <a:pt x="21600" y="21327"/>
                      </a:cubicBezTo>
                    </a:path>
                  </a:pathLst>
                </a:custGeom>
                <a:noFill/>
                <a:ln w="57150" cap="flat">
                  <a:solidFill>
                    <a:srgbClr val="000000"/>
                  </a:solidFill>
                  <a:prstDash val="solid"/>
                  <a:miter lim="400000"/>
                  <a:tailEnd type="triangle" w="med" len="med"/>
                </a:ln>
                <a:effectLst>
                  <a:outerShdw blurRad="50800" dist="25400" dir="5400000" rotWithShape="0">
                    <a:srgbClr val="000000">
                      <a:alpha val="50000"/>
                    </a:srgbClr>
                  </a:outerShdw>
                </a:effectLst>
              </p:spPr>
              <p:txBody>
                <a:bodyPr wrap="square" lIns="71436" tIns="71436" rIns="71436" bIns="71436" numCol="1" anchor="t">
                  <a:noAutofit/>
                </a:bodyPr>
                <a:lstStyle/>
                <a:p>
                  <a:pPr algn="l" defTabSz="914400">
                    <a:defRPr sz="2000">
                      <a:latin typeface="+mj-lt"/>
                      <a:ea typeface="+mj-ea"/>
                      <a:cs typeface="+mj-cs"/>
                      <a:sym typeface="Helvetica"/>
                    </a:defRPr>
                  </a:pPr>
                  <a:endParaRPr/>
                </a:p>
              </p:txBody>
            </p:sp>
            <p:sp>
              <p:nvSpPr>
                <p:cNvPr id="268" name="Formă liberă: formă 53"/>
                <p:cNvSpPr/>
                <p:nvPr/>
              </p:nvSpPr>
              <p:spPr>
                <a:xfrm rot="8135627">
                  <a:off x="786087" y="178106"/>
                  <a:ext cx="839660" cy="809971"/>
                </a:xfrm>
                <a:custGeom>
                  <a:avLst/>
                  <a:gdLst/>
                  <a:ahLst/>
                  <a:cxnLst>
                    <a:cxn ang="0">
                      <a:pos x="wd2" y="hd2"/>
                    </a:cxn>
                    <a:cxn ang="5400000">
                      <a:pos x="wd2" y="hd2"/>
                    </a:cxn>
                    <a:cxn ang="10800000">
                      <a:pos x="wd2" y="hd2"/>
                    </a:cxn>
                    <a:cxn ang="16200000">
                      <a:pos x="wd2" y="hd2"/>
                    </a:cxn>
                  </a:cxnLst>
                  <a:rect l="0" t="0" r="r" b="b"/>
                  <a:pathLst>
                    <a:path w="21600" h="21379" extrusionOk="0">
                      <a:moveTo>
                        <a:pt x="0" y="0"/>
                      </a:moveTo>
                      <a:cubicBezTo>
                        <a:pt x="455" y="7246"/>
                        <a:pt x="910" y="14491"/>
                        <a:pt x="4510" y="18046"/>
                      </a:cubicBezTo>
                      <a:cubicBezTo>
                        <a:pt x="8110" y="21600"/>
                        <a:pt x="14855" y="21463"/>
                        <a:pt x="21600" y="21327"/>
                      </a:cubicBezTo>
                    </a:path>
                  </a:pathLst>
                </a:custGeom>
                <a:noFill/>
                <a:ln w="57150" cap="flat">
                  <a:solidFill>
                    <a:srgbClr val="000000"/>
                  </a:solidFill>
                  <a:prstDash val="solid"/>
                  <a:miter lim="400000"/>
                  <a:tailEnd type="triangle" w="med" len="med"/>
                </a:ln>
                <a:effectLst>
                  <a:outerShdw blurRad="50800" dist="25400" dir="5400000" rotWithShape="0">
                    <a:srgbClr val="000000">
                      <a:alpha val="50000"/>
                    </a:srgbClr>
                  </a:outerShdw>
                </a:effectLst>
              </p:spPr>
              <p:txBody>
                <a:bodyPr wrap="square" lIns="71436" tIns="71436" rIns="71436" bIns="71436" numCol="1" anchor="t">
                  <a:noAutofit/>
                </a:bodyPr>
                <a:lstStyle/>
                <a:p>
                  <a:pPr algn="l" defTabSz="914400">
                    <a:defRPr sz="2000">
                      <a:latin typeface="+mj-lt"/>
                      <a:ea typeface="+mj-ea"/>
                      <a:cs typeface="+mj-cs"/>
                      <a:sym typeface="Helvetica"/>
                    </a:defRPr>
                  </a:pPr>
                  <a:endParaRPr/>
                </a:p>
              </p:txBody>
            </p:sp>
            <p:sp>
              <p:nvSpPr>
                <p:cNvPr id="269" name="Arc 54"/>
                <p:cNvSpPr/>
                <p:nvPr/>
              </p:nvSpPr>
              <p:spPr>
                <a:xfrm>
                  <a:off x="2063948" y="645121"/>
                  <a:ext cx="335693" cy="441470"/>
                </a:xfrm>
                <a:custGeom>
                  <a:avLst/>
                  <a:gdLst/>
                  <a:ahLst/>
                  <a:cxnLst>
                    <a:cxn ang="0">
                      <a:pos x="wd2" y="hd2"/>
                    </a:cxn>
                    <a:cxn ang="5400000">
                      <a:pos x="wd2" y="hd2"/>
                    </a:cxn>
                    <a:cxn ang="10800000">
                      <a:pos x="wd2" y="hd2"/>
                    </a:cxn>
                    <a:cxn ang="16200000">
                      <a:pos x="wd2" y="hd2"/>
                    </a:cxn>
                  </a:cxnLst>
                  <a:rect l="0" t="0" r="r" b="b"/>
                  <a:pathLst>
                    <a:path w="19710" h="19783" extrusionOk="0">
                      <a:moveTo>
                        <a:pt x="0" y="1231"/>
                      </a:moveTo>
                      <a:lnTo>
                        <a:pt x="0" y="1231"/>
                      </a:lnTo>
                      <a:cubicBezTo>
                        <a:pt x="6429" y="-1406"/>
                        <a:pt x="14513" y="334"/>
                        <a:pt x="18056" y="5118"/>
                      </a:cubicBezTo>
                      <a:cubicBezTo>
                        <a:pt x="21600" y="9902"/>
                        <a:pt x="19261" y="15918"/>
                        <a:pt x="12832" y="18555"/>
                      </a:cubicBezTo>
                      <a:cubicBezTo>
                        <a:pt x="9004" y="20125"/>
                        <a:pt x="4383" y="20194"/>
                        <a:pt x="473" y="18740"/>
                      </a:cubicBezTo>
                    </a:path>
                  </a:pathLst>
                </a:custGeom>
                <a:noFill/>
                <a:ln w="57150" cap="flat">
                  <a:solidFill>
                    <a:srgbClr val="000000"/>
                  </a:solidFill>
                  <a:prstDash val="solid"/>
                  <a:miter lim="400000"/>
                  <a:tailEnd type="triangle" w="med" len="med"/>
                </a:ln>
                <a:effectLst/>
              </p:spPr>
              <p:txBody>
                <a:bodyPr wrap="square" lIns="71436" tIns="71436" rIns="71436" bIns="71436" numCol="1" anchor="t">
                  <a:noAutofit/>
                </a:bodyPr>
                <a:lstStyle/>
                <a:p>
                  <a:pPr algn="l" defTabSz="914400">
                    <a:defRPr sz="2000">
                      <a:latin typeface="+mj-lt"/>
                      <a:ea typeface="+mj-ea"/>
                      <a:cs typeface="+mj-cs"/>
                      <a:sym typeface="Helvetica"/>
                    </a:defRPr>
                  </a:pPr>
                  <a:endParaRPr/>
                </a:p>
              </p:txBody>
            </p:sp>
            <p:sp>
              <p:nvSpPr>
                <p:cNvPr id="270" name="Arc 55"/>
                <p:cNvSpPr/>
                <p:nvPr/>
              </p:nvSpPr>
              <p:spPr>
                <a:xfrm rot="10800000">
                  <a:off x="0" y="656481"/>
                  <a:ext cx="335692" cy="441470"/>
                </a:xfrm>
                <a:custGeom>
                  <a:avLst/>
                  <a:gdLst/>
                  <a:ahLst/>
                  <a:cxnLst>
                    <a:cxn ang="0">
                      <a:pos x="wd2" y="hd2"/>
                    </a:cxn>
                    <a:cxn ang="5400000">
                      <a:pos x="wd2" y="hd2"/>
                    </a:cxn>
                    <a:cxn ang="10800000">
                      <a:pos x="wd2" y="hd2"/>
                    </a:cxn>
                    <a:cxn ang="16200000">
                      <a:pos x="wd2" y="hd2"/>
                    </a:cxn>
                  </a:cxnLst>
                  <a:rect l="0" t="0" r="r" b="b"/>
                  <a:pathLst>
                    <a:path w="19710" h="19783" extrusionOk="0">
                      <a:moveTo>
                        <a:pt x="0" y="1231"/>
                      </a:moveTo>
                      <a:lnTo>
                        <a:pt x="0" y="1231"/>
                      </a:lnTo>
                      <a:cubicBezTo>
                        <a:pt x="6429" y="-1406"/>
                        <a:pt x="14513" y="334"/>
                        <a:pt x="18056" y="5118"/>
                      </a:cubicBezTo>
                      <a:cubicBezTo>
                        <a:pt x="21600" y="9902"/>
                        <a:pt x="19261" y="15918"/>
                        <a:pt x="12832" y="18555"/>
                      </a:cubicBezTo>
                      <a:cubicBezTo>
                        <a:pt x="9004" y="20125"/>
                        <a:pt x="4383" y="20194"/>
                        <a:pt x="473" y="18740"/>
                      </a:cubicBezTo>
                    </a:path>
                  </a:pathLst>
                </a:custGeom>
                <a:noFill/>
                <a:ln w="57150" cap="flat">
                  <a:solidFill>
                    <a:srgbClr val="000000"/>
                  </a:solidFill>
                  <a:prstDash val="solid"/>
                  <a:miter lim="400000"/>
                  <a:tailEnd type="triangle" w="med" len="med"/>
                </a:ln>
                <a:effectLst/>
              </p:spPr>
              <p:txBody>
                <a:bodyPr wrap="square" lIns="71436" tIns="71436" rIns="71436" bIns="71436" numCol="1" anchor="t">
                  <a:noAutofit/>
                </a:bodyPr>
                <a:lstStyle/>
                <a:p>
                  <a:pPr algn="l" defTabSz="914400">
                    <a:defRPr sz="2000">
                      <a:latin typeface="+mj-lt"/>
                      <a:ea typeface="+mj-ea"/>
                      <a:cs typeface="+mj-cs"/>
                      <a:sym typeface="Helvetica"/>
                    </a:defRPr>
                  </a:pPr>
                  <a:endParaRPr/>
                </a:p>
              </p:txBody>
            </p:sp>
          </p:grpSp>
        </p:grpSp>
        <p:sp>
          <p:nvSpPr>
            <p:cNvPr id="273" name="Can you use a Markov chain with…"/>
            <p:cNvSpPr txBox="1"/>
            <p:nvPr/>
          </p:nvSpPr>
          <p:spPr>
            <a:xfrm>
              <a:off x="-1" y="2010588"/>
              <a:ext cx="6758356" cy="11080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p>
              <a:r>
                <a:t>Can you use a Markov chain with </a:t>
              </a:r>
            </a:p>
            <a:p>
              <a:r>
                <a:t>this kernel to estimate expectations?</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4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49">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iterate>
                                    <p:tmAbs val="0"/>
                                  </p:iterate>
                                  <p:childTnLst>
                                    <p:set>
                                      <p:cBhvr>
                                        <p:cTn id="10" fill="hold"/>
                                        <p:tgtEl>
                                          <p:spTgt spid="249">
                                            <p:txEl>
                                              <p:pRg st="1" end="1"/>
                                            </p:txEl>
                                          </p:spTgt>
                                        </p:tgtEl>
                                        <p:attrNameLst>
                                          <p:attrName>style.visibility</p:attrName>
                                        </p:attrNameLst>
                                      </p:cBhvr>
                                      <p:to>
                                        <p:strVal val="visible"/>
                                      </p:to>
                                    </p:set>
                                  </p:childTnLst>
                                </p:cTn>
                              </p:par>
                              <p:par>
                                <p:cTn id="11" presetID="1" presetClass="entr" presetSubtype="0" fill="hold" grpId="1" nodeType="withEffect">
                                  <p:stCondLst>
                                    <p:cond delay="0"/>
                                  </p:stCondLst>
                                  <p:iterate>
                                    <p:tmAbs val="0"/>
                                  </p:iterate>
                                  <p:childTnLst>
                                    <p:set>
                                      <p:cBhvr>
                                        <p:cTn id="12" fill="hold"/>
                                        <p:tgtEl>
                                          <p:spTgt spid="249">
                                            <p:txEl>
                                              <p:pRg st="2" end="2"/>
                                            </p:txEl>
                                          </p:spTgt>
                                        </p:tgtEl>
                                        <p:attrNameLst>
                                          <p:attrName>style.visibility</p:attrName>
                                        </p:attrNameLst>
                                      </p:cBhvr>
                                      <p:to>
                                        <p:strVal val="visible"/>
                                      </p:to>
                                    </p:set>
                                  </p:childTnLst>
                                </p:cTn>
                              </p:par>
                              <p:par>
                                <p:cTn id="13" presetID="1" presetClass="entr" presetSubtype="0" fill="hold" grpId="1" nodeType="withEffect">
                                  <p:stCondLst>
                                    <p:cond delay="0"/>
                                  </p:stCondLst>
                                  <p:iterate>
                                    <p:tmAbs val="0"/>
                                  </p:iterate>
                                  <p:childTnLst>
                                    <p:set>
                                      <p:cBhvr>
                                        <p:cTn id="14" fill="hold"/>
                                        <p:tgtEl>
                                          <p:spTgt spid="24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249">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1" nodeType="afterEffect">
                                  <p:stCondLst>
                                    <p:cond delay="0"/>
                                  </p:stCondLst>
                                  <p:iterate>
                                    <p:tmAbs val="0"/>
                                  </p:iterate>
                                  <p:childTnLst>
                                    <p:set>
                                      <p:cBhvr>
                                        <p:cTn id="21" fill="hold"/>
                                        <p:tgtEl>
                                          <p:spTgt spid="249">
                                            <p:txEl>
                                              <p:pRg st="5" end="5"/>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2" nodeType="clickEffect">
                                  <p:stCondLst>
                                    <p:cond delay="0"/>
                                  </p:stCondLst>
                                  <p:iterate>
                                    <p:tmAbs val="0"/>
                                  </p:iterate>
                                  <p:childTnLst>
                                    <p:set>
                                      <p:cBhvr>
                                        <p:cTn id="25" fill="hold"/>
                                        <p:tgtEl>
                                          <p:spTgt spid="2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 grpId="1" build="p" animBg="1" advAuto="0"/>
      <p:bldP spid="274" grpId="2"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Biased Estimation"/>
          <p:cNvSpPr txBox="1">
            <a:spLocks noGrp="1"/>
          </p:cNvSpPr>
          <p:nvPr>
            <p:ph type="title"/>
          </p:nvPr>
        </p:nvSpPr>
        <p:spPr>
          <a:prstGeom prst="rect">
            <a:avLst/>
          </a:prstGeom>
        </p:spPr>
        <p:txBody>
          <a:bodyPr/>
          <a:lstStyle/>
          <a:p>
            <a:r>
              <a:t>Biased Estimation</a:t>
            </a:r>
          </a:p>
        </p:txBody>
      </p:sp>
      <p:sp>
        <p:nvSpPr>
          <p:cNvPr id="277" name="Estimates are biased unless…"/>
          <p:cNvSpPr txBox="1">
            <a:spLocks noGrp="1"/>
          </p:cNvSpPr>
          <p:nvPr>
            <p:ph type="body" idx="1"/>
          </p:nvPr>
        </p:nvSpPr>
        <p:spPr>
          <a:prstGeom prst="rect">
            <a:avLst/>
          </a:prstGeom>
        </p:spPr>
        <p:txBody>
          <a:bodyPr/>
          <a:lstStyle/>
          <a:p>
            <a:r>
              <a:t>Estimates are biased unless</a:t>
            </a:r>
          </a:p>
          <a:p>
            <a:pPr lvl="1"/>
            <a:r>
              <a:t>initial value from target distribution</a:t>
            </a:r>
          </a:p>
          <a:p>
            <a:pPr lvl="1"/>
            <a:r>
              <a:t>the chain is regenerative (returns to initial state) and expectation based on data between regeneration times. See Minh, Minh, and Nguyen (2012) for more details.</a:t>
            </a:r>
          </a:p>
          <a:p>
            <a:r>
              <a:t>Bias diminishes with sample size</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References"/>
          <p:cNvSpPr txBox="1">
            <a:spLocks noGrp="1"/>
          </p:cNvSpPr>
          <p:nvPr>
            <p:ph type="title"/>
          </p:nvPr>
        </p:nvSpPr>
        <p:spPr>
          <a:prstGeom prst="rect">
            <a:avLst/>
          </a:prstGeom>
        </p:spPr>
        <p:txBody>
          <a:bodyPr/>
          <a:lstStyle/>
          <a:p>
            <a:r>
              <a:t>References</a:t>
            </a:r>
          </a:p>
        </p:txBody>
      </p:sp>
      <p:sp>
        <p:nvSpPr>
          <p:cNvPr id="280" name="Durrant, J. D.; McCammon, J. A. Molecular Dynamics Simulations and Drug Discovery. BMC Biol 2011, 9 (1), 71. https://doi.org/10.1186/1741-7007-9-71, adapted under the CC BY 2.0 license."/>
          <p:cNvSpPr txBox="1">
            <a:spLocks noGrp="1"/>
          </p:cNvSpPr>
          <p:nvPr>
            <p:ph type="body" idx="1"/>
          </p:nvPr>
        </p:nvSpPr>
        <p:spPr>
          <a:prstGeom prst="rect">
            <a:avLst/>
          </a:prstGeom>
        </p:spPr>
        <p:txBody>
          <a:bodyPr anchor="t"/>
          <a:lstStyle/>
          <a:p>
            <a:pPr>
              <a:defRPr sz="3600"/>
            </a:pPr>
            <a:r>
              <a:t>Grossfield A, Zuckerman DM. Quantifying uncertainty and sampling quality in biomolecular simulations. Annu Rep Comput Chem. 2009 Jan 1;5:23-48. doi: 10.1016/S1574-1400(09)00502-7. PMID: 20454547; PMCID: PMC2865156.</a:t>
            </a:r>
          </a:p>
          <a:p>
            <a:pPr>
              <a:defRPr sz="3600"/>
            </a:pPr>
            <a:r>
              <a:t>Kalos, Malvin H.; Whitlock, Paula A. (2008). Monte Carlo Methods.</a:t>
            </a:r>
          </a:p>
          <a:p>
            <a:pPr>
              <a:defRPr sz="3600"/>
            </a:pPr>
            <a:r>
              <a:t>Levin DA, Peres Y and Wilmer EL, “Markov Chains and Mixing Times”, American Mathematical Soc., Oct 31, 2017, ISBN: 1470429624, 9781470429621</a:t>
            </a:r>
          </a:p>
          <a:p>
            <a:pPr>
              <a:defRPr sz="3600"/>
            </a:pPr>
            <a:r>
              <a:t>Minh, D. L.; Minh, D. D. L.; Nguyen, A. L. Regenerative Markov Chain Monte Carlo for Any Distribution. Communications in Statistics - Simulation and Computation 2012, 41 (9), 1745–1760. https://doi.org/10.1080/03610918.2011.615433.</a:t>
            </a:r>
          </a:p>
        </p:txBody>
      </p:sp>
      <p:sp>
        <p:nvSpPr>
          <p:cNvPr id="281" name="Slide Number"/>
          <p:cNvSpPr txBox="1">
            <a:spLocks noGrp="1"/>
          </p:cNvSpPr>
          <p:nvPr>
            <p:ph type="sldNum" sz="quarter" idx="4294967295"/>
          </p:nvPr>
        </p:nvSpPr>
        <p:spPr>
          <a:xfrm>
            <a:off x="11935814" y="13010554"/>
            <a:ext cx="494512" cy="5111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18</a:t>
            </a:fld>
            <a:endParaRP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A7A7A7"/>
      </a:dk2>
      <a:lt2>
        <a:srgbClr val="535353"/>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Avenir Roman"/>
        <a:ea typeface="Avenir Roman"/>
        <a:cs typeface="Avenir Roma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25400" dir="5400000" rotWithShape="0">
              <a:srgbClr val="000000">
                <a:alpha val="50000"/>
              </a:srgbClr>
            </a:outerShdw>
          </a:effectLst>
        </a:effectStyle>
        <a:effectStyle>
          <a:effectLst>
            <a:outerShdw blurRad="50800" dist="25400" dir="5400000" rotWithShape="0">
              <a:srgbClr val="000000">
                <a:alpha val="50000"/>
              </a:srgbClr>
            </a:outerShdw>
          </a:effectLst>
        </a:effectStyle>
        <a:effectStyle>
          <a:effectLst>
            <a:outerShdw blurRad="508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50800" dist="25400" dir="5400000" rotWithShape="0">
            <a:srgbClr val="000000">
              <a:alpha val="50000"/>
            </a:srgbClr>
          </a:outerShdw>
        </a:effectLst>
        <a:sp3d/>
      </a:spPr>
      <a:bodyPr rot="0" spcFirstLastPara="1" vertOverflow="overflow" horzOverflow="overflow" vert="horz" wrap="square" lIns="71436" tIns="71436" rIns="71436" bIns="71436" numCol="1" spcCol="38100" rtlCol="0" anchor="ctr">
        <a:spAutoFit/>
      </a:bodyPr>
      <a:lstStyle>
        <a:def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50800" dist="25400" dir="5400000" rotWithShape="0">
            <a:srgbClr val="000000">
              <a:alpha val="50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6" tIns="71436" rIns="71436" bIns="71436" numCol="1" spcCol="38100" rtlCol="0" anchor="ctr">
        <a:spAutoFit/>
      </a:bodyPr>
      <a:lstStyle>
        <a:def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A7A7A7"/>
      </a:dk2>
      <a:lt2>
        <a:srgbClr val="535353"/>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Avenir Roman"/>
        <a:ea typeface="Avenir Roman"/>
        <a:cs typeface="Avenir Roma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25400" dir="5400000" rotWithShape="0">
              <a:srgbClr val="000000">
                <a:alpha val="50000"/>
              </a:srgbClr>
            </a:outerShdw>
          </a:effectLst>
        </a:effectStyle>
        <a:effectStyle>
          <a:effectLst>
            <a:outerShdw blurRad="50800" dist="25400" dir="5400000" rotWithShape="0">
              <a:srgbClr val="000000">
                <a:alpha val="50000"/>
              </a:srgbClr>
            </a:outerShdw>
          </a:effectLst>
        </a:effectStyle>
        <a:effectStyle>
          <a:effectLst>
            <a:outerShdw blurRad="508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50800" dist="25400" dir="5400000" rotWithShape="0">
            <a:srgbClr val="000000">
              <a:alpha val="50000"/>
            </a:srgbClr>
          </a:outerShdw>
        </a:effectLst>
        <a:sp3d/>
      </a:spPr>
      <a:bodyPr rot="0" spcFirstLastPara="1" vertOverflow="overflow" horzOverflow="overflow" vert="horz" wrap="square" lIns="71436" tIns="71436" rIns="71436" bIns="71436" numCol="1" spcCol="38100" rtlCol="0" anchor="ctr">
        <a:spAutoFit/>
      </a:bodyPr>
      <a:lstStyle>
        <a:def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50800" dist="25400" dir="5400000" rotWithShape="0">
            <a:srgbClr val="000000">
              <a:alpha val="50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6" tIns="71436" rIns="71436" bIns="71436" numCol="1" spcCol="38100" rtlCol="0" anchor="ctr">
        <a:spAutoFit/>
      </a:bodyPr>
      <a:lstStyle>
        <a:def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1190</Words>
  <Application>Microsoft Macintosh PowerPoint</Application>
  <PresentationFormat>Custom</PresentationFormat>
  <Paragraphs>188</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 Narrow</vt:lpstr>
      <vt:lpstr>Avenir Roman</vt:lpstr>
      <vt:lpstr>Cambria Math</vt:lpstr>
      <vt:lpstr>Helvetica</vt:lpstr>
      <vt:lpstr>Helvetica Light</vt:lpstr>
      <vt:lpstr>Helvetica Neue</vt:lpstr>
      <vt:lpstr>White</vt:lpstr>
      <vt:lpstr>3/09/2026</vt:lpstr>
      <vt:lpstr>Monte Carlo</vt:lpstr>
      <vt:lpstr>Monte Carlo Integration</vt:lpstr>
      <vt:lpstr>PowerPoint Presentation</vt:lpstr>
      <vt:lpstr>Expectation Values</vt:lpstr>
      <vt:lpstr>Calculating Expectation Values</vt:lpstr>
      <vt:lpstr>Example: Dice</vt:lpstr>
      <vt:lpstr>Example: Calculating π</vt:lpstr>
      <vt:lpstr>Limitations</vt:lpstr>
      <vt:lpstr>Markov Chain Monte Carlo</vt:lpstr>
      <vt:lpstr>Sampling the Nile</vt:lpstr>
      <vt:lpstr>Markov Chains</vt:lpstr>
      <vt:lpstr>Representing Transition Probabilities</vt:lpstr>
      <vt:lpstr>Stationary Probability</vt:lpstr>
      <vt:lpstr>Markov State Model</vt:lpstr>
      <vt:lpstr>Expectations from Stochastic Processes</vt:lpstr>
      <vt:lpstr>Biased Estimation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David Minh</cp:lastModifiedBy>
  <cp:revision>2</cp:revision>
  <dcterms:modified xsi:type="dcterms:W3CDTF">2026-03-22T01:37:37Z</dcterms:modified>
</cp:coreProperties>
</file>